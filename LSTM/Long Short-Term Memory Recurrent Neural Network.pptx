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embeddedFontLst>
    <p:embeddedFont>
      <p:font typeface="Proxima Nova"/>
      <p:regular r:id="rId20"/>
      <p:bold r:id="rId21"/>
      <p:italic r:id="rId22"/>
      <p:boldItalic r:id="rId23"/>
    </p:embeddedFont>
    <p:embeddedFont>
      <p:font typeface="Alfa Slab One"/>
      <p:regular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roximaNova-regular.fntdata"/><Relationship Id="rId11" Type="http://schemas.openxmlformats.org/officeDocument/2006/relationships/slide" Target="slides/slide6.xml"/><Relationship Id="rId22" Type="http://schemas.openxmlformats.org/officeDocument/2006/relationships/font" Target="fonts/ProximaNova-italic.fntdata"/><Relationship Id="rId10" Type="http://schemas.openxmlformats.org/officeDocument/2006/relationships/slide" Target="slides/slide5.xml"/><Relationship Id="rId21" Type="http://schemas.openxmlformats.org/officeDocument/2006/relationships/font" Target="fonts/ProximaNova-bold.fntdata"/><Relationship Id="rId13" Type="http://schemas.openxmlformats.org/officeDocument/2006/relationships/slide" Target="slides/slide8.xml"/><Relationship Id="rId24" Type="http://schemas.openxmlformats.org/officeDocument/2006/relationships/font" Target="fonts/AlfaSlabOne-regular.fntdata"/><Relationship Id="rId12" Type="http://schemas.openxmlformats.org/officeDocument/2006/relationships/slide" Target="slides/slide7.xml"/><Relationship Id="rId23" Type="http://schemas.openxmlformats.org/officeDocument/2006/relationships/font" Target="fonts/ProximaNova-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a9000d4b65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a9000d4b65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a9000d4b65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a9000d4b65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a9000d4b65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a9000d4b65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a9000d4b65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a9000d4b65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a9000d4b65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a9000d4b65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a931da443f_3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a931da443f_3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a931da443f_3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a931da443f_3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a931da443f_3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a931da443f_3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a9000d4b65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a9000d4b65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a9000d4b65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a9000d4b65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a9000d4b65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a9000d4b65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a9000d4b65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a9000d4b65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a9000d4b65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a9000d4b65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4278300" y="2751163"/>
            <a:ext cx="587400" cy="0"/>
          </a:xfrm>
          <a:prstGeom prst="straightConnector1">
            <a:avLst/>
          </a:prstGeom>
          <a:noFill/>
          <a:ln cap="flat" cmpd="sng" w="76200">
            <a:solidFill>
              <a:schemeClr val="dk1"/>
            </a:solidFill>
            <a:prstDash val="solid"/>
            <a:round/>
            <a:headEnd len="sm" w="sm" type="none"/>
            <a:tailEnd len="sm" w="sm" type="none"/>
          </a:ln>
        </p:spPr>
      </p:cxnSp>
      <p:sp>
        <p:nvSpPr>
          <p:cNvPr id="11" name="Google Shape;11;p2"/>
          <p:cNvSpPr txBox="1"/>
          <p:nvPr>
            <p:ph type="ctrTitle"/>
          </p:nvPr>
        </p:nvSpPr>
        <p:spPr>
          <a:xfrm>
            <a:off x="311700" y="595975"/>
            <a:ext cx="8520600" cy="19578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2" name="Google Shape;12;p2"/>
          <p:cNvSpPr txBox="1"/>
          <p:nvPr>
            <p:ph idx="1" type="subTitle"/>
          </p:nvPr>
        </p:nvSpPr>
        <p:spPr>
          <a:xfrm>
            <a:off x="311700" y="3165823"/>
            <a:ext cx="8520600" cy="733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311700" y="2480550"/>
            <a:ext cx="8114400" cy="24459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6800"/>
              <a:buNone/>
              <a:defRPr sz="6800">
                <a:solidFill>
                  <a:schemeClr val="lt1"/>
                </a:solidFill>
              </a:defRPr>
            </a:lvl1pPr>
            <a:lvl2pPr lvl="1">
              <a:spcBef>
                <a:spcPts val="0"/>
              </a:spcBef>
              <a:spcAft>
                <a:spcPts val="0"/>
              </a:spcAft>
              <a:buClr>
                <a:schemeClr val="lt1"/>
              </a:buClr>
              <a:buSzPts val="6800"/>
              <a:buNone/>
              <a:defRPr sz="6800">
                <a:solidFill>
                  <a:schemeClr val="lt1"/>
                </a:solidFill>
              </a:defRPr>
            </a:lvl2pPr>
            <a:lvl3pPr lvl="2">
              <a:spcBef>
                <a:spcPts val="0"/>
              </a:spcBef>
              <a:spcAft>
                <a:spcPts val="0"/>
              </a:spcAft>
              <a:buClr>
                <a:schemeClr val="lt1"/>
              </a:buClr>
              <a:buSzPts val="6800"/>
              <a:buNone/>
              <a:defRPr sz="6800">
                <a:solidFill>
                  <a:schemeClr val="lt1"/>
                </a:solidFill>
              </a:defRPr>
            </a:lvl3pPr>
            <a:lvl4pPr lvl="3">
              <a:spcBef>
                <a:spcPts val="0"/>
              </a:spcBef>
              <a:spcAft>
                <a:spcPts val="0"/>
              </a:spcAft>
              <a:buClr>
                <a:schemeClr val="lt1"/>
              </a:buClr>
              <a:buSzPts val="6800"/>
              <a:buNone/>
              <a:defRPr sz="6800">
                <a:solidFill>
                  <a:schemeClr val="lt1"/>
                </a:solidFill>
              </a:defRPr>
            </a:lvl4pPr>
            <a:lvl5pPr lvl="4">
              <a:spcBef>
                <a:spcPts val="0"/>
              </a:spcBef>
              <a:spcAft>
                <a:spcPts val="0"/>
              </a:spcAft>
              <a:buClr>
                <a:schemeClr val="lt1"/>
              </a:buClr>
              <a:buSzPts val="6800"/>
              <a:buNone/>
              <a:defRPr sz="6800">
                <a:solidFill>
                  <a:schemeClr val="lt1"/>
                </a:solidFill>
              </a:defRPr>
            </a:lvl5pPr>
            <a:lvl6pPr lvl="5">
              <a:spcBef>
                <a:spcPts val="0"/>
              </a:spcBef>
              <a:spcAft>
                <a:spcPts val="0"/>
              </a:spcAft>
              <a:buClr>
                <a:schemeClr val="lt1"/>
              </a:buClr>
              <a:buSzPts val="6800"/>
              <a:buNone/>
              <a:defRPr sz="6800">
                <a:solidFill>
                  <a:schemeClr val="lt1"/>
                </a:solidFill>
              </a:defRPr>
            </a:lvl6pPr>
            <a:lvl7pPr lvl="6">
              <a:spcBef>
                <a:spcPts val="0"/>
              </a:spcBef>
              <a:spcAft>
                <a:spcPts val="0"/>
              </a:spcAft>
              <a:buClr>
                <a:schemeClr val="lt1"/>
              </a:buClr>
              <a:buSzPts val="6800"/>
              <a:buNone/>
              <a:defRPr sz="6800">
                <a:solidFill>
                  <a:schemeClr val="lt1"/>
                </a:solidFill>
              </a:defRPr>
            </a:lvl7pPr>
            <a:lvl8pPr lvl="7">
              <a:spcBef>
                <a:spcPts val="0"/>
              </a:spcBef>
              <a:spcAft>
                <a:spcPts val="0"/>
              </a:spcAft>
              <a:buClr>
                <a:schemeClr val="lt1"/>
              </a:buClr>
              <a:buSzPts val="6800"/>
              <a:buNone/>
              <a:defRPr sz="6800">
                <a:solidFill>
                  <a:schemeClr val="lt1"/>
                </a:solidFill>
              </a:defRPr>
            </a:lvl8pPr>
            <a:lvl9pPr lvl="8">
              <a:spcBef>
                <a:spcPts val="0"/>
              </a:spcBef>
              <a:spcAft>
                <a:spcPts val="0"/>
              </a:spcAft>
              <a:buClr>
                <a:schemeClr val="lt1"/>
              </a:buClr>
              <a:buSzPts val="6800"/>
              <a:buNone/>
              <a:defRPr sz="6800">
                <a:solidFill>
                  <a:schemeClr val="lt1"/>
                </a:solidFill>
              </a:defRPr>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9" name="Google Shape;19;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3" name="Google Shape;23;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7"/>
          <p:cNvSpPr txBox="1"/>
          <p:nvPr>
            <p:ph idx="1" type="body"/>
          </p:nvPr>
        </p:nvSpPr>
        <p:spPr>
          <a:xfrm>
            <a:off x="311700" y="1490875"/>
            <a:ext cx="2808000" cy="30780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33" name="Shape 33"/>
        <p:cNvGrpSpPr/>
        <p:nvPr/>
      </p:nvGrpSpPr>
      <p:grpSpPr>
        <a:xfrm>
          <a:off x="0" y="0"/>
          <a:ext cx="0" cy="0"/>
          <a:chOff x="0" y="0"/>
          <a:chExt cx="0" cy="0"/>
        </a:xfrm>
      </p:grpSpPr>
      <p:sp>
        <p:nvSpPr>
          <p:cNvPr id="34" name="Google Shape;34;p8"/>
          <p:cNvSpPr txBox="1"/>
          <p:nvPr>
            <p:ph type="title"/>
          </p:nvPr>
        </p:nvSpPr>
        <p:spPr>
          <a:xfrm>
            <a:off x="490250" y="526350"/>
            <a:ext cx="56838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10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 name="Google Shape;38;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39" name="Google Shape;39;p9"/>
          <p:cNvSpPr txBox="1"/>
          <p:nvPr>
            <p:ph type="title"/>
          </p:nvPr>
        </p:nvSpPr>
        <p:spPr>
          <a:xfrm>
            <a:off x="265500" y="1375599"/>
            <a:ext cx="4045200" cy="15519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0" name="Google Shape;40;p9"/>
          <p:cNvSpPr txBox="1"/>
          <p:nvPr>
            <p:ph idx="1" type="subTitle"/>
          </p:nvPr>
        </p:nvSpPr>
        <p:spPr>
          <a:xfrm>
            <a:off x="265500" y="2981125"/>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1" name="Google Shape;41;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2" name="Google Shape;4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9500" y="4233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accent3"/>
              </a:buClr>
              <a:buSzPts val="1800"/>
              <a:buFont typeface="Alfa Slab One"/>
              <a:buNone/>
              <a:defRPr>
                <a:solidFill>
                  <a:schemeClr val="accent3"/>
                </a:solidFill>
                <a:latin typeface="Alfa Slab One"/>
                <a:ea typeface="Alfa Slab One"/>
                <a:cs typeface="Alfa Slab One"/>
                <a:sym typeface="Alfa Slab One"/>
              </a:defRPr>
            </a:lvl1pPr>
          </a:lstStyle>
          <a:p/>
        </p:txBody>
      </p:sp>
      <p:sp>
        <p:nvSpPr>
          <p:cNvPr id="45" name="Google Shape;4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167925"/>
            <a:ext cx="8520600" cy="19800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1"/>
              </a:buClr>
              <a:buSzPts val="11000"/>
              <a:buNone/>
              <a:defRPr sz="11000">
                <a:solidFill>
                  <a:schemeClr val="dk1"/>
                </a:solidFill>
              </a:defRPr>
            </a:lvl1pPr>
            <a:lvl2pPr lvl="1" algn="ctr">
              <a:spcBef>
                <a:spcPts val="0"/>
              </a:spcBef>
              <a:spcAft>
                <a:spcPts val="0"/>
              </a:spcAft>
              <a:buClr>
                <a:schemeClr val="dk1"/>
              </a:buClr>
              <a:buSzPts val="11000"/>
              <a:buNone/>
              <a:defRPr sz="11000">
                <a:solidFill>
                  <a:schemeClr val="dk1"/>
                </a:solidFill>
              </a:defRPr>
            </a:lvl2pPr>
            <a:lvl3pPr lvl="2" algn="ctr">
              <a:spcBef>
                <a:spcPts val="0"/>
              </a:spcBef>
              <a:spcAft>
                <a:spcPts val="0"/>
              </a:spcAft>
              <a:buClr>
                <a:schemeClr val="dk1"/>
              </a:buClr>
              <a:buSzPts val="11000"/>
              <a:buNone/>
              <a:defRPr sz="11000">
                <a:solidFill>
                  <a:schemeClr val="dk1"/>
                </a:solidFill>
              </a:defRPr>
            </a:lvl3pPr>
            <a:lvl4pPr lvl="3" algn="ctr">
              <a:spcBef>
                <a:spcPts val="0"/>
              </a:spcBef>
              <a:spcAft>
                <a:spcPts val="0"/>
              </a:spcAft>
              <a:buClr>
                <a:schemeClr val="dk1"/>
              </a:buClr>
              <a:buSzPts val="11000"/>
              <a:buNone/>
              <a:defRPr sz="11000">
                <a:solidFill>
                  <a:schemeClr val="dk1"/>
                </a:solidFill>
              </a:defRPr>
            </a:lvl4pPr>
            <a:lvl5pPr lvl="4" algn="ctr">
              <a:spcBef>
                <a:spcPts val="0"/>
              </a:spcBef>
              <a:spcAft>
                <a:spcPts val="0"/>
              </a:spcAft>
              <a:buClr>
                <a:schemeClr val="dk1"/>
              </a:buClr>
              <a:buSzPts val="11000"/>
              <a:buNone/>
              <a:defRPr sz="11000">
                <a:solidFill>
                  <a:schemeClr val="dk1"/>
                </a:solidFill>
              </a:defRPr>
            </a:lvl5pPr>
            <a:lvl6pPr lvl="5" algn="ctr">
              <a:spcBef>
                <a:spcPts val="0"/>
              </a:spcBef>
              <a:spcAft>
                <a:spcPts val="0"/>
              </a:spcAft>
              <a:buClr>
                <a:schemeClr val="dk1"/>
              </a:buClr>
              <a:buSzPts val="11000"/>
              <a:buNone/>
              <a:defRPr sz="11000">
                <a:solidFill>
                  <a:schemeClr val="dk1"/>
                </a:solidFill>
              </a:defRPr>
            </a:lvl6pPr>
            <a:lvl7pPr lvl="6" algn="ctr">
              <a:spcBef>
                <a:spcPts val="0"/>
              </a:spcBef>
              <a:spcAft>
                <a:spcPts val="0"/>
              </a:spcAft>
              <a:buClr>
                <a:schemeClr val="dk1"/>
              </a:buClr>
              <a:buSzPts val="11000"/>
              <a:buNone/>
              <a:defRPr sz="11000">
                <a:solidFill>
                  <a:schemeClr val="dk1"/>
                </a:solidFill>
              </a:defRPr>
            </a:lvl7pPr>
            <a:lvl8pPr lvl="7" algn="ctr">
              <a:spcBef>
                <a:spcPts val="0"/>
              </a:spcBef>
              <a:spcAft>
                <a:spcPts val="0"/>
              </a:spcAft>
              <a:buClr>
                <a:schemeClr val="dk1"/>
              </a:buClr>
              <a:buSzPts val="11000"/>
              <a:buNone/>
              <a:defRPr sz="11000">
                <a:solidFill>
                  <a:schemeClr val="dk1"/>
                </a:solidFill>
              </a:defRPr>
            </a:lvl8pPr>
            <a:lvl9pPr lvl="8" algn="ctr">
              <a:spcBef>
                <a:spcPts val="0"/>
              </a:spcBef>
              <a:spcAft>
                <a:spcPts val="0"/>
              </a:spcAft>
              <a:buClr>
                <a:schemeClr val="dk1"/>
              </a:buClr>
              <a:buSzPts val="11000"/>
              <a:buNone/>
              <a:defRPr sz="11000">
                <a:solidFill>
                  <a:schemeClr val="dk1"/>
                </a:solidFill>
              </a:defRPr>
            </a:lvl9pPr>
          </a:lstStyle>
          <a:p>
            <a:r>
              <a:t>xx%</a:t>
            </a:r>
          </a:p>
        </p:txBody>
      </p:sp>
      <p:sp>
        <p:nvSpPr>
          <p:cNvPr id="48" name="Google Shape;48;p11"/>
          <p:cNvSpPr txBox="1"/>
          <p:nvPr>
            <p:ph idx="1" type="body"/>
          </p:nvPr>
        </p:nvSpPr>
        <p:spPr>
          <a:xfrm>
            <a:off x="311700" y="32242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9" name="Google Shape;4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ameday">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1pPr>
            <a:lvl2pPr lvl="1">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2pPr>
            <a:lvl3pPr lvl="2">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3pPr>
            <a:lvl4pPr lvl="3">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4pPr>
            <a:lvl5pPr lvl="4">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5pPr>
            <a:lvl6pPr lvl="5">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6pPr>
            <a:lvl7pPr lvl="6">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7pPr>
            <a:lvl8pPr lvl="7">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8pPr>
            <a:lvl9pPr lvl="8">
              <a:spcBef>
                <a:spcPts val="0"/>
              </a:spcBef>
              <a:spcAft>
                <a:spcPts val="0"/>
              </a:spcAft>
              <a:buClr>
                <a:schemeClr val="accent3"/>
              </a:buClr>
              <a:buSzPts val="3000"/>
              <a:buFont typeface="Alfa Slab One"/>
              <a:buNone/>
              <a:defRPr sz="3000">
                <a:solidFill>
                  <a:schemeClr val="accent3"/>
                </a:solidFill>
                <a:latin typeface="Alfa Slab One"/>
                <a:ea typeface="Alfa Slab One"/>
                <a:cs typeface="Alfa Slab One"/>
                <a:sym typeface="Alfa Slab One"/>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Proxima Nova"/>
              <a:buChar char="●"/>
              <a:defRPr sz="1800">
                <a:solidFill>
                  <a:schemeClr val="dk2"/>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dk2"/>
              </a:buClr>
              <a:buSzPts val="1400"/>
              <a:buFont typeface="Proxima Nova"/>
              <a:buChar char="■"/>
              <a:defRPr>
                <a:solidFill>
                  <a:schemeClr val="dk2"/>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Proxima Nova"/>
                <a:ea typeface="Proxima Nova"/>
                <a:cs typeface="Proxima Nova"/>
                <a:sym typeface="Proxima Nova"/>
              </a:defRPr>
            </a:lvl1pPr>
            <a:lvl2pPr lvl="1" algn="r">
              <a:buNone/>
              <a:defRPr sz="1000">
                <a:solidFill>
                  <a:schemeClr val="dk2"/>
                </a:solidFill>
                <a:latin typeface="Proxima Nova"/>
                <a:ea typeface="Proxima Nova"/>
                <a:cs typeface="Proxima Nova"/>
                <a:sym typeface="Proxima Nova"/>
              </a:defRPr>
            </a:lvl2pPr>
            <a:lvl3pPr lvl="2" algn="r">
              <a:buNone/>
              <a:defRPr sz="1000">
                <a:solidFill>
                  <a:schemeClr val="dk2"/>
                </a:solidFill>
                <a:latin typeface="Proxima Nova"/>
                <a:ea typeface="Proxima Nova"/>
                <a:cs typeface="Proxima Nova"/>
                <a:sym typeface="Proxima Nova"/>
              </a:defRPr>
            </a:lvl3pPr>
            <a:lvl4pPr lvl="3" algn="r">
              <a:buNone/>
              <a:defRPr sz="1000">
                <a:solidFill>
                  <a:schemeClr val="dk2"/>
                </a:solidFill>
                <a:latin typeface="Proxima Nova"/>
                <a:ea typeface="Proxima Nova"/>
                <a:cs typeface="Proxima Nova"/>
                <a:sym typeface="Proxima Nova"/>
              </a:defRPr>
            </a:lvl4pPr>
            <a:lvl5pPr lvl="4" algn="r">
              <a:buNone/>
              <a:defRPr sz="1000">
                <a:solidFill>
                  <a:schemeClr val="dk2"/>
                </a:solidFill>
                <a:latin typeface="Proxima Nova"/>
                <a:ea typeface="Proxima Nova"/>
                <a:cs typeface="Proxima Nova"/>
                <a:sym typeface="Proxima Nova"/>
              </a:defRPr>
            </a:lvl5pPr>
            <a:lvl6pPr lvl="5" algn="r">
              <a:buNone/>
              <a:defRPr sz="1000">
                <a:solidFill>
                  <a:schemeClr val="dk2"/>
                </a:solidFill>
                <a:latin typeface="Proxima Nova"/>
                <a:ea typeface="Proxima Nova"/>
                <a:cs typeface="Proxima Nova"/>
                <a:sym typeface="Proxima Nova"/>
              </a:defRPr>
            </a:lvl6pPr>
            <a:lvl7pPr lvl="6" algn="r">
              <a:buNone/>
              <a:defRPr sz="1000">
                <a:solidFill>
                  <a:schemeClr val="dk2"/>
                </a:solidFill>
                <a:latin typeface="Proxima Nova"/>
                <a:ea typeface="Proxima Nova"/>
                <a:cs typeface="Proxima Nova"/>
                <a:sym typeface="Proxima Nova"/>
              </a:defRPr>
            </a:lvl7pPr>
            <a:lvl8pPr lvl="7" algn="r">
              <a:buNone/>
              <a:defRPr sz="1000">
                <a:solidFill>
                  <a:schemeClr val="dk2"/>
                </a:solidFill>
                <a:latin typeface="Proxima Nova"/>
                <a:ea typeface="Proxima Nova"/>
                <a:cs typeface="Proxima Nova"/>
                <a:sym typeface="Proxima Nova"/>
              </a:defRPr>
            </a:lvl8pPr>
            <a:lvl9pPr lvl="8" algn="r">
              <a:buNone/>
              <a:defRPr sz="1000">
                <a:solidFill>
                  <a:schemeClr val="dk2"/>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ru"/>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11.png"/><Relationship Id="rId10" Type="http://schemas.openxmlformats.org/officeDocument/2006/relationships/image" Target="../media/image13.png"/><Relationship Id="rId9" Type="http://schemas.openxmlformats.org/officeDocument/2006/relationships/image" Target="../media/image1.png"/><Relationship Id="rId5" Type="http://schemas.openxmlformats.org/officeDocument/2006/relationships/image" Target="../media/image19.png"/><Relationship Id="rId6" Type="http://schemas.openxmlformats.org/officeDocument/2006/relationships/image" Target="../media/image6.png"/><Relationship Id="rId7" Type="http://schemas.openxmlformats.org/officeDocument/2006/relationships/image" Target="../media/image2.png"/><Relationship Id="rId8" Type="http://schemas.openxmlformats.org/officeDocument/2006/relationships/image" Target="../media/image2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10.png"/><Relationship Id="rId5" Type="http://schemas.openxmlformats.org/officeDocument/2006/relationships/image" Target="../media/image12.png"/><Relationship Id="rId6"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19.png"/><Relationship Id="rId5" Type="http://schemas.openxmlformats.org/officeDocument/2006/relationships/image" Target="../media/image24.png"/><Relationship Id="rId6" Type="http://schemas.openxmlformats.org/officeDocument/2006/relationships/image" Target="../media/image20.png"/><Relationship Id="rId7"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4.png"/><Relationship Id="rId4" Type="http://schemas.openxmlformats.org/officeDocument/2006/relationships/image" Target="../media/image16.png"/><Relationship Id="rId5" Type="http://schemas.openxmlformats.org/officeDocument/2006/relationships/image" Target="../media/image27.png"/><Relationship Id="rId6" Type="http://schemas.openxmlformats.org/officeDocument/2006/relationships/image" Target="../media/image2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2.png"/><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1.png"/><Relationship Id="rId4" Type="http://schemas.openxmlformats.org/officeDocument/2006/relationships/image" Target="../media/image25.png"/><Relationship Id="rId5"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3"/>
          <p:cNvSpPr txBox="1"/>
          <p:nvPr>
            <p:ph type="ctrTitle"/>
          </p:nvPr>
        </p:nvSpPr>
        <p:spPr>
          <a:xfrm>
            <a:off x="311700" y="595975"/>
            <a:ext cx="8520600" cy="19578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ru" sz="4460"/>
              <a:t>Long Short-Term Memory</a:t>
            </a:r>
            <a:endParaRPr sz="4460"/>
          </a:p>
          <a:p>
            <a:pPr indent="0" lvl="0" marL="0" rtl="0" algn="ctr">
              <a:spcBef>
                <a:spcPts val="0"/>
              </a:spcBef>
              <a:spcAft>
                <a:spcPts val="0"/>
              </a:spcAft>
              <a:buSzPts val="990"/>
              <a:buNone/>
            </a:pPr>
            <a:r>
              <a:rPr lang="ru" sz="4460"/>
              <a:t>Recurrent Neural Network</a:t>
            </a:r>
            <a:endParaRPr sz="4460"/>
          </a:p>
        </p:txBody>
      </p:sp>
      <p:sp>
        <p:nvSpPr>
          <p:cNvPr id="57" name="Google Shape;57;p13"/>
          <p:cNvSpPr txBox="1"/>
          <p:nvPr>
            <p:ph idx="1" type="subTitle"/>
          </p:nvPr>
        </p:nvSpPr>
        <p:spPr>
          <a:xfrm>
            <a:off x="311700" y="3145525"/>
            <a:ext cx="2214000" cy="1358100"/>
          </a:xfrm>
          <a:prstGeom prst="rect">
            <a:avLst/>
          </a:prstGeom>
        </p:spPr>
        <p:txBody>
          <a:bodyPr anchorCtr="0" anchor="t" bIns="91425" lIns="91425" spcFirstLastPara="1" rIns="91425" wrap="square" tIns="91425">
            <a:normAutofit fontScale="77500"/>
          </a:bodyPr>
          <a:lstStyle/>
          <a:p>
            <a:pPr indent="0" lvl="0" marL="0" rtl="0" algn="l">
              <a:spcBef>
                <a:spcPts val="0"/>
              </a:spcBef>
              <a:spcAft>
                <a:spcPts val="0"/>
              </a:spcAft>
              <a:buNone/>
            </a:pPr>
            <a:r>
              <a:rPr lang="ru"/>
              <a:t>5030102/20201</a:t>
            </a:r>
            <a:endParaRPr/>
          </a:p>
          <a:p>
            <a:pPr indent="0" lvl="0" marL="0" rtl="0" algn="l">
              <a:spcBef>
                <a:spcPts val="0"/>
              </a:spcBef>
              <a:spcAft>
                <a:spcPts val="0"/>
              </a:spcAft>
              <a:buNone/>
            </a:pPr>
            <a:r>
              <a:rPr lang="ru"/>
              <a:t>Ляпустин Егор</a:t>
            </a:r>
            <a:endParaRPr/>
          </a:p>
          <a:p>
            <a:pPr indent="0" lvl="0" marL="0" rtl="0" algn="l">
              <a:spcBef>
                <a:spcPts val="0"/>
              </a:spcBef>
              <a:spcAft>
                <a:spcPts val="0"/>
              </a:spcAft>
              <a:buNone/>
            </a:pPr>
            <a:r>
              <a:rPr lang="ru"/>
              <a:t>Мелко Тимофей</a:t>
            </a:r>
            <a:endParaRPr/>
          </a:p>
          <a:p>
            <a:pPr indent="0" lvl="0" marL="0" rtl="0" algn="l">
              <a:spcBef>
                <a:spcPts val="0"/>
              </a:spcBef>
              <a:spcAft>
                <a:spcPts val="0"/>
              </a:spcAft>
              <a:buNone/>
            </a:pPr>
            <a:r>
              <a:rPr lang="ru"/>
              <a:t>Морщинин Никита</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Что такое RNN?</a:t>
            </a:r>
            <a:endParaRPr/>
          </a:p>
        </p:txBody>
      </p:sp>
      <p:sp>
        <p:nvSpPr>
          <p:cNvPr id="63" name="Google Shape;63;p14"/>
          <p:cNvSpPr txBox="1"/>
          <p:nvPr>
            <p:ph idx="1" type="body"/>
          </p:nvPr>
        </p:nvSpPr>
        <p:spPr>
          <a:xfrm>
            <a:off x="311700" y="1152475"/>
            <a:ext cx="8613600" cy="1536300"/>
          </a:xfrm>
          <a:prstGeom prst="rect">
            <a:avLst/>
          </a:prstGeom>
        </p:spPr>
        <p:txBody>
          <a:bodyPr anchorCtr="0" anchor="t" bIns="91425" lIns="91425" spcFirstLastPara="1" rIns="91425" wrap="square" tIns="91425">
            <a:normAutofit fontScale="70000" lnSpcReduction="10000"/>
          </a:bodyPr>
          <a:lstStyle/>
          <a:p>
            <a:pPr indent="0" lvl="0" marL="0" rtl="0" algn="l">
              <a:spcBef>
                <a:spcPts val="0"/>
              </a:spcBef>
              <a:spcAft>
                <a:spcPts val="0"/>
              </a:spcAft>
              <a:buClr>
                <a:schemeClr val="dk1"/>
              </a:buClr>
              <a:buSzPct val="61111"/>
              <a:buFont typeface="Arial"/>
              <a:buNone/>
            </a:pPr>
            <a:r>
              <a:rPr lang="ru"/>
              <a:t>RNN (Recurrent Neural Network) — это тип нейронных сетей, специально разработанный для работы с последовательностями данных. В отличие от традиционных нейронных сетей, которые обрабатывают каждый элемент данных независимо, например, отдельное изображение, RNN обладают "памятью".</a:t>
            </a:r>
            <a:endParaRPr/>
          </a:p>
          <a:p>
            <a:pPr indent="0" lvl="0" marL="0" rtl="0" algn="l">
              <a:spcBef>
                <a:spcPts val="1200"/>
              </a:spcBef>
              <a:spcAft>
                <a:spcPts val="1200"/>
              </a:spcAft>
              <a:buNone/>
            </a:pPr>
            <a:r>
              <a:rPr lang="ru"/>
              <a:t>Основная концепция: RNN имеют внутреннее состояние, называемое скрытым состоянием (hidden state), которое обновляется на каждом этапе обработки последовательности. Это состояние служит контекстом или памятью о всех предыдущих элементах в последовательности.</a:t>
            </a:r>
            <a:endParaRPr/>
          </a:p>
        </p:txBody>
      </p:sp>
      <p:pic>
        <p:nvPicPr>
          <p:cNvPr id="64" name="Google Shape;64;p14"/>
          <p:cNvPicPr preferRelativeResize="0"/>
          <p:nvPr/>
        </p:nvPicPr>
        <p:blipFill>
          <a:blip r:embed="rId3">
            <a:alphaModFix/>
          </a:blip>
          <a:stretch>
            <a:fillRect/>
          </a:stretch>
        </p:blipFill>
        <p:spPr>
          <a:xfrm>
            <a:off x="311700" y="2688775"/>
            <a:ext cx="8613600" cy="2296850"/>
          </a:xfrm>
          <a:prstGeom prst="rect">
            <a:avLst/>
          </a:prstGeom>
          <a:noFill/>
          <a:ln>
            <a:noFill/>
          </a:ln>
        </p:spPr>
      </p:pic>
      <p:sp>
        <p:nvSpPr>
          <p:cNvPr id="65" name="Google Shape;65;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Архитектура RNN</a:t>
            </a:r>
            <a:endParaRPr/>
          </a:p>
        </p:txBody>
      </p:sp>
      <p:sp>
        <p:nvSpPr>
          <p:cNvPr id="71" name="Google Shape;71;p1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935"/>
              <a:buNone/>
            </a:pPr>
            <a:r>
              <a:rPr lang="ru" sz="1530"/>
              <a:t>На каждом шаге t сеть:</a:t>
            </a:r>
            <a:endParaRPr sz="1530"/>
          </a:p>
          <a:p>
            <a:pPr indent="0" lvl="0" marL="0" rtl="0" algn="l">
              <a:lnSpc>
                <a:spcPct val="95000"/>
              </a:lnSpc>
              <a:spcBef>
                <a:spcPts val="1200"/>
              </a:spcBef>
              <a:spcAft>
                <a:spcPts val="0"/>
              </a:spcAft>
              <a:buSzPts val="935"/>
              <a:buNone/>
            </a:pPr>
            <a:r>
              <a:rPr lang="ru" sz="1530"/>
              <a:t>Принимает входные данные     (например, слово в предложении).</a:t>
            </a:r>
            <a:endParaRPr sz="1530"/>
          </a:p>
          <a:p>
            <a:pPr indent="0" lvl="0" marL="0" rtl="0" algn="l">
              <a:lnSpc>
                <a:spcPct val="95000"/>
              </a:lnSpc>
              <a:spcBef>
                <a:spcPts val="1200"/>
              </a:spcBef>
              <a:spcAft>
                <a:spcPts val="0"/>
              </a:spcAft>
              <a:buSzPts val="935"/>
              <a:buNone/>
            </a:pPr>
            <a:r>
              <a:rPr lang="ru" sz="1530"/>
              <a:t>Комбинирует их с предыдущим скрытым состоянием       .</a:t>
            </a:r>
            <a:endParaRPr sz="1530"/>
          </a:p>
          <a:p>
            <a:pPr indent="0" lvl="0" marL="0" rtl="0" algn="l">
              <a:lnSpc>
                <a:spcPct val="95000"/>
              </a:lnSpc>
              <a:spcBef>
                <a:spcPts val="1200"/>
              </a:spcBef>
              <a:spcAft>
                <a:spcPts val="0"/>
              </a:spcAft>
              <a:buSzPts val="935"/>
              <a:buNone/>
            </a:pPr>
            <a:r>
              <a:rPr lang="ru" sz="1530"/>
              <a:t>Вычисляет новое скрытое состояние     .</a:t>
            </a:r>
            <a:endParaRPr sz="1530"/>
          </a:p>
          <a:p>
            <a:pPr indent="0" lvl="0" marL="0" rtl="0" algn="l">
              <a:lnSpc>
                <a:spcPct val="95000"/>
              </a:lnSpc>
              <a:spcBef>
                <a:spcPts val="1200"/>
              </a:spcBef>
              <a:spcAft>
                <a:spcPts val="0"/>
              </a:spcAft>
              <a:buSzPts val="935"/>
              <a:buNone/>
            </a:pPr>
            <a:r>
              <a:rPr lang="ru" sz="1530"/>
              <a:t>На его основе выдает выход </a:t>
            </a:r>
            <a:r>
              <a:rPr lang="ru" sz="1530"/>
              <a:t>    </a:t>
            </a:r>
            <a:r>
              <a:rPr lang="ru" sz="1530"/>
              <a:t>(если он нужен).</a:t>
            </a:r>
            <a:endParaRPr sz="1530"/>
          </a:p>
          <a:p>
            <a:pPr indent="0" lvl="0" marL="0" rtl="0" algn="l">
              <a:lnSpc>
                <a:spcPct val="95000"/>
              </a:lnSpc>
              <a:spcBef>
                <a:spcPts val="1200"/>
              </a:spcBef>
              <a:spcAft>
                <a:spcPts val="0"/>
              </a:spcAft>
              <a:buClr>
                <a:schemeClr val="dk1"/>
              </a:buClr>
              <a:buSzPts val="935"/>
              <a:buFont typeface="Arial"/>
              <a:buNone/>
            </a:pPr>
            <a:r>
              <a:rPr lang="ru" sz="1530"/>
              <a:t>Формула для скрытого состояния обычно выглядит так:</a:t>
            </a:r>
            <a:endParaRPr sz="1530"/>
          </a:p>
          <a:p>
            <a:pPr indent="0" lvl="0" marL="0" rtl="0" algn="l">
              <a:lnSpc>
                <a:spcPct val="95000"/>
              </a:lnSpc>
              <a:spcBef>
                <a:spcPts val="1200"/>
              </a:spcBef>
              <a:spcAft>
                <a:spcPts val="0"/>
              </a:spcAft>
              <a:buClr>
                <a:schemeClr val="dk1"/>
              </a:buClr>
              <a:buSzPts val="935"/>
              <a:buFont typeface="Arial"/>
              <a:buNone/>
            </a:pPr>
            <a:r>
              <a:t/>
            </a:r>
            <a:endParaRPr sz="1530"/>
          </a:p>
          <a:p>
            <a:pPr indent="0" lvl="0" marL="0" rtl="0" algn="l">
              <a:lnSpc>
                <a:spcPct val="95000"/>
              </a:lnSpc>
              <a:spcBef>
                <a:spcPts val="1200"/>
              </a:spcBef>
              <a:spcAft>
                <a:spcPts val="0"/>
              </a:spcAft>
              <a:buSzPts val="935"/>
              <a:buNone/>
            </a:pPr>
            <a:r>
              <a:rPr lang="ru" sz="1530"/>
              <a:t>Где           </a:t>
            </a:r>
            <a:r>
              <a:rPr lang="ru" sz="1530"/>
              <a:t>и </a:t>
            </a:r>
            <a:r>
              <a:rPr lang="ru" sz="1530"/>
              <a:t>         </a:t>
            </a:r>
            <a:r>
              <a:rPr lang="ru" sz="1530"/>
              <a:t>— </a:t>
            </a:r>
            <a:r>
              <a:rPr lang="ru" sz="1530"/>
              <a:t>это матрицы весов, а          — функция активации.</a:t>
            </a:r>
            <a:endParaRPr sz="1530"/>
          </a:p>
          <a:p>
            <a:pPr indent="0" lvl="0" marL="0" rtl="0" algn="l">
              <a:lnSpc>
                <a:spcPct val="95000"/>
              </a:lnSpc>
              <a:spcBef>
                <a:spcPts val="1200"/>
              </a:spcBef>
              <a:spcAft>
                <a:spcPts val="1200"/>
              </a:spcAft>
              <a:buSzPts val="935"/>
              <a:buNone/>
            </a:pPr>
            <a:r>
              <a:t/>
            </a:r>
            <a:endParaRPr sz="1530"/>
          </a:p>
        </p:txBody>
      </p:sp>
      <p:pic>
        <p:nvPicPr>
          <p:cNvPr id="72" name="Google Shape;72;p15" title="{&quot;red&quot;:89,&quot;green&quot;:89,&quot;blue&quot;:89,&quot;origURL&quot;:&quot;https://www.codecogs.com/eqnedit.php?latex=%20h_t%20%3D%20tanh(W_%7Bhh%7D%20*%20h_%7Bt-1%7D%20%2B%20W_%7Bxh%7D%20*%20x_t%20%2B%20b)%20#0&quot;,&quot;size&quot;:18,&quot;width&quot;:670.9133858267717,&quot;height&quot;:269.00787401574803}"/>
          <p:cNvPicPr preferRelativeResize="0"/>
          <p:nvPr/>
        </p:nvPicPr>
        <p:blipFill>
          <a:blip r:embed="rId3">
            <a:alphaModFix/>
          </a:blip>
          <a:stretch>
            <a:fillRect/>
          </a:stretch>
        </p:blipFill>
        <p:spPr>
          <a:xfrm>
            <a:off x="617661" y="3439625"/>
            <a:ext cx="4378827" cy="279975"/>
          </a:xfrm>
          <a:prstGeom prst="rect">
            <a:avLst/>
          </a:prstGeom>
          <a:noFill/>
          <a:ln>
            <a:noFill/>
          </a:ln>
        </p:spPr>
      </p:pic>
      <p:pic>
        <p:nvPicPr>
          <p:cNvPr id="73" name="Google Shape;73;p15" title="{&quot;red&quot;:89,&quot;green&quot;:89,&quot;blue&quot;:89,&quot;origURL&quot;:&quot;https://www.codecogs.com/eqnedit.php?latex=X_t#0&quot;,&quot;size&quot;:15.300000190734863,&quot;width&quot;:670.9133858267717,&quot;height&quot;:269.00787401574803}"/>
          <p:cNvPicPr preferRelativeResize="0"/>
          <p:nvPr/>
        </p:nvPicPr>
        <p:blipFill>
          <a:blip r:embed="rId4">
            <a:alphaModFix/>
          </a:blip>
          <a:stretch>
            <a:fillRect/>
          </a:stretch>
        </p:blipFill>
        <p:spPr>
          <a:xfrm>
            <a:off x="2998727" y="1635675"/>
            <a:ext cx="222971" cy="183623"/>
          </a:xfrm>
          <a:prstGeom prst="rect">
            <a:avLst/>
          </a:prstGeom>
          <a:noFill/>
          <a:ln>
            <a:noFill/>
          </a:ln>
        </p:spPr>
      </p:pic>
      <p:pic>
        <p:nvPicPr>
          <p:cNvPr id="74" name="Google Shape;74;p15" title="{&quot;red&quot;:89,&quot;green&quot;:89,&quot;blue&quot;:89,&quot;origURL&quot;:&quot;https://www.codecogs.com/eqnedit.php?latex=h_%7Bt-1%7D#0&quot;,&quot;size&quot;:15.300000190734863,&quot;width&quot;:670.9133858267717,&quot;height&quot;:269.00787401574803}"/>
          <p:cNvPicPr preferRelativeResize="0"/>
          <p:nvPr/>
        </p:nvPicPr>
        <p:blipFill>
          <a:blip r:embed="rId5">
            <a:alphaModFix/>
          </a:blip>
          <a:stretch>
            <a:fillRect/>
          </a:stretch>
        </p:blipFill>
        <p:spPr>
          <a:xfrm>
            <a:off x="5218950" y="1998625"/>
            <a:ext cx="351215" cy="186538"/>
          </a:xfrm>
          <a:prstGeom prst="rect">
            <a:avLst/>
          </a:prstGeom>
          <a:noFill/>
          <a:ln>
            <a:noFill/>
          </a:ln>
        </p:spPr>
      </p:pic>
      <p:pic>
        <p:nvPicPr>
          <p:cNvPr id="75" name="Google Shape;75;p15" title="{&quot;red&quot;:89,&quot;green&quot;:89,&quot;blue&quot;:89,&quot;origURL&quot;:&quot;https://www.codecogs.com/eqnedit.php?latex=h_t#0&quot;,&quot;size&quot;:15.300000190734863,&quot;width&quot;:670.9133858267717,&quot;height&quot;:269.00787401574803}"/>
          <p:cNvPicPr preferRelativeResize="0"/>
          <p:nvPr/>
        </p:nvPicPr>
        <p:blipFill>
          <a:blip r:embed="rId6">
            <a:alphaModFix/>
          </a:blip>
          <a:stretch>
            <a:fillRect/>
          </a:stretch>
        </p:blipFill>
        <p:spPr>
          <a:xfrm>
            <a:off x="3059938" y="2767400"/>
            <a:ext cx="161763" cy="186538"/>
          </a:xfrm>
          <a:prstGeom prst="rect">
            <a:avLst/>
          </a:prstGeom>
          <a:noFill/>
          <a:ln>
            <a:noFill/>
          </a:ln>
        </p:spPr>
      </p:pic>
      <p:pic>
        <p:nvPicPr>
          <p:cNvPr id="76" name="Google Shape;76;p15" title="{&quot;red&quot;:89,&quot;green&quot;:89,&quot;blue&quot;:89,&quot;origURL&quot;:&quot;https://www.codecogs.com/eqnedit.php?latex=y_t#0&quot;,&quot;size&quot;:15.300000190734863,&quot;width&quot;:670.9133858267717,&quot;height&quot;:269.00787401574803}"/>
          <p:cNvPicPr preferRelativeResize="0"/>
          <p:nvPr/>
        </p:nvPicPr>
        <p:blipFill>
          <a:blip r:embed="rId7">
            <a:alphaModFix/>
          </a:blip>
          <a:stretch>
            <a:fillRect/>
          </a:stretch>
        </p:blipFill>
        <p:spPr>
          <a:xfrm>
            <a:off x="3845100" y="2431850"/>
            <a:ext cx="148647" cy="139903"/>
          </a:xfrm>
          <a:prstGeom prst="rect">
            <a:avLst/>
          </a:prstGeom>
          <a:noFill/>
          <a:ln>
            <a:noFill/>
          </a:ln>
        </p:spPr>
      </p:pic>
      <p:pic>
        <p:nvPicPr>
          <p:cNvPr id="77" name="Google Shape;77;p15" title="{&quot;red&quot;:89,&quot;green&quot;:89,&quot;blue&quot;:89,&quot;origURL&quot;:&quot;https://www.codecogs.com/eqnedit.php?latex=W_%7Bhh%7D#0&quot;,&quot;size&quot;:15.300000190734863,&quot;width&quot;:670.9133858267717,&quot;height&quot;:269.00787401574803}"/>
          <p:cNvPicPr preferRelativeResize="0"/>
          <p:nvPr/>
        </p:nvPicPr>
        <p:blipFill>
          <a:blip r:embed="rId8">
            <a:alphaModFix/>
          </a:blip>
          <a:stretch>
            <a:fillRect/>
          </a:stretch>
        </p:blipFill>
        <p:spPr>
          <a:xfrm>
            <a:off x="837862" y="3869188"/>
            <a:ext cx="364331" cy="183623"/>
          </a:xfrm>
          <a:prstGeom prst="rect">
            <a:avLst/>
          </a:prstGeom>
          <a:noFill/>
          <a:ln>
            <a:noFill/>
          </a:ln>
        </p:spPr>
      </p:pic>
      <p:pic>
        <p:nvPicPr>
          <p:cNvPr id="78" name="Google Shape;78;p15" title="{&quot;red&quot;:89,&quot;green&quot;:89,&quot;blue&quot;:89,&quot;origURL&quot;:&quot;https://www.codecogs.com/eqnedit.php?latex=W_%7Bxh%7D#0&quot;,&quot;size&quot;:15.300000190734863,&quot;width&quot;:670.9133858267717,&quot;height&quot;:269.00787401574803}"/>
          <p:cNvPicPr preferRelativeResize="0"/>
          <p:nvPr/>
        </p:nvPicPr>
        <p:blipFill>
          <a:blip r:embed="rId9">
            <a:alphaModFix/>
          </a:blip>
          <a:stretch>
            <a:fillRect/>
          </a:stretch>
        </p:blipFill>
        <p:spPr>
          <a:xfrm>
            <a:off x="1544889" y="3886098"/>
            <a:ext cx="362874" cy="183623"/>
          </a:xfrm>
          <a:prstGeom prst="rect">
            <a:avLst/>
          </a:prstGeom>
          <a:noFill/>
          <a:ln>
            <a:noFill/>
          </a:ln>
        </p:spPr>
      </p:pic>
      <p:pic>
        <p:nvPicPr>
          <p:cNvPr id="79" name="Google Shape;79;p15" title="{&quot;red&quot;:89,&quot;green&quot;:89,&quot;blue&quot;:89,&quot;origURL&quot;:&quot;https://www.codecogs.com/eqnedit.php?latex=tanh#0&quot;,&quot;size&quot;:15.300000190734863,&quot;width&quot;:670.9133858267717,&quot;height&quot;:269.00787401574803}"/>
          <p:cNvPicPr preferRelativeResize="0"/>
          <p:nvPr/>
        </p:nvPicPr>
        <p:blipFill>
          <a:blip r:embed="rId10">
            <a:alphaModFix/>
          </a:blip>
          <a:stretch>
            <a:fillRect/>
          </a:stretch>
        </p:blipFill>
        <p:spPr>
          <a:xfrm>
            <a:off x="4209600" y="3884488"/>
            <a:ext cx="428454" cy="153019"/>
          </a:xfrm>
          <a:prstGeom prst="rect">
            <a:avLst/>
          </a:prstGeom>
          <a:noFill/>
          <a:ln>
            <a:noFill/>
          </a:ln>
        </p:spPr>
      </p:pic>
      <p:sp>
        <p:nvSpPr>
          <p:cNvPr id="80" name="Google Shape;80;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Проблема RNN</a:t>
            </a:r>
            <a:endParaRPr/>
          </a:p>
        </p:txBody>
      </p:sp>
      <p:sp>
        <p:nvSpPr>
          <p:cNvPr id="86" name="Google Shape;86;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ru"/>
              <a:t>Основная проблема простых RNN заключается в неспособности обучаться на долгосрочных зависимостях (Vanishing/Exploding Gradient Problem).</a:t>
            </a:r>
            <a:endParaRPr/>
          </a:p>
          <a:p>
            <a:pPr indent="0" lvl="0" marL="0" rtl="0" algn="l">
              <a:spcBef>
                <a:spcPts val="1200"/>
              </a:spcBef>
              <a:spcAft>
                <a:spcPts val="0"/>
              </a:spcAft>
              <a:buNone/>
            </a:pPr>
            <a:r>
              <a:rPr lang="ru"/>
              <a:t>Д</a:t>
            </a:r>
            <a:r>
              <a:rPr lang="ru"/>
              <a:t>олгосрочные зависимости - ситуации, когда для понимания текущего элемента нужно "помнить" то, что было намного раньше.</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ru"/>
              <a:t>Процесс обучения нейронных сетей основан на алгоритме обратного распространения ошибки (Backpropagation). В случае RNN этот алгоритм разворачивается во времени (Backpropagation Through Time, BPTT). Градиент (сигнал об ошибке) должен пройти весь путь от текущего шага назад до того шага, который был "важен".</a:t>
            </a:r>
            <a:endParaRPr/>
          </a:p>
        </p:txBody>
      </p:sp>
      <p:sp>
        <p:nvSpPr>
          <p:cNvPr id="87" name="Google Shape;87;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Решение: LSTM</a:t>
            </a:r>
            <a:endParaRPr/>
          </a:p>
        </p:txBody>
      </p:sp>
      <p:sp>
        <p:nvSpPr>
          <p:cNvPr id="93" name="Google Shape;93;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ru"/>
              <a:t>LSTM (Long Short-Term Memory) — это специальный тип RNN, разработанный именно для борьбы с проблемой исчезающего градиента. Его ключевое нововведение — механизм "затвора" (gating mechanism).</a:t>
            </a:r>
            <a:endParaRPr/>
          </a:p>
          <a:p>
            <a:pPr indent="0" lvl="0" marL="0" rtl="0" algn="l">
              <a:spcBef>
                <a:spcPts val="1200"/>
              </a:spcBef>
              <a:spcAft>
                <a:spcPts val="0"/>
              </a:spcAft>
              <a:buNone/>
            </a:pPr>
            <a:r>
              <a:rPr lang="ru"/>
              <a:t>LSTM не просто передает одно скрытое состояние. У него есть два потока информации, передающихся от шага к шагу:</a:t>
            </a:r>
            <a:endParaRPr/>
          </a:p>
          <a:p>
            <a:pPr indent="-334327" lvl="0" marL="457200" rtl="0" algn="l">
              <a:spcBef>
                <a:spcPts val="1200"/>
              </a:spcBef>
              <a:spcAft>
                <a:spcPts val="0"/>
              </a:spcAft>
              <a:buSzPct val="100000"/>
              <a:buAutoNum type="arabicPeriod"/>
            </a:pPr>
            <a:r>
              <a:rPr lang="ru"/>
              <a:t>Скрытое состояние (Hidden State) h_t — краткосрочная память.</a:t>
            </a:r>
            <a:endParaRPr/>
          </a:p>
          <a:p>
            <a:pPr indent="-334327" lvl="0" marL="457200" rtl="0" algn="l">
              <a:spcBef>
                <a:spcPts val="0"/>
              </a:spcBef>
              <a:spcAft>
                <a:spcPts val="0"/>
              </a:spcAft>
              <a:buSzPct val="100000"/>
              <a:buAutoNum type="arabicPeriod"/>
            </a:pPr>
            <a:r>
              <a:rPr lang="ru"/>
              <a:t>Вектор состояния ячейки (Cell State) C_t — долгосрочная память. Это главное ноу-хау.</a:t>
            </a:r>
            <a:endParaRPr/>
          </a:p>
          <a:p>
            <a:pPr indent="0" lvl="0" marL="0" rtl="0" algn="l">
              <a:spcBef>
                <a:spcPts val="1200"/>
              </a:spcBef>
              <a:spcAft>
                <a:spcPts val="1200"/>
              </a:spcAft>
              <a:buNone/>
            </a:pPr>
            <a:r>
              <a:rPr lang="ru"/>
              <a:t>Вектор состояния ячейки C_t похож на конвейерную ленту, которая проходит через всю последовательность практически без изменений. Информация может легко "путешествовать" по нему на большие расстояния.</a:t>
            </a:r>
            <a:endParaRPr/>
          </a:p>
        </p:txBody>
      </p:sp>
      <p:sp>
        <p:nvSpPr>
          <p:cNvPr id="94" name="Google Shape;94;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LSTM: Архитектура</a:t>
            </a:r>
            <a:endParaRPr/>
          </a:p>
        </p:txBody>
      </p:sp>
      <p:sp>
        <p:nvSpPr>
          <p:cNvPr id="100" name="Google Shape;100;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pic>
        <p:nvPicPr>
          <p:cNvPr id="101" name="Google Shape;101;p18" title="Screenshot 2025-11-24 at 14-28-27 gate_of_lstm.webp (Изображение WEBP 800 × 400 пикселей).png"/>
          <p:cNvPicPr preferRelativeResize="0"/>
          <p:nvPr/>
        </p:nvPicPr>
        <p:blipFill>
          <a:blip r:embed="rId3">
            <a:alphaModFix/>
          </a:blip>
          <a:stretch>
            <a:fillRect/>
          </a:stretch>
        </p:blipFill>
        <p:spPr>
          <a:xfrm>
            <a:off x="473850" y="1083075"/>
            <a:ext cx="7641950" cy="38209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LSTM: Используемые функции</a:t>
            </a:r>
            <a:endParaRPr/>
          </a:p>
        </p:txBody>
      </p:sp>
      <p:sp>
        <p:nvSpPr>
          <p:cNvPr id="107" name="Google Shape;107;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pic>
        <p:nvPicPr>
          <p:cNvPr id="108" name="Google Shape;108;p19"/>
          <p:cNvPicPr preferRelativeResize="0"/>
          <p:nvPr/>
        </p:nvPicPr>
        <p:blipFill>
          <a:blip r:embed="rId3">
            <a:alphaModFix/>
          </a:blip>
          <a:stretch>
            <a:fillRect/>
          </a:stretch>
        </p:blipFill>
        <p:spPr>
          <a:xfrm>
            <a:off x="3084350" y="1017725"/>
            <a:ext cx="5545725" cy="1700978"/>
          </a:xfrm>
          <a:prstGeom prst="rect">
            <a:avLst/>
          </a:prstGeom>
          <a:noFill/>
          <a:ln>
            <a:noFill/>
          </a:ln>
        </p:spPr>
      </p:pic>
      <p:sp>
        <p:nvSpPr>
          <p:cNvPr id="109" name="Google Shape;109;p19"/>
          <p:cNvSpPr txBox="1"/>
          <p:nvPr/>
        </p:nvSpPr>
        <p:spPr>
          <a:xfrm>
            <a:off x="316100" y="987175"/>
            <a:ext cx="5002800" cy="32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800">
                <a:solidFill>
                  <a:schemeClr val="dk2"/>
                </a:solidFill>
                <a:latin typeface="Proxima Nova"/>
                <a:ea typeface="Proxima Nova"/>
                <a:cs typeface="Proxima Nova"/>
                <a:sym typeface="Proxima Nova"/>
              </a:rPr>
              <a:t>Сигмоидальная </a:t>
            </a:r>
            <a:endParaRPr sz="1800">
              <a:solidFill>
                <a:schemeClr val="dk2"/>
              </a:solidFill>
              <a:latin typeface="Proxima Nova"/>
              <a:ea typeface="Proxima Nova"/>
              <a:cs typeface="Proxima Nova"/>
              <a:sym typeface="Proxima Nova"/>
            </a:endParaRPr>
          </a:p>
          <a:p>
            <a:pPr indent="0" lvl="0" marL="0" rtl="0" algn="l">
              <a:spcBef>
                <a:spcPts val="0"/>
              </a:spcBef>
              <a:spcAft>
                <a:spcPts val="0"/>
              </a:spcAft>
              <a:buNone/>
            </a:pPr>
            <a:r>
              <a:rPr lang="ru" sz="1800">
                <a:solidFill>
                  <a:schemeClr val="dk2"/>
                </a:solidFill>
                <a:latin typeface="Proxima Nova"/>
                <a:ea typeface="Proxima Nova"/>
                <a:cs typeface="Proxima Nova"/>
                <a:sym typeface="Proxima Nova"/>
              </a:rPr>
              <a:t>функция  </a:t>
            </a:r>
            <a:r>
              <a:rPr lang="ru" sz="1800">
                <a:solidFill>
                  <a:schemeClr val="dk2"/>
                </a:solidFill>
                <a:latin typeface="Proxima Nova"/>
                <a:ea typeface="Proxima Nova"/>
                <a:cs typeface="Proxima Nova"/>
                <a:sym typeface="Proxima Nova"/>
              </a:rPr>
              <a:t>σ(X)= </a:t>
            </a:r>
            <a:endParaRPr sz="1800">
              <a:solidFill>
                <a:schemeClr val="dk2"/>
              </a:solidFill>
              <a:latin typeface="Proxima Nova"/>
              <a:ea typeface="Proxima Nova"/>
              <a:cs typeface="Proxima Nova"/>
              <a:sym typeface="Proxima Nova"/>
            </a:endParaRPr>
          </a:p>
          <a:p>
            <a:pPr indent="0" lvl="0" marL="0" rtl="0" algn="l">
              <a:spcBef>
                <a:spcPts val="0"/>
              </a:spcBef>
              <a:spcAft>
                <a:spcPts val="0"/>
              </a:spcAft>
              <a:buNone/>
            </a:pPr>
            <a:r>
              <a:t/>
            </a:r>
            <a:endParaRPr sz="1800">
              <a:solidFill>
                <a:schemeClr val="dk2"/>
              </a:solidFill>
              <a:latin typeface="Proxima Nova"/>
              <a:ea typeface="Proxima Nova"/>
              <a:cs typeface="Proxima Nova"/>
              <a:sym typeface="Proxima Nova"/>
            </a:endParaRPr>
          </a:p>
        </p:txBody>
      </p:sp>
      <p:pic>
        <p:nvPicPr>
          <p:cNvPr id="110" name="Google Shape;110;p19"/>
          <p:cNvPicPr preferRelativeResize="0"/>
          <p:nvPr/>
        </p:nvPicPr>
        <p:blipFill>
          <a:blip r:embed="rId4">
            <a:alphaModFix/>
          </a:blip>
          <a:stretch>
            <a:fillRect/>
          </a:stretch>
        </p:blipFill>
        <p:spPr>
          <a:xfrm>
            <a:off x="2038713" y="1261925"/>
            <a:ext cx="716363" cy="477575"/>
          </a:xfrm>
          <a:prstGeom prst="rect">
            <a:avLst/>
          </a:prstGeom>
          <a:noFill/>
          <a:ln>
            <a:noFill/>
          </a:ln>
        </p:spPr>
      </p:pic>
      <p:pic>
        <p:nvPicPr>
          <p:cNvPr id="111" name="Google Shape;111;p19"/>
          <p:cNvPicPr preferRelativeResize="0"/>
          <p:nvPr/>
        </p:nvPicPr>
        <p:blipFill>
          <a:blip r:embed="rId5">
            <a:alphaModFix/>
          </a:blip>
          <a:stretch>
            <a:fillRect/>
          </a:stretch>
        </p:blipFill>
        <p:spPr>
          <a:xfrm>
            <a:off x="3084350" y="3040825"/>
            <a:ext cx="5545726" cy="1937925"/>
          </a:xfrm>
          <a:prstGeom prst="rect">
            <a:avLst/>
          </a:prstGeom>
          <a:noFill/>
          <a:ln>
            <a:noFill/>
          </a:ln>
        </p:spPr>
      </p:pic>
      <p:sp>
        <p:nvSpPr>
          <p:cNvPr id="112" name="Google Shape;112;p19"/>
          <p:cNvSpPr txBox="1"/>
          <p:nvPr/>
        </p:nvSpPr>
        <p:spPr>
          <a:xfrm>
            <a:off x="125600" y="3040825"/>
            <a:ext cx="30000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u" sz="1800">
                <a:solidFill>
                  <a:schemeClr val="dk2"/>
                </a:solidFill>
                <a:latin typeface="Proxima Nova"/>
                <a:ea typeface="Proxima Nova"/>
                <a:cs typeface="Proxima Nova"/>
                <a:sym typeface="Proxima Nova"/>
              </a:rPr>
              <a:t>Гиперболический тангенс tanh</a:t>
            </a:r>
            <a:r>
              <a:rPr lang="ru" sz="1800">
                <a:solidFill>
                  <a:schemeClr val="dk2"/>
                </a:solidFill>
                <a:latin typeface="Proxima Nova"/>
                <a:ea typeface="Proxima Nova"/>
                <a:cs typeface="Proxima Nova"/>
                <a:sym typeface="Proxima Nova"/>
              </a:rPr>
              <a:t>(X)=</a:t>
            </a:r>
            <a:endParaRPr sz="1800">
              <a:solidFill>
                <a:schemeClr val="dk2"/>
              </a:solidFill>
              <a:latin typeface="Proxima Nova"/>
              <a:ea typeface="Proxima Nova"/>
              <a:cs typeface="Proxima Nova"/>
              <a:sym typeface="Proxima Nova"/>
            </a:endParaRPr>
          </a:p>
          <a:p>
            <a:pPr indent="0" lvl="0" marL="0" rtl="0" algn="l">
              <a:spcBef>
                <a:spcPts val="0"/>
              </a:spcBef>
              <a:spcAft>
                <a:spcPts val="0"/>
              </a:spcAft>
              <a:buNone/>
            </a:pPr>
            <a:r>
              <a:t/>
            </a:r>
            <a:endParaRPr sz="1800">
              <a:solidFill>
                <a:schemeClr val="dk2"/>
              </a:solidFill>
              <a:latin typeface="Proxima Nova"/>
              <a:ea typeface="Proxima Nova"/>
              <a:cs typeface="Proxima Nova"/>
              <a:sym typeface="Proxima Nova"/>
            </a:endParaRPr>
          </a:p>
        </p:txBody>
      </p:sp>
      <p:pic>
        <p:nvPicPr>
          <p:cNvPr id="113" name="Google Shape;113;p19"/>
          <p:cNvPicPr preferRelativeResize="0"/>
          <p:nvPr/>
        </p:nvPicPr>
        <p:blipFill>
          <a:blip r:embed="rId6">
            <a:alphaModFix/>
          </a:blip>
          <a:stretch>
            <a:fillRect/>
          </a:stretch>
        </p:blipFill>
        <p:spPr>
          <a:xfrm>
            <a:off x="1113100" y="3394725"/>
            <a:ext cx="1289200" cy="427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LSTM: Используемые функции</a:t>
            </a:r>
            <a:endParaRPr/>
          </a:p>
        </p:txBody>
      </p:sp>
      <p:sp>
        <p:nvSpPr>
          <p:cNvPr id="119" name="Google Shape;119;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pic>
        <p:nvPicPr>
          <p:cNvPr id="120" name="Google Shape;120;p20"/>
          <p:cNvPicPr preferRelativeResize="0"/>
          <p:nvPr/>
        </p:nvPicPr>
        <p:blipFill>
          <a:blip r:embed="rId3">
            <a:alphaModFix/>
          </a:blip>
          <a:stretch>
            <a:fillRect/>
          </a:stretch>
        </p:blipFill>
        <p:spPr>
          <a:xfrm>
            <a:off x="425550" y="1170125"/>
            <a:ext cx="3558738" cy="14016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Пошаговое описание работы LSTM: Forget Gate</a:t>
            </a:r>
            <a:endParaRPr/>
          </a:p>
        </p:txBody>
      </p:sp>
      <p:sp>
        <p:nvSpPr>
          <p:cNvPr id="126" name="Google Shape;126;p2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Затвор забытия (Forget Gate): Решает, насколько оставить каждую часть памяти          .</a:t>
            </a:r>
            <a:endParaRPr/>
          </a:p>
          <a:p>
            <a:pPr indent="0" lvl="0" marL="0" rtl="0" algn="l">
              <a:spcBef>
                <a:spcPts val="1200"/>
              </a:spcBef>
              <a:spcAft>
                <a:spcPts val="0"/>
              </a:spcAft>
              <a:buNone/>
            </a:pPr>
            <a:r>
              <a:rPr lang="ru"/>
              <a:t>Смотрит на          (пред. выход) и      (текущий вход), и выдает число между 0 (полностью забыть) и 1 (полностью сохранить) для каждого элемента в         .</a:t>
            </a:r>
            <a:endParaRPr/>
          </a:p>
          <a:p>
            <a:pPr indent="0" lvl="0" marL="0" rtl="0" algn="l">
              <a:spcBef>
                <a:spcPts val="1200"/>
              </a:spcBef>
              <a:spcAft>
                <a:spcPts val="1200"/>
              </a:spcAft>
              <a:buNone/>
            </a:pPr>
            <a:r>
              <a:t/>
            </a:r>
            <a:endParaRPr/>
          </a:p>
        </p:txBody>
      </p:sp>
      <p:pic>
        <p:nvPicPr>
          <p:cNvPr id="127" name="Google Shape;127;p21" title="{&quot;red&quot;:89,&quot;green&quot;:89,&quot;blue&quot;:89,&quot;origURL&quot;:&quot;https://www.codecogs.com/eqnedit.php?latex=C_%7Bt-1%7D#0&quot;,&quot;size&quot;:18,&quot;width&quot;:670.9133858267717,&quot;height&quot;:269.00787401574803}"/>
          <p:cNvPicPr preferRelativeResize="0"/>
          <p:nvPr/>
        </p:nvPicPr>
        <p:blipFill>
          <a:blip r:embed="rId3">
            <a:alphaModFix/>
          </a:blip>
          <a:stretch>
            <a:fillRect/>
          </a:stretch>
        </p:blipFill>
        <p:spPr>
          <a:xfrm>
            <a:off x="1213849" y="1599437"/>
            <a:ext cx="450914" cy="221171"/>
          </a:xfrm>
          <a:prstGeom prst="rect">
            <a:avLst/>
          </a:prstGeom>
          <a:noFill/>
          <a:ln>
            <a:noFill/>
          </a:ln>
        </p:spPr>
      </p:pic>
      <p:pic>
        <p:nvPicPr>
          <p:cNvPr id="128" name="Google Shape;128;p21" title="{&quot;red&quot;:89,&quot;green&quot;:89,&quot;blue&quot;:89,&quot;origURL&quot;:&quot;https://www.codecogs.com/eqnedit.php?latex=h_%7Bt-1%7D#0&quot;,&quot;size&quot;:18,&quot;width&quot;:670.9133858267717,&quot;height&quot;:269.00787401574803}"/>
          <p:cNvPicPr preferRelativeResize="0"/>
          <p:nvPr/>
        </p:nvPicPr>
        <p:blipFill>
          <a:blip r:embed="rId4">
            <a:alphaModFix/>
          </a:blip>
          <a:stretch>
            <a:fillRect/>
          </a:stretch>
        </p:blipFill>
        <p:spPr>
          <a:xfrm>
            <a:off x="1718376" y="2065214"/>
            <a:ext cx="413194" cy="219456"/>
          </a:xfrm>
          <a:prstGeom prst="rect">
            <a:avLst/>
          </a:prstGeom>
          <a:noFill/>
          <a:ln>
            <a:noFill/>
          </a:ln>
        </p:spPr>
      </p:pic>
      <p:pic>
        <p:nvPicPr>
          <p:cNvPr id="129" name="Google Shape;129;p21" title="{&quot;red&quot;:89,&quot;green&quot;:89,&quot;blue&quot;:89,&quot;origURL&quot;:&quot;https://www.codecogs.com/eqnedit.php?latex=x_t#0&quot;,&quot;size&quot;:18,&quot;width&quot;:670.9133858267717,&quot;height&quot;:269.00787401574803}"/>
          <p:cNvPicPr preferRelativeResize="0"/>
          <p:nvPr/>
        </p:nvPicPr>
        <p:blipFill>
          <a:blip r:embed="rId5">
            <a:alphaModFix/>
          </a:blip>
          <a:stretch>
            <a:fillRect/>
          </a:stretch>
        </p:blipFill>
        <p:spPr>
          <a:xfrm>
            <a:off x="3832332" y="2130371"/>
            <a:ext cx="195453" cy="154305"/>
          </a:xfrm>
          <a:prstGeom prst="rect">
            <a:avLst/>
          </a:prstGeom>
          <a:noFill/>
          <a:ln>
            <a:noFill/>
          </a:ln>
        </p:spPr>
      </p:pic>
      <p:pic>
        <p:nvPicPr>
          <p:cNvPr id="130" name="Google Shape;130;p21" title="{&quot;red&quot;:89,&quot;green&quot;:89,&quot;blue&quot;:89,&quot;origURL&quot;:&quot;https://www.codecogs.com/eqnedit.php?latex=C_%7Bt-1%7D#0&quot;,&quot;size&quot;:18,&quot;width&quot;:670.9133858267717,&quot;height&quot;:269.00787401574803}"/>
          <p:cNvPicPr preferRelativeResize="0"/>
          <p:nvPr/>
        </p:nvPicPr>
        <p:blipFill>
          <a:blip r:embed="rId3">
            <a:alphaModFix/>
          </a:blip>
          <a:stretch>
            <a:fillRect/>
          </a:stretch>
        </p:blipFill>
        <p:spPr>
          <a:xfrm>
            <a:off x="7899911" y="2380651"/>
            <a:ext cx="450913" cy="221171"/>
          </a:xfrm>
          <a:prstGeom prst="rect">
            <a:avLst/>
          </a:prstGeom>
          <a:noFill/>
          <a:ln>
            <a:noFill/>
          </a:ln>
        </p:spPr>
      </p:pic>
      <p:pic>
        <p:nvPicPr>
          <p:cNvPr id="131" name="Google Shape;131;p21"/>
          <p:cNvPicPr preferRelativeResize="0"/>
          <p:nvPr/>
        </p:nvPicPr>
        <p:blipFill>
          <a:blip r:embed="rId6">
            <a:alphaModFix/>
          </a:blip>
          <a:stretch>
            <a:fillRect/>
          </a:stretch>
        </p:blipFill>
        <p:spPr>
          <a:xfrm>
            <a:off x="5253897" y="2645070"/>
            <a:ext cx="3428352" cy="2285576"/>
          </a:xfrm>
          <a:prstGeom prst="rect">
            <a:avLst/>
          </a:prstGeom>
          <a:noFill/>
          <a:ln>
            <a:noFill/>
          </a:ln>
        </p:spPr>
      </p:pic>
      <p:sp>
        <p:nvSpPr>
          <p:cNvPr id="132" name="Google Shape;132;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pic>
        <p:nvPicPr>
          <p:cNvPr id="133" name="Google Shape;133;p21"/>
          <p:cNvPicPr preferRelativeResize="0"/>
          <p:nvPr/>
        </p:nvPicPr>
        <p:blipFill>
          <a:blip r:embed="rId7">
            <a:alphaModFix/>
          </a:blip>
          <a:stretch>
            <a:fillRect/>
          </a:stretch>
        </p:blipFill>
        <p:spPr>
          <a:xfrm>
            <a:off x="427300" y="2782700"/>
            <a:ext cx="4144700" cy="15148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Пошаговое описание работы LSTM: Input Gate</a:t>
            </a:r>
            <a:endParaRPr/>
          </a:p>
        </p:txBody>
      </p:sp>
      <p:sp>
        <p:nvSpPr>
          <p:cNvPr id="139" name="Google Shape;139;p22"/>
          <p:cNvSpPr txBox="1"/>
          <p:nvPr>
            <p:ph idx="1" type="body"/>
          </p:nvPr>
        </p:nvSpPr>
        <p:spPr>
          <a:xfrm>
            <a:off x="333263" y="971650"/>
            <a:ext cx="42387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a:t>Решает, какую новую информацию записать в долгосрочную память.</a:t>
            </a:r>
            <a:endParaRPr/>
          </a:p>
          <a:p>
            <a:pPr indent="-342900" lvl="0" marL="457200" rtl="0" algn="l">
              <a:spcBef>
                <a:spcPts val="1200"/>
              </a:spcBef>
              <a:spcAft>
                <a:spcPts val="0"/>
              </a:spcAft>
              <a:buSzPts val="1800"/>
              <a:buAutoNum type="arabicPeriod"/>
            </a:pPr>
            <a:r>
              <a:rPr lang="ru"/>
              <a:t>Одна часть решает, какие значения обновить (сигмоида).</a:t>
            </a:r>
            <a:endParaRPr/>
          </a:p>
          <a:p>
            <a:pPr indent="-342900" lvl="0" marL="457200" rtl="0" algn="l">
              <a:spcBef>
                <a:spcPts val="0"/>
              </a:spcBef>
              <a:spcAft>
                <a:spcPts val="0"/>
              </a:spcAft>
              <a:buSzPts val="1800"/>
              <a:buAutoNum type="arabicPeriod"/>
            </a:pPr>
            <a:r>
              <a:rPr lang="ru"/>
              <a:t>Другая часть создает вектор-кандидатов новых значений (tanh) состояния ячейки</a:t>
            </a:r>
            <a:endParaRPr/>
          </a:p>
        </p:txBody>
      </p:sp>
      <p:pic>
        <p:nvPicPr>
          <p:cNvPr id="140" name="Google Shape;140;p22"/>
          <p:cNvPicPr preferRelativeResize="0"/>
          <p:nvPr/>
        </p:nvPicPr>
        <p:blipFill rotWithShape="1">
          <a:blip r:embed="rId3">
            <a:alphaModFix/>
          </a:blip>
          <a:srcRect b="11981" l="620" r="-620" t="-22919"/>
          <a:stretch/>
        </p:blipFill>
        <p:spPr>
          <a:xfrm>
            <a:off x="4483800" y="530375"/>
            <a:ext cx="4348499" cy="2729891"/>
          </a:xfrm>
          <a:prstGeom prst="rect">
            <a:avLst/>
          </a:prstGeom>
          <a:noFill/>
          <a:ln>
            <a:noFill/>
          </a:ln>
        </p:spPr>
      </p:pic>
      <p:sp>
        <p:nvSpPr>
          <p:cNvPr id="141" name="Google Shape;141;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pic>
        <p:nvPicPr>
          <p:cNvPr id="142" name="Google Shape;142;p22"/>
          <p:cNvPicPr preferRelativeResize="0"/>
          <p:nvPr/>
        </p:nvPicPr>
        <p:blipFill>
          <a:blip r:embed="rId4">
            <a:alphaModFix/>
          </a:blip>
          <a:stretch>
            <a:fillRect/>
          </a:stretch>
        </p:blipFill>
        <p:spPr>
          <a:xfrm>
            <a:off x="5368225" y="3260275"/>
            <a:ext cx="1852776" cy="1852776"/>
          </a:xfrm>
          <a:prstGeom prst="rect">
            <a:avLst/>
          </a:prstGeom>
          <a:noFill/>
          <a:ln>
            <a:noFill/>
          </a:ln>
        </p:spPr>
      </p:pic>
      <p:pic>
        <p:nvPicPr>
          <p:cNvPr id="143" name="Google Shape;143;p22"/>
          <p:cNvPicPr preferRelativeResize="0"/>
          <p:nvPr/>
        </p:nvPicPr>
        <p:blipFill>
          <a:blip r:embed="rId5">
            <a:alphaModFix/>
          </a:blip>
          <a:stretch>
            <a:fillRect/>
          </a:stretch>
        </p:blipFill>
        <p:spPr>
          <a:xfrm>
            <a:off x="429970" y="3466175"/>
            <a:ext cx="3198475" cy="731075"/>
          </a:xfrm>
          <a:prstGeom prst="rect">
            <a:avLst/>
          </a:prstGeom>
          <a:noFill/>
          <a:ln>
            <a:noFill/>
          </a:ln>
        </p:spPr>
      </p:pic>
      <p:pic>
        <p:nvPicPr>
          <p:cNvPr id="144" name="Google Shape;144;p22"/>
          <p:cNvPicPr preferRelativeResize="0"/>
          <p:nvPr/>
        </p:nvPicPr>
        <p:blipFill>
          <a:blip r:embed="rId6">
            <a:alphaModFix/>
          </a:blip>
          <a:stretch>
            <a:fillRect/>
          </a:stretch>
        </p:blipFill>
        <p:spPr>
          <a:xfrm>
            <a:off x="463450" y="4197250"/>
            <a:ext cx="3198475" cy="72323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Пошаговое описание работы LSTM: Cell</a:t>
            </a:r>
            <a:endParaRPr/>
          </a:p>
        </p:txBody>
      </p:sp>
      <p:pic>
        <p:nvPicPr>
          <p:cNvPr id="150" name="Google Shape;150;p23"/>
          <p:cNvPicPr preferRelativeResize="0"/>
          <p:nvPr/>
        </p:nvPicPr>
        <p:blipFill>
          <a:blip r:embed="rId3">
            <a:alphaModFix/>
          </a:blip>
          <a:stretch>
            <a:fillRect/>
          </a:stretch>
        </p:blipFill>
        <p:spPr>
          <a:xfrm>
            <a:off x="4572000" y="1352675"/>
            <a:ext cx="4267199" cy="2921109"/>
          </a:xfrm>
          <a:prstGeom prst="rect">
            <a:avLst/>
          </a:prstGeom>
          <a:noFill/>
          <a:ln>
            <a:noFill/>
          </a:ln>
        </p:spPr>
      </p:pic>
      <p:sp>
        <p:nvSpPr>
          <p:cNvPr id="151" name="Google Shape;151;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sp>
        <p:nvSpPr>
          <p:cNvPr id="152" name="Google Shape;152;p23"/>
          <p:cNvSpPr txBox="1"/>
          <p:nvPr/>
        </p:nvSpPr>
        <p:spPr>
          <a:xfrm>
            <a:off x="476850" y="1964975"/>
            <a:ext cx="3998400" cy="292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800">
                <a:solidFill>
                  <a:schemeClr val="dk2"/>
                </a:solidFill>
                <a:latin typeface="Proxima Nova"/>
                <a:ea typeface="Proxima Nova"/>
                <a:cs typeface="Proxima Nova"/>
                <a:sym typeface="Proxima Nova"/>
              </a:rPr>
              <a:t>Старая память частично забывается и дополняется новой.</a:t>
            </a:r>
            <a:endParaRPr sz="1800">
              <a:solidFill>
                <a:schemeClr val="dk2"/>
              </a:solidFill>
              <a:latin typeface="Proxima Nova"/>
              <a:ea typeface="Proxima Nova"/>
              <a:cs typeface="Proxima Nova"/>
              <a:sym typeface="Proxima Nova"/>
            </a:endParaRPr>
          </a:p>
        </p:txBody>
      </p:sp>
      <p:pic>
        <p:nvPicPr>
          <p:cNvPr id="153" name="Google Shape;153;p23"/>
          <p:cNvPicPr preferRelativeResize="0"/>
          <p:nvPr/>
        </p:nvPicPr>
        <p:blipFill>
          <a:blip r:embed="rId4">
            <a:alphaModFix/>
          </a:blip>
          <a:stretch>
            <a:fillRect/>
          </a:stretch>
        </p:blipFill>
        <p:spPr>
          <a:xfrm>
            <a:off x="152400" y="1170125"/>
            <a:ext cx="3671143" cy="6424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Пошаговое описание работы LSTM: Output Gate</a:t>
            </a:r>
            <a:endParaRPr/>
          </a:p>
        </p:txBody>
      </p:sp>
      <p:sp>
        <p:nvSpPr>
          <p:cNvPr id="159" name="Google Shape;159;p24"/>
          <p:cNvSpPr txBox="1"/>
          <p:nvPr>
            <p:ph idx="1" type="body"/>
          </p:nvPr>
        </p:nvSpPr>
        <p:spPr>
          <a:xfrm>
            <a:off x="311700" y="1152475"/>
            <a:ext cx="4260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ru"/>
              <a:t>Решает, какую информацию из долгосрочной памяти (C_t) использовать для формирования нового скрытого состояния (h_t), которое пойдет на выход и на следующий шаг.</a:t>
            </a:r>
            <a:endParaRPr/>
          </a:p>
        </p:txBody>
      </p:sp>
      <p:pic>
        <p:nvPicPr>
          <p:cNvPr id="160" name="Google Shape;160;p24"/>
          <p:cNvPicPr preferRelativeResize="0"/>
          <p:nvPr/>
        </p:nvPicPr>
        <p:blipFill>
          <a:blip r:embed="rId3">
            <a:alphaModFix/>
          </a:blip>
          <a:stretch>
            <a:fillRect/>
          </a:stretch>
        </p:blipFill>
        <p:spPr>
          <a:xfrm>
            <a:off x="4572000" y="1312213"/>
            <a:ext cx="4267199" cy="3096931"/>
          </a:xfrm>
          <a:prstGeom prst="rect">
            <a:avLst/>
          </a:prstGeom>
          <a:noFill/>
          <a:ln>
            <a:noFill/>
          </a:ln>
        </p:spPr>
      </p:pic>
      <p:sp>
        <p:nvSpPr>
          <p:cNvPr id="161" name="Google Shape;161;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pic>
        <p:nvPicPr>
          <p:cNvPr id="162" name="Google Shape;162;p24"/>
          <p:cNvPicPr preferRelativeResize="0"/>
          <p:nvPr/>
        </p:nvPicPr>
        <p:blipFill>
          <a:blip r:embed="rId4">
            <a:alphaModFix/>
          </a:blip>
          <a:stretch>
            <a:fillRect/>
          </a:stretch>
        </p:blipFill>
        <p:spPr>
          <a:xfrm>
            <a:off x="311700" y="3204175"/>
            <a:ext cx="3527175" cy="772850"/>
          </a:xfrm>
          <a:prstGeom prst="rect">
            <a:avLst/>
          </a:prstGeom>
          <a:noFill/>
          <a:ln>
            <a:noFill/>
          </a:ln>
        </p:spPr>
      </p:pic>
      <p:pic>
        <p:nvPicPr>
          <p:cNvPr id="163" name="Google Shape;163;p24"/>
          <p:cNvPicPr preferRelativeResize="0"/>
          <p:nvPr/>
        </p:nvPicPr>
        <p:blipFill>
          <a:blip r:embed="rId5">
            <a:alphaModFix/>
          </a:blip>
          <a:stretch>
            <a:fillRect/>
          </a:stretch>
        </p:blipFill>
        <p:spPr>
          <a:xfrm>
            <a:off x="311700" y="3977025"/>
            <a:ext cx="2067175" cy="5047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Почему решает проблему?</a:t>
            </a:r>
            <a:endParaRPr/>
          </a:p>
        </p:txBody>
      </p:sp>
      <p:sp>
        <p:nvSpPr>
          <p:cNvPr id="169" name="Google Shape;169;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ru"/>
              <a:t>Градиент теперь способен перемещаться по состоянию ячейки C_t. В отличие от простой RNN, где обновление состояния происходит через постоянное умножение матриц, здесь используется сложение, что предотвращает экспоненциальное затухание градиента при обратном распространении. Операция сложения просто копирует градиент дальше, что способствует более эффективному обучению.</a:t>
            </a:r>
            <a:endParaRPr/>
          </a:p>
        </p:txBody>
      </p:sp>
      <p:sp>
        <p:nvSpPr>
          <p:cNvPr id="170" name="Google Shape;170;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6"/>
          <p:cNvSpPr txBox="1"/>
          <p:nvPr>
            <p:ph type="title"/>
          </p:nvPr>
        </p:nvSpPr>
        <p:spPr>
          <a:xfrm>
            <a:off x="490250" y="450150"/>
            <a:ext cx="8327700" cy="4090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ru"/>
              <a:t>СПАСИБО ЗА ВНИМАНИЕ</a:t>
            </a:r>
            <a:endParaRPr/>
          </a:p>
        </p:txBody>
      </p:sp>
      <p:sp>
        <p:nvSpPr>
          <p:cNvPr id="176" name="Google Shape;176;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Gameday">
  <a:themeElements>
    <a:clrScheme name="Gameday">
      <a:dk1>
        <a:srgbClr val="4285F4"/>
      </a:dk1>
      <a:lt1>
        <a:srgbClr val="FFFFFF"/>
      </a:lt1>
      <a:dk2>
        <a:srgbClr val="666666"/>
      </a:dk2>
      <a:lt2>
        <a:srgbClr val="D9D9D9"/>
      </a:lt2>
      <a:accent1>
        <a:srgbClr val="455A64"/>
      </a:accent1>
      <a:accent2>
        <a:srgbClr val="607D8B"/>
      </a:accent2>
      <a:accent3>
        <a:srgbClr val="FF5722"/>
      </a:accent3>
      <a:accent4>
        <a:srgbClr val="D84315"/>
      </a:accent4>
      <a:accent5>
        <a:srgbClr val="1C3AA9"/>
      </a:accent5>
      <a:accent6>
        <a:srgbClr val="FFAB40"/>
      </a:accent6>
      <a:hlink>
        <a:srgbClr val="1C3AA9"/>
      </a:hlink>
      <a:folHlink>
        <a:srgbClr val="1C3A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