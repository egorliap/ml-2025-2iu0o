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90" r:id="rId6"/>
    <p:sldId id="280" r:id="rId7"/>
    <p:sldId id="291" r:id="rId8"/>
    <p:sldId id="292" r:id="rId9"/>
    <p:sldId id="281" r:id="rId10"/>
    <p:sldId id="279" r:id="rId11"/>
    <p:sldId id="282" r:id="rId12"/>
    <p:sldId id="283" r:id="rId13"/>
    <p:sldId id="294" r:id="rId14"/>
    <p:sldId id="284" r:id="rId15"/>
    <p:sldId id="285" r:id="rId16"/>
    <p:sldId id="286" r:id="rId17"/>
    <p:sldId id="293" r:id="rId18"/>
    <p:sldId id="287" r:id="rId19"/>
    <p:sldId id="288" r:id="rId20"/>
    <p:sldId id="278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15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622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606" y="102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AB486B-A460-4AC0-B908-19C10162E7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54737CA-53A4-4938-AF9D-BCD897BC29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A9D287D-D6A3-4AFC-920E-8F098E5D3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782DE-08A9-4EB2-8C79-C0DFA5429D69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6C04917-567E-4302-AC0C-22F6326EF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C90E1F-874F-4F2E-958C-C7994CE71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4DA35-F0F0-4581-ADC5-8300B6EEE8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0375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2F3AC3-840A-43D7-AB0A-F767191D6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5FCB10-41D6-476A-B8B4-9872A99D3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6D473E-54FC-49F4-B1F9-834E21DC7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782DE-08A9-4EB2-8C79-C0DFA5429D69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0BD40A-3267-4A0D-AEB4-63D0146C6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9F2A28-CA64-4E57-9E52-00F2AE9CA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4DA35-F0F0-4581-ADC5-8300B6EEE8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7109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2D2B79-B398-4EC3-8974-C7797D74C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EA6893E-CF1E-4698-B264-339ABBFEF4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EDEBAD3-A138-4F97-94EA-7F7D0DC92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782DE-08A9-4EB2-8C79-C0DFA5429D69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996C5B9-C229-46EB-93BE-3751CDDC3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F5062C6-0E5E-43EE-B973-0ED3D0C99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4DA35-F0F0-4581-ADC5-8300B6EEE8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7751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3CCF30-F2ED-4D97-8203-811589159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2131BF-124A-4A3F-A2C0-D2A90AE1BD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B8A29F2-CF21-41D9-A434-00A652370F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00781B6-BD6A-4E83-B8FB-BFF9A3999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782DE-08A9-4EB2-8C79-C0DFA5429D69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C278CC4-1097-4458-ABE6-7E57A4E1E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640F36E-4045-4138-A261-6B1C8FA6D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4DA35-F0F0-4581-ADC5-8300B6EEE8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4810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9004F7-F0F2-4F8B-AB2B-06F9AFDF6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6759B6D-7DFA-4E21-8C5C-67F9EB8C4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C50B423-C9BA-4FB2-8A85-4F3CF35DE0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1A5CDAA-A0DF-4215-8085-23E9E971E7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30EE7CC-1059-4CD7-AB33-EE6EBF0599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60107F5-60F2-4B44-B50C-7DC1EB52C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782DE-08A9-4EB2-8C79-C0DFA5429D69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71F7121-D03D-4BE2-A168-11409DFAE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943A16E-3A5F-4A4D-8C80-7BE25569F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4DA35-F0F0-4581-ADC5-8300B6EEE8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8635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0CB7BB-E99B-41A3-976A-E5E6EC089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F52763F-137E-4F11-807A-0A4BDA9EB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782DE-08A9-4EB2-8C79-C0DFA5429D69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CF53EA6-28BF-43A5-8239-8DC0CE890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07AAE07-9801-45C8-AC98-EC7710B15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4DA35-F0F0-4581-ADC5-8300B6EEE8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8885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BDD10D5-2012-42B2-B805-96AF6FE4F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782DE-08A9-4EB2-8C79-C0DFA5429D69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FC89816-EE60-4847-8039-93EFDC9C3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3588A3E-E9C4-451D-9C78-E23089998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4DA35-F0F0-4581-ADC5-8300B6EEE8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177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DDF2AA-1E76-4D9A-931F-D169E81F0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9E553C-BD31-4331-8BFE-C6ADE892E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560AD0E-1432-4772-AE21-D40E67DB09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E3C1FCF-DF0A-4596-8167-BDFB96BF6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782DE-08A9-4EB2-8C79-C0DFA5429D69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A360BC2-0DDF-4E9B-A8DE-8D6DEFA43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52E6B7C-645B-49E3-925F-8E9FB753E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4DA35-F0F0-4581-ADC5-8300B6EEE8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4067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E0330B-A83D-45FF-836C-5C99A7327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53329B2-218A-41DB-A7F6-9FE64676F0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6CDCA90-15C5-4D36-8CC2-B0D670ACD6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9B2CA37-1C9D-4ABE-AF38-7024D0695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782DE-08A9-4EB2-8C79-C0DFA5429D69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87F5EEC-2137-4F9E-89EE-088EC4E09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44412C0-BF65-4F58-B048-A23E6FC2A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4DA35-F0F0-4581-ADC5-8300B6EEE8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6622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11D4E4-0C5C-4E2A-8F33-951037AA8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E611FA8-6E02-495D-9D1A-4694BD1F9B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7DDBA65-7DE1-4010-A289-575BE80DC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782DE-08A9-4EB2-8C79-C0DFA5429D69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A907D4E-FCF6-4A3E-9BCE-A1D743704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877165-1421-4155-A4C7-CB75351D9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4DA35-F0F0-4581-ADC5-8300B6EEE8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2589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01DCE23-1F73-49D2-A59D-7CEB9180BA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73771D7-476D-4D64-9A9F-388A3B7168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54944DB-030C-46B3-9EED-49F720C43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782DE-08A9-4EB2-8C79-C0DFA5429D69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2CD2E58-2A90-4CEF-B1E7-918DEBA2C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B8A8459-3ED4-4A21-A0FE-D899B725A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4DA35-F0F0-4581-ADC5-8300B6EEE8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9050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116C28-D2FF-490A-8BE9-54DC55FA9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D80A3FE-7E19-45CF-9CA6-310BC9CF99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A28057-3F82-4B85-9686-986902D976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C782DE-08A9-4EB2-8C79-C0DFA5429D69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C1D2A15-EF80-46DA-A9C4-AB4FB458B3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F09D9D-A7DD-4293-A82C-2B132AD5A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4DA35-F0F0-4581-ADC5-8300B6EEE8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575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2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3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3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28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15.png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34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EA2858-CCB1-4C76-BDD1-4ABA9181FF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1100" y="347394"/>
            <a:ext cx="9144000" cy="2405063"/>
          </a:xfrm>
        </p:spPr>
        <p:txBody>
          <a:bodyPr anchor="ctr" anchorCtr="0"/>
          <a:lstStyle/>
          <a:p>
            <a:pPr algn="l"/>
            <a:r>
              <a:rPr lang="en-US" sz="4000" b="1" kern="18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Cascadia Code" panose="020B0609020000020004" pitchFamily="49" charset="0"/>
              </a:rPr>
              <a:t>//</a:t>
            </a:r>
            <a:r>
              <a:rPr lang="ru-RU" sz="4000" kern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Cascadia Code" panose="020B0609020000020004" pitchFamily="49" charset="0"/>
              </a:rPr>
              <a:t>Машинное обучени</a:t>
            </a:r>
            <a:r>
              <a:rPr lang="ru-RU" sz="4000" kern="18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Cascadia Code" panose="020B0609020000020004" pitchFamily="49" charset="0"/>
              </a:rPr>
              <a:t>е</a:t>
            </a:r>
            <a:br>
              <a:rPr lang="ru-RU" sz="4000" b="1" kern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Cascadia Code" panose="020B0609020000020004" pitchFamily="49" charset="0"/>
              </a:rPr>
            </a:br>
            <a:r>
              <a:rPr lang="ru-RU" sz="4000" b="1" kern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Cascadia Code" panose="020B0609020000020004" pitchFamily="49" charset="0"/>
              </a:rPr>
              <a:t>Метод главных компонент </a:t>
            </a:r>
            <a:r>
              <a:rPr lang="ru-RU" sz="4000" kern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Cascadia Code" panose="020B0609020000020004" pitchFamily="49" charset="0"/>
              </a:rPr>
              <a:t>(</a:t>
            </a:r>
            <a:r>
              <a:rPr lang="en-US" sz="4000" kern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Cascadia Code" panose="020B0609020000020004" pitchFamily="49" charset="0"/>
              </a:rPr>
              <a:t>PCA)</a:t>
            </a:r>
            <a:endParaRPr lang="ru-RU" sz="4000" dirty="0">
              <a:latin typeface="Century Gothic" panose="020B0502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BD13524-DC90-45F1-8B5C-4CAE2608E0C1}"/>
              </a:ext>
            </a:extLst>
          </p:cNvPr>
          <p:cNvSpPr/>
          <p:nvPr/>
        </p:nvSpPr>
        <p:spPr>
          <a:xfrm>
            <a:off x="5419845" y="3849584"/>
            <a:ext cx="5676900" cy="212407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Picture 2" descr="Picture background">
            <a:extLst>
              <a:ext uri="{FF2B5EF4-FFF2-40B4-BE49-F238E27FC236}">
                <a16:creationId xmlns:a16="http://schemas.microsoft.com/office/drawing/2014/main" id="{EBC014D4-4FAA-4154-BEDD-AB706B2B3F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4278" y="3994153"/>
            <a:ext cx="4969079" cy="1834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31C77BAE-CC78-E0B8-D43C-42E2CF11A2CD}"/>
              </a:ext>
            </a:extLst>
          </p:cNvPr>
          <p:cNvSpPr txBox="1">
            <a:spLocks/>
          </p:cNvSpPr>
          <p:nvPr/>
        </p:nvSpPr>
        <p:spPr>
          <a:xfrm>
            <a:off x="1181100" y="2319182"/>
            <a:ext cx="4367996" cy="100329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800" dirty="0">
                <a:latin typeface="Century Gothic" panose="020B0502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Подготовили:</a:t>
            </a:r>
          </a:p>
          <a:p>
            <a:pPr algn="l"/>
            <a:r>
              <a:rPr lang="ru-RU" sz="1800" dirty="0">
                <a:latin typeface="Century Gothic" panose="020B0502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Моор Мария 5030102/20101</a:t>
            </a:r>
          </a:p>
          <a:p>
            <a:pPr algn="l"/>
            <a:r>
              <a:rPr lang="ru-RU" sz="1800" dirty="0">
                <a:latin typeface="Century Gothic" panose="020B0502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Голева Кристина 5030102/20401</a:t>
            </a:r>
          </a:p>
        </p:txBody>
      </p:sp>
    </p:spTree>
    <p:extLst>
      <p:ext uri="{BB962C8B-B14F-4D97-AF65-F5344CB8AC3E}">
        <p14:creationId xmlns:p14="http://schemas.microsoft.com/office/powerpoint/2010/main" val="3027257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935EBF-96EE-40BD-949D-FB30FBF18BD5}"/>
              </a:ext>
            </a:extLst>
          </p:cNvPr>
          <p:cNvSpPr txBox="1"/>
          <p:nvPr/>
        </p:nvSpPr>
        <p:spPr>
          <a:xfrm>
            <a:off x="1181100" y="1028700"/>
            <a:ext cx="9324975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entury Gothic" panose="020B0502020202020204" pitchFamily="34" charset="0"/>
                <a:cs typeface="Cascadia Code" panose="020B0609020000020004" pitchFamily="49" charset="0"/>
              </a:rPr>
              <a:t>//</a:t>
            </a:r>
            <a:r>
              <a:rPr lang="ru-RU" sz="3200" b="1" dirty="0">
                <a:latin typeface="Century Gothic" panose="020B0502020202020204" pitchFamily="34" charset="0"/>
                <a:cs typeface="Cascadia Code" panose="020B0609020000020004" pitchFamily="49" charset="0"/>
              </a:rPr>
              <a:t>Введение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ru-RU" sz="3200" b="1" dirty="0">
              <a:solidFill>
                <a:prstClr val="black"/>
              </a:solidFill>
              <a:latin typeface="Century Gothic" panose="020B0502020202020204" pitchFamily="34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Метод главных компонент 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(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PCA) — 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это линейный метод снижения размерности данных, который преобразует исходные признаки в новый набор ортогональных признаков, называемых главными компонентами. Главные компоненты упорядочены по степени уменьшения дисперсии, которую они объясняют. Таким образом,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PCA 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позволяет уменьшить размерность данных при минимальной потере информации.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Он решает задачи: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устранение коррелированных признаков;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упрощение многомерных данных;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уменьшение шума;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подготовка данных к визуализации и моделированию.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endParaRPr lang="ru-RU" sz="3200" b="1" dirty="0">
              <a:latin typeface="Century Gothic" panose="020B0502020202020204" pitchFamily="34" charset="0"/>
              <a:cs typeface="Cascadia Code" panose="020B0609020000020004" pitchFamily="49" charset="0"/>
            </a:endParaRPr>
          </a:p>
          <a:p>
            <a:endParaRPr lang="ru-RU" b="1" dirty="0">
              <a:latin typeface="Century Gothic" panose="020B0502020202020204" pitchFamily="34" charset="0"/>
              <a:cs typeface="Cascadia Code" panose="020B0609020000020004" pitchFamily="49" charset="0"/>
            </a:endParaRPr>
          </a:p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3D2E6C2-2F65-4760-A5FC-80701ED5AE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7439957" y="3009901"/>
            <a:ext cx="3570943" cy="2819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390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935EBF-96EE-40BD-949D-FB30FBF18BD5}"/>
              </a:ext>
            </a:extLst>
          </p:cNvPr>
          <p:cNvSpPr txBox="1"/>
          <p:nvPr/>
        </p:nvSpPr>
        <p:spPr>
          <a:xfrm>
            <a:off x="1181100" y="1028700"/>
            <a:ext cx="9324975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entury Gothic" panose="020B0502020202020204" pitchFamily="34" charset="0"/>
              </a:rPr>
              <a:t>//</a:t>
            </a:r>
            <a:r>
              <a:rPr lang="ru-RU" sz="3200" b="1" dirty="0">
                <a:latin typeface="Century Gothic" panose="020B0502020202020204" pitchFamily="34" charset="0"/>
              </a:rPr>
              <a:t>Идея</a:t>
            </a:r>
          </a:p>
          <a:p>
            <a:endParaRPr lang="ru-RU" sz="3200" b="1" dirty="0">
              <a:latin typeface="Century Gothic" panose="020B0502020202020204" pitchFamily="34" charset="0"/>
            </a:endParaRPr>
          </a:p>
          <a:p>
            <a:r>
              <a:rPr lang="ru-RU" sz="1400" b="1" dirty="0">
                <a:latin typeface="Century Gothic" panose="020B0502020202020204" pitchFamily="34" charset="0"/>
              </a:rPr>
              <a:t>Главная идея </a:t>
            </a:r>
            <a:r>
              <a:rPr lang="en-US" sz="1400" b="1" dirty="0">
                <a:latin typeface="Century Gothic" panose="020B0502020202020204" pitchFamily="34" charset="0"/>
              </a:rPr>
              <a:t>PCA </a:t>
            </a:r>
            <a:r>
              <a:rPr lang="ru-RU" sz="1400" b="1" dirty="0">
                <a:latin typeface="Century Gothic" panose="020B0502020202020204" pitchFamily="34" charset="0"/>
              </a:rPr>
              <a:t>заключается в выборе таких направлений в пространстве признаков, вдоль которых расположение объектов имеет наибольший разброс</a:t>
            </a:r>
            <a:r>
              <a:rPr lang="ru-RU" sz="1400" dirty="0">
                <a:latin typeface="Century Gothic" panose="020B0502020202020204" pitchFamily="34" charset="0"/>
              </a:rPr>
              <a:t>. Для этого </a:t>
            </a:r>
            <a:r>
              <a:rPr lang="en-US" sz="1400" dirty="0">
                <a:latin typeface="Century Gothic" panose="020B0502020202020204" pitchFamily="34" charset="0"/>
              </a:rPr>
              <a:t>PCA </a:t>
            </a:r>
            <a:r>
              <a:rPr lang="ru-RU" sz="1400" dirty="0">
                <a:latin typeface="Century Gothic" panose="020B0502020202020204" pitchFamily="34" charset="0"/>
              </a:rPr>
              <a:t>сначала центрирует данные, затем вычисляет их ковариационную матрицу, после чего находит собственные векторы </a:t>
            </a:r>
          </a:p>
          <a:p>
            <a:r>
              <a:rPr lang="ru-RU" sz="1400" dirty="0">
                <a:latin typeface="Century Gothic" panose="020B0502020202020204" pitchFamily="34" charset="0"/>
              </a:rPr>
              <a:t>и собственные значения этой матрицы.</a:t>
            </a:r>
          </a:p>
          <a:p>
            <a:endParaRPr lang="ru-RU" sz="1400" dirty="0">
              <a:latin typeface="Century Gothic" panose="020B0502020202020204" pitchFamily="34" charset="0"/>
            </a:endParaRPr>
          </a:p>
          <a:p>
            <a:r>
              <a:rPr lang="ru-RU" sz="1400" b="1" dirty="0">
                <a:latin typeface="Century Gothic" panose="020B0502020202020204" pitchFamily="34" charset="0"/>
              </a:rPr>
              <a:t>Смысл этапов: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Century Gothic" panose="020B0502020202020204" pitchFamily="34" charset="0"/>
              </a:rPr>
              <a:t>собственные значения показывают, сколько вариации данных объясняет соответствующая компонента;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Century Gothic" panose="020B0502020202020204" pitchFamily="34" charset="0"/>
              </a:rPr>
              <a:t>собственные векторы определяют направление этих компонент;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Century Gothic" panose="020B0502020202020204" pitchFamily="34" charset="0"/>
              </a:rPr>
              <a:t>сортировка компонент по убыванию собственных значений позволяет построить новый набор признаков, максимально информативный при минимальном размере.</a:t>
            </a:r>
            <a:endParaRPr lang="en-US" sz="1400" dirty="0"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entury Gothic" panose="020B0502020202020204" pitchFamily="34" charset="0"/>
            </a:endParaRPr>
          </a:p>
          <a:p>
            <a:endParaRPr lang="ru-RU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0520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40F851D-5BBE-B293-6580-CDD936AFDB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0825" y="3429000"/>
            <a:ext cx="4120075" cy="295199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9935EBF-96EE-40BD-949D-FB30FBF18BD5}"/>
                  </a:ext>
                </a:extLst>
              </p:cNvPr>
              <p:cNvSpPr txBox="1"/>
              <p:nvPr/>
            </p:nvSpPr>
            <p:spPr>
              <a:xfrm>
                <a:off x="1181100" y="1028700"/>
                <a:ext cx="9324975" cy="33558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>
                    <a:latin typeface="Century Gothic" panose="020B0502020202020204" pitchFamily="34" charset="0"/>
                  </a:rPr>
                  <a:t>//</a:t>
                </a:r>
                <a:r>
                  <a:rPr lang="ru-RU" sz="3200" b="1" dirty="0">
                    <a:latin typeface="Century Gothic" panose="020B0502020202020204" pitchFamily="34" charset="0"/>
                  </a:rPr>
                  <a:t>Алгоритм</a:t>
                </a:r>
              </a:p>
              <a:p>
                <a:endParaRPr lang="en-US" sz="3200" b="1" dirty="0">
                  <a:latin typeface="Century Gothic" panose="020B0502020202020204" pitchFamily="34" charset="0"/>
                </a:endParaRPr>
              </a:p>
              <a:p>
                <a:r>
                  <a:rPr lang="ru-RU" sz="1400" b="1" dirty="0">
                    <a:latin typeface="Century Gothic" panose="020B0502020202020204" pitchFamily="34" charset="0"/>
                  </a:rPr>
                  <a:t>1. Стандартизация признаков</a:t>
                </a:r>
              </a:p>
              <a:p>
                <a:r>
                  <a:rPr lang="ru-RU" sz="1400" dirty="0">
                    <a:latin typeface="Century Gothic" panose="020B0502020202020204" pitchFamily="34" charset="0"/>
                  </a:rPr>
                  <a:t>Для каждого признака вычисляем его среднее и стандартное отклонение, затем приводим </a:t>
                </a:r>
              </a:p>
              <a:p>
                <a:r>
                  <a:rPr lang="ru-RU" sz="1400" dirty="0">
                    <a:latin typeface="Century Gothic" panose="020B0502020202020204" pitchFamily="34" charset="0"/>
                  </a:rPr>
                  <a:t>к нулевому среднему и единичной дисперсии:</a:t>
                </a:r>
                <a:endParaRPr lang="en-US" sz="1400" dirty="0">
                  <a:latin typeface="Century Gothic" panose="020B0502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𝑠𝑡𝑑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  <m:r>
                        <a:rPr lang="ru-RU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ru-RU" sz="1400" dirty="0">
                  <a:latin typeface="Century Gothic" panose="020B0502020202020204" pitchFamily="34" charset="0"/>
                </a:endParaRPr>
              </a:p>
              <a:p>
                <a:r>
                  <a:rPr lang="ru-RU" sz="1400" dirty="0">
                    <a:latin typeface="Century Gothic" panose="020B0502020202020204" pitchFamily="34" charset="0"/>
                  </a:rPr>
                  <a:t>где</a:t>
                </a:r>
                <a:r>
                  <a:rPr lang="en-US" sz="1400" dirty="0">
                    <a:latin typeface="Century Gothic" panose="020B050202020202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>
                    <a:latin typeface="Century Gothic" panose="020B0502020202020204" pitchFamily="34" charset="0"/>
                  </a:rPr>
                  <a:t>- </a:t>
                </a:r>
                <a:r>
                  <a:rPr lang="ru-RU" sz="1400" dirty="0">
                    <a:latin typeface="Century Gothic" panose="020B0502020202020204" pitchFamily="34" charset="0"/>
                  </a:rPr>
                  <a:t>вектор средних значений признаков,</a:t>
                </a:r>
                <a:r>
                  <a:rPr lang="en-US" sz="1400" dirty="0">
                    <a:latin typeface="Century Gothic" panose="020B0502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1400" dirty="0">
                    <a:latin typeface="Century Gothic" panose="020B0502020202020204" pitchFamily="34" charset="0"/>
                  </a:rPr>
                  <a:t>- вектор стандартных отклонений признаков.</a:t>
                </a:r>
              </a:p>
              <a:p>
                <a:endParaRPr lang="en-US" sz="1400" dirty="0">
                  <a:latin typeface="Century Gothic" panose="020B0502020202020204" pitchFamily="34" charset="0"/>
                </a:endParaRPr>
              </a:p>
              <a:p>
                <a:r>
                  <a:rPr lang="ru-RU" sz="1400" dirty="0">
                    <a:latin typeface="Century Gothic" panose="020B0502020202020204" pitchFamily="34" charset="0"/>
                  </a:rPr>
                  <a:t>Стандартизация необходима, чтобы признаки с большим масштабом не доминировали </a:t>
                </a:r>
              </a:p>
              <a:p>
                <a:r>
                  <a:rPr lang="ru-RU" sz="1400" dirty="0">
                    <a:latin typeface="Century Gothic" panose="020B0502020202020204" pitchFamily="34" charset="0"/>
                  </a:rPr>
                  <a:t>в расчётах.</a:t>
                </a:r>
                <a:r>
                  <a:rPr lang="en-US" sz="1400" dirty="0">
                    <a:latin typeface="Century Gothic" panose="020B0502020202020204" pitchFamily="34" charset="0"/>
                  </a:rPr>
                  <a:t> </a:t>
                </a:r>
                <a:endParaRPr lang="ru-RU" sz="1400" dirty="0">
                  <a:latin typeface="Century Gothic" panose="020B0502020202020204" pitchFamily="34" charset="0"/>
                </a:endParaRPr>
              </a:p>
              <a:p>
                <a:endParaRPr lang="en-US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9935EBF-96EE-40BD-949D-FB30FBF18B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1100" y="1028700"/>
                <a:ext cx="9324975" cy="3355855"/>
              </a:xfrm>
              <a:prstGeom prst="rect">
                <a:avLst/>
              </a:prstGeom>
              <a:blipFill>
                <a:blip r:embed="rId4"/>
                <a:stretch>
                  <a:fillRect l="-1633" t="-264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9202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0C5E8-8C9C-35AD-CD6A-F4BACF773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F1E5B68-92E1-A18F-B0F5-D207AD7F5E17}"/>
                  </a:ext>
                </a:extLst>
              </p:cNvPr>
              <p:cNvSpPr txBox="1"/>
              <p:nvPr/>
            </p:nvSpPr>
            <p:spPr>
              <a:xfrm>
                <a:off x="1181100" y="1028700"/>
                <a:ext cx="9324975" cy="4286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>
                    <a:latin typeface="Century Gothic" panose="020B0502020202020204" pitchFamily="34" charset="0"/>
                  </a:rPr>
                  <a:t>//</a:t>
                </a:r>
                <a:r>
                  <a:rPr lang="ru-RU" sz="3200" b="1" dirty="0">
                    <a:latin typeface="Century Gothic" panose="020B0502020202020204" pitchFamily="34" charset="0"/>
                  </a:rPr>
                  <a:t>Алгоритм</a:t>
                </a:r>
              </a:p>
              <a:p>
                <a:endParaRPr lang="en-US" sz="3200" b="1" dirty="0">
                  <a:latin typeface="Century Gothic" panose="020B0502020202020204" pitchFamily="34" charset="0"/>
                </a:endParaRPr>
              </a:p>
              <a:p>
                <a:r>
                  <a:rPr lang="ru-RU" sz="1400" b="1" dirty="0">
                    <a:latin typeface="Century Gothic" panose="020B0502020202020204" pitchFamily="34" charset="0"/>
                  </a:rPr>
                  <a:t>2</a:t>
                </a:r>
                <a:r>
                  <a:rPr lang="en-US" sz="1400" b="1" dirty="0">
                    <a:latin typeface="Century Gothic" panose="020B0502020202020204" pitchFamily="34" charset="0"/>
                  </a:rPr>
                  <a:t>. </a:t>
                </a:r>
                <a:r>
                  <a:rPr lang="ru-RU" sz="1400" b="1" dirty="0">
                    <a:latin typeface="Century Gothic" panose="020B0502020202020204" pitchFamily="34" charset="0"/>
                  </a:rPr>
                  <a:t>Ковариационная матрица</a:t>
                </a:r>
                <a:endParaRPr lang="en-US" sz="1400" b="1" dirty="0">
                  <a:latin typeface="Century Gothic" panose="020B0502020202020204" pitchFamily="34" charset="0"/>
                </a:endParaRPr>
              </a:p>
              <a:p>
                <a:r>
                  <a:rPr lang="ru-RU" sz="1400" dirty="0">
                    <a:latin typeface="Century Gothic" panose="020B0502020202020204" pitchFamily="34" charset="0"/>
                  </a:rPr>
                  <a:t>Ковариационная матрица стандартизованных данных:</a:t>
                </a:r>
                <a:endParaRPr lang="en-US" sz="1400" dirty="0">
                  <a:latin typeface="Century Gothic" panose="020B0502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𝑠𝑡𝑑</m:t>
                              </m:r>
                            </m:sub>
                          </m:sSub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𝑠𝑡𝑑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1400" dirty="0">
                  <a:latin typeface="Century Gothic" panose="020B0502020202020204" pitchFamily="34" charset="0"/>
                  <a:ea typeface="Cambria Math" panose="02040503050406030204" pitchFamily="18" charset="0"/>
                </a:endParaRPr>
              </a:p>
              <a:p>
                <a:r>
                  <a:rPr lang="ru-RU" sz="1400" dirty="0">
                    <a:latin typeface="Century Gothic" panose="020B0502020202020204" pitchFamily="34" charset="0"/>
                    <a:ea typeface="Cambria Math" panose="02040503050406030204" pitchFamily="18" charset="0"/>
                  </a:rPr>
                  <a:t>Каждый её элемент: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𝑠𝑡𝑑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𝑠𝑡𝑑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</m:e>
                      </m:nary>
                    </m:oMath>
                  </m:oMathPara>
                </a14:m>
                <a:endParaRPr lang="en-US" sz="1400" dirty="0">
                  <a:latin typeface="Century Gothic" panose="020B0502020202020204" pitchFamily="34" charset="0"/>
                  <a:ea typeface="Cambria Math" panose="02040503050406030204" pitchFamily="18" charset="0"/>
                </a:endParaRPr>
              </a:p>
              <a:p>
                <a:r>
                  <a:rPr lang="ru-RU" sz="1400" dirty="0">
                    <a:latin typeface="Century Gothic" panose="020B0502020202020204" pitchFamily="34" charset="0"/>
                    <a:ea typeface="Cambria Math" panose="02040503050406030204" pitchFamily="18" charset="0"/>
                  </a:rPr>
                  <a:t>Свойства ковариационной матрицы: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sz="1400" dirty="0">
                    <a:latin typeface="Century Gothic" panose="020B0502020202020204" pitchFamily="34" charset="0"/>
                    <a:ea typeface="Cambria Math" panose="02040503050406030204" pitchFamily="18" charset="0"/>
                  </a:rPr>
                  <a:t>симметрична: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sz="1400" dirty="0">
                    <a:latin typeface="Century Gothic" panose="020B0502020202020204" pitchFamily="34" charset="0"/>
                    <a:ea typeface="Cambria Math" panose="02040503050406030204" pitchFamily="18" charset="0"/>
                  </a:rPr>
                  <a:t>;</a:t>
                </a:r>
                <a:endParaRPr lang="ru-RU" sz="1400" dirty="0">
                  <a:latin typeface="Century Gothic" panose="020B0502020202020204" pitchFamily="34" charset="0"/>
                  <a:ea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sz="1400" dirty="0">
                    <a:latin typeface="Century Gothic" panose="020B0502020202020204" pitchFamily="34" charset="0"/>
                    <a:ea typeface="Cambria Math" panose="02040503050406030204" pitchFamily="18" charset="0"/>
                  </a:rPr>
                  <a:t>положительно полуопределённая: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0;</m:t>
                    </m:r>
                  </m:oMath>
                </a14:m>
                <a:endParaRPr lang="ru-RU" sz="1400" dirty="0">
                  <a:latin typeface="Century Gothic" panose="020B0502020202020204" pitchFamily="34" charset="0"/>
                  <a:ea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sz="1400" dirty="0">
                    <a:latin typeface="Century Gothic" panose="020B0502020202020204" pitchFamily="34" charset="0"/>
                    <a:ea typeface="Cambria Math" panose="02040503050406030204" pitchFamily="18" charset="0"/>
                  </a:rPr>
                  <a:t>имеет ортонормальный набор собственных векторов.</a:t>
                </a:r>
              </a:p>
              <a:p>
                <a:r>
                  <a:rPr lang="ru-RU" sz="1400" dirty="0">
                    <a:latin typeface="Century Gothic" panose="020B0502020202020204" pitchFamily="34" charset="0"/>
                    <a:ea typeface="Cambria Math" panose="02040503050406030204" pitchFamily="18" charset="0"/>
                  </a:rPr>
                  <a:t>Так как данные стандартизованы, ковариационная матрица совпадает с корреляционной:</a:t>
                </a:r>
                <a:r>
                  <a:rPr lang="en-US" sz="1400" dirty="0">
                    <a:latin typeface="Century Gothic" panose="020B0502020202020204" pitchFamily="34" charset="0"/>
                    <a:ea typeface="Cambria Math" panose="02040503050406030204" pitchFamily="18" charset="0"/>
                  </a:rPr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</m:t>
                      </m:r>
                    </m:oMath>
                  </m:oMathPara>
                </a14:m>
                <a:endParaRPr lang="en-US" dirty="0">
                  <a:latin typeface="Century Gothic" panose="020B0502020202020204" pitchFamily="34" charset="0"/>
                  <a:ea typeface="Cambria Math" panose="02040503050406030204" pitchFamily="18" charset="0"/>
                </a:endParaRPr>
              </a:p>
              <a:p>
                <a:endParaRPr lang="ru-RU" dirty="0">
                  <a:latin typeface="Century Gothic" panose="020B0502020202020204" pitchFamily="34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F1E5B68-92E1-A18F-B0F5-D207AD7F5E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1100" y="1028700"/>
                <a:ext cx="9324975" cy="4286110"/>
              </a:xfrm>
              <a:prstGeom prst="rect">
                <a:avLst/>
              </a:prstGeom>
              <a:blipFill>
                <a:blip r:embed="rId2"/>
                <a:stretch>
                  <a:fillRect l="-1633" t="-20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1861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855B494-F6E0-48B5-2ED9-3FD06AD6D41F}"/>
                  </a:ext>
                </a:extLst>
              </p:cNvPr>
              <p:cNvSpPr txBox="1"/>
              <p:nvPr/>
            </p:nvSpPr>
            <p:spPr>
              <a:xfrm>
                <a:off x="1181100" y="1028700"/>
                <a:ext cx="9324975" cy="47861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>
                    <a:latin typeface="Century Gothic" panose="020B0502020202020204" pitchFamily="34" charset="0"/>
                  </a:rPr>
                  <a:t>//</a:t>
                </a:r>
                <a:r>
                  <a:rPr lang="ru-RU" sz="3200" b="1" dirty="0">
                    <a:latin typeface="Century Gothic" panose="020B0502020202020204" pitchFamily="34" charset="0"/>
                  </a:rPr>
                  <a:t>Алгоритм</a:t>
                </a:r>
              </a:p>
              <a:p>
                <a:endParaRPr lang="en-US" sz="3200" b="1" dirty="0">
                  <a:latin typeface="Century Gothic" panose="020B0502020202020204" pitchFamily="34" charset="0"/>
                </a:endParaRPr>
              </a:p>
              <a:p>
                <a:r>
                  <a:rPr lang="ru-RU" sz="1400" b="1" dirty="0">
                    <a:latin typeface="Century Gothic" panose="020B0502020202020204" pitchFamily="34" charset="0"/>
                  </a:rPr>
                  <a:t>3</a:t>
                </a:r>
                <a:r>
                  <a:rPr lang="en-US" sz="1400" b="1" dirty="0">
                    <a:latin typeface="Century Gothic" panose="020B0502020202020204" pitchFamily="34" charset="0"/>
                  </a:rPr>
                  <a:t>. </a:t>
                </a:r>
                <a:r>
                  <a:rPr lang="ru-RU" sz="1400" b="1" dirty="0">
                    <a:latin typeface="Century Gothic" panose="020B0502020202020204" pitchFamily="34" charset="0"/>
                  </a:rPr>
                  <a:t>Постановка оптимизационной задачи </a:t>
                </a:r>
                <a:r>
                  <a:rPr lang="en-US" sz="1400" b="1" dirty="0">
                    <a:latin typeface="Century Gothic" panose="020B0502020202020204" pitchFamily="34" charset="0"/>
                  </a:rPr>
                  <a:t>PCA</a:t>
                </a:r>
              </a:p>
              <a:p>
                <a:r>
                  <a:rPr lang="ru-RU" sz="1400" dirty="0">
                    <a:latin typeface="Century Gothic" panose="020B0502020202020204" pitchFamily="34" charset="0"/>
                  </a:rPr>
                  <a:t>Цель </a:t>
                </a:r>
                <a:r>
                  <a:rPr lang="en-US" sz="1400" dirty="0">
                    <a:latin typeface="Century Gothic" panose="020B0502020202020204" pitchFamily="34" charset="0"/>
                  </a:rPr>
                  <a:t>PCA — </a:t>
                </a:r>
                <a:r>
                  <a:rPr lang="ru-RU" sz="1400" dirty="0">
                    <a:latin typeface="Century Gothic" panose="020B0502020202020204" pitchFamily="34" charset="0"/>
                  </a:rPr>
                  <a:t>найти направление</a:t>
                </a:r>
                <a:r>
                  <a:rPr lang="en-US" sz="1400" dirty="0">
                    <a:latin typeface="Century Gothic" panose="020B0502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𝜐</m:t>
                    </m:r>
                  </m:oMath>
                </a14:m>
                <a:r>
                  <a:rPr lang="en-US" sz="1400" dirty="0">
                    <a:latin typeface="Century Gothic" panose="020B0502020202020204" pitchFamily="34" charset="0"/>
                  </a:rPr>
                  <a:t>, </a:t>
                </a:r>
                <a:r>
                  <a:rPr lang="ru-RU" sz="1400" dirty="0">
                    <a:latin typeface="Century Gothic" panose="020B0502020202020204" pitchFamily="34" charset="0"/>
                  </a:rPr>
                  <a:t>вдоль которого дисперсия проекций максимальна.</a:t>
                </a:r>
              </a:p>
              <a:p>
                <a:r>
                  <a:rPr lang="ru-RU" sz="1400" dirty="0">
                    <a:latin typeface="Century Gothic" panose="020B0502020202020204" pitchFamily="34" charset="0"/>
                  </a:rPr>
                  <a:t>Проекция наблюдений на направление </a:t>
                </a:r>
                <a14:m>
                  <m:oMath xmlns:m="http://schemas.openxmlformats.org/officeDocument/2006/math">
                    <m:r>
                      <a:rPr lang="ru-RU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𝜐</m:t>
                    </m:r>
                  </m:oMath>
                </a14:m>
                <a:r>
                  <a:rPr lang="en-US" sz="1400" dirty="0">
                    <a:latin typeface="Century Gothic" panose="020B050202020202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𝑠𝑡𝑑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𝜐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</m:t>
                      </m:r>
                    </m:oMath>
                  </m:oMathPara>
                </a14:m>
                <a:endParaRPr lang="en-US" sz="1400" dirty="0">
                  <a:latin typeface="Century Gothic" panose="020B0502020202020204" pitchFamily="34" charset="0"/>
                </a:endParaRPr>
              </a:p>
              <a:p>
                <a:r>
                  <a:rPr lang="ru-RU" sz="1400" dirty="0">
                    <a:latin typeface="Century Gothic" panose="020B0502020202020204" pitchFamily="34" charset="0"/>
                  </a:rPr>
                  <a:t>Дисперсия проекций: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𝑠𝑡𝑑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𝜐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𝜐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l-G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l-G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𝜐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</m:t>
                      </m:r>
                    </m:oMath>
                  </m:oMathPara>
                </a14:m>
                <a:endParaRPr lang="ru-RU" sz="1400" dirty="0">
                  <a:latin typeface="Century Gothic" panose="020B0502020202020204" pitchFamily="34" charset="0"/>
                </a:endParaRPr>
              </a:p>
              <a:p>
                <a:r>
                  <a:rPr lang="ru-RU" sz="1400" b="1" dirty="0">
                    <a:latin typeface="Century Gothic" panose="020B0502020202020204" pitchFamily="34" charset="0"/>
                  </a:rPr>
                  <a:t>Оптимизационная задача </a:t>
                </a:r>
                <a:r>
                  <a:rPr lang="en" sz="1400" b="1" dirty="0">
                    <a:latin typeface="Century Gothic" panose="020B0502020202020204" pitchFamily="34" charset="0"/>
                  </a:rPr>
                  <a:t>PCA:</a:t>
                </a:r>
                <a:endParaRPr lang="ru-RU" sz="1400" b="1" dirty="0">
                  <a:latin typeface="Century Gothic" panose="020B0502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" sz="14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" sz="14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𝜐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𝜐</m:t>
                              </m:r>
                            </m:e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l-G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  <m:r>
                            <a:rPr lang="el-G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𝜐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 </m:t>
                          </m:r>
                        </m:e>
                      </m:func>
                    </m:oMath>
                  </m:oMathPara>
                </a14:m>
                <a:endParaRPr lang="ru-RU" sz="1400" b="1" dirty="0">
                  <a:latin typeface="Century Gothic" panose="020B0502020202020204" pitchFamily="34" charset="0"/>
                </a:endParaRPr>
              </a:p>
              <a:p>
                <a:endParaRPr lang="en-US" sz="1400" b="1" dirty="0">
                  <a:latin typeface="Century Gothic" panose="020B0502020202020204" pitchFamily="34" charset="0"/>
                </a:endParaRPr>
              </a:p>
              <a:p>
                <a:r>
                  <a:rPr lang="ru-RU" sz="1400" b="1" dirty="0">
                    <a:latin typeface="Century Gothic" panose="020B0502020202020204" pitchFamily="34" charset="0"/>
                  </a:rPr>
                  <a:t>4</a:t>
                </a:r>
                <a:r>
                  <a:rPr lang="en-US" sz="1400" b="1" dirty="0">
                    <a:latin typeface="Century Gothic" panose="020B0502020202020204" pitchFamily="34" charset="0"/>
                  </a:rPr>
                  <a:t>. </a:t>
                </a:r>
                <a:r>
                  <a:rPr lang="ru-RU" sz="1400" b="1" dirty="0">
                    <a:latin typeface="Century Gothic" panose="020B0502020202020204" pitchFamily="34" charset="0"/>
                  </a:rPr>
                  <a:t>Решение через собственные значения</a:t>
                </a:r>
              </a:p>
              <a:p>
                <a:r>
                  <a:rPr lang="ru-RU" sz="1400" dirty="0">
                    <a:latin typeface="Century Gothic" panose="020B0502020202020204" pitchFamily="34" charset="0"/>
                  </a:rPr>
                  <a:t>По теореме Релея оптимальная задача имеет решение:</a:t>
                </a:r>
                <a:endParaRPr lang="en-US" sz="1400" dirty="0">
                  <a:latin typeface="Century Gothic" panose="020B0502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" sz="1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𝜐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𝑎𝑟𝑔</m:t>
                          </m:r>
                          <m:limLow>
                            <m:limLowPr>
                              <m:ctrlPr>
                                <a:rPr lang="en" sz="1400" b="1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" sz="14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𝜐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𝜐</m:t>
                              </m:r>
                            </m:e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l-G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  <m:r>
                            <a:rPr lang="el-G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𝜐</m:t>
                          </m:r>
                        </m:e>
                      </m:func>
                    </m:oMath>
                  </m:oMathPara>
                </a14:m>
                <a:endParaRPr lang="en-US" sz="1400" b="1" dirty="0">
                  <a:latin typeface="Century Gothic" panose="020B0502020202020204" pitchFamily="34" charset="0"/>
                  <a:ea typeface="Cambria Math" panose="02040503050406030204" pitchFamily="18" charset="0"/>
                </a:endParaRPr>
              </a:p>
              <a:p>
                <a:r>
                  <a:rPr lang="ru-RU" sz="1400" dirty="0">
                    <a:latin typeface="Century Gothic" panose="020B0502020202020204" pitchFamily="34" charset="0"/>
                  </a:rPr>
                  <a:t>и это решение достигается на собственном векторе с наибольшим собственным значением:</a:t>
                </a:r>
                <a:endParaRPr lang="en-US" sz="1400" dirty="0">
                  <a:latin typeface="Century Gothic" panose="020B0502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  <m:r>
                            <a:rPr lang="e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𝜐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𝜐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sz="1400" dirty="0">
                  <a:latin typeface="Century Gothic" panose="020B0502020202020204" pitchFamily="34" charset="0"/>
                  <a:ea typeface="Cambria Math" panose="02040503050406030204" pitchFamily="18" charset="0"/>
                </a:endParaRPr>
              </a:p>
              <a:p>
                <a:r>
                  <a:rPr lang="ru-RU" sz="1400" dirty="0">
                    <a:latin typeface="Century Gothic" panose="020B0502020202020204" pitchFamily="34" charset="0"/>
                  </a:rPr>
                  <a:t>Таким образом,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𝜐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1400" dirty="0">
                    <a:latin typeface="Century Gothic" panose="020B0502020202020204" pitchFamily="34" charset="0"/>
                  </a:rPr>
                  <a:t> - первая главная компонента,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1400" dirty="0">
                    <a:latin typeface="Century Gothic" panose="020B0502020202020204" pitchFamily="34" charset="0"/>
                  </a:rPr>
                  <a:t> - дисперсия данных вдоль неё. </a:t>
                </a:r>
              </a:p>
              <a:p>
                <a:r>
                  <a:rPr lang="ru-RU" sz="1400" dirty="0">
                    <a:latin typeface="Century Gothic" panose="020B0502020202020204" pitchFamily="34" charset="0"/>
                  </a:rPr>
                  <a:t>Остальные компоненты находятся аналогично и попарно ортогональны.</a:t>
                </a:r>
                <a:endParaRPr lang="en-US" sz="1400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855B494-F6E0-48B5-2ED9-3FD06AD6D4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1100" y="1028700"/>
                <a:ext cx="9324975" cy="4786182"/>
              </a:xfrm>
              <a:prstGeom prst="rect">
                <a:avLst/>
              </a:prstGeom>
              <a:blipFill>
                <a:blip r:embed="rId2"/>
                <a:stretch>
                  <a:fillRect l="-1633" t="-1857" b="-53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0240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ACA07-2240-C3AA-4429-4514F9256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E52CABD-8C88-46A9-19EB-7CDD8C4A0D9F}"/>
                  </a:ext>
                </a:extLst>
              </p:cNvPr>
              <p:cNvSpPr txBox="1"/>
              <p:nvPr/>
            </p:nvSpPr>
            <p:spPr>
              <a:xfrm>
                <a:off x="1181100" y="1028700"/>
                <a:ext cx="9324975" cy="47044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>
                    <a:latin typeface="Century Gothic" panose="020B0502020202020204" pitchFamily="34" charset="0"/>
                  </a:rPr>
                  <a:t>//</a:t>
                </a:r>
                <a:r>
                  <a:rPr lang="ru-RU" sz="3200" b="1" dirty="0">
                    <a:latin typeface="Century Gothic" panose="020B0502020202020204" pitchFamily="34" charset="0"/>
                  </a:rPr>
                  <a:t>Алгоритм</a:t>
                </a:r>
              </a:p>
              <a:p>
                <a:endParaRPr lang="en-US" sz="3200" b="1" dirty="0">
                  <a:latin typeface="Century Gothic" panose="020B0502020202020204" pitchFamily="34" charset="0"/>
                </a:endParaRPr>
              </a:p>
              <a:p>
                <a:r>
                  <a:rPr lang="ru-RU" sz="1400" b="1" dirty="0">
                    <a:latin typeface="Century Gothic" panose="020B0502020202020204" pitchFamily="34" charset="0"/>
                  </a:rPr>
                  <a:t>5</a:t>
                </a:r>
                <a:r>
                  <a:rPr lang="en-US" sz="1400" b="1" dirty="0">
                    <a:latin typeface="Century Gothic" panose="020B0502020202020204" pitchFamily="34" charset="0"/>
                  </a:rPr>
                  <a:t>. </a:t>
                </a:r>
                <a:r>
                  <a:rPr lang="ru-RU" sz="1400" b="1" dirty="0">
                    <a:latin typeface="Century Gothic" panose="020B0502020202020204" pitchFamily="34" charset="0"/>
                  </a:rPr>
                  <a:t>Собственные значения и сортировка компонент</a:t>
                </a:r>
                <a:endParaRPr lang="en-US" sz="1400" b="1" dirty="0">
                  <a:latin typeface="Century Gothic" panose="020B0502020202020204" pitchFamily="34" charset="0"/>
                </a:endParaRPr>
              </a:p>
              <a:p>
                <a:r>
                  <a:rPr lang="ru-RU" sz="1400" dirty="0">
                    <a:latin typeface="Century Gothic" panose="020B0502020202020204" pitchFamily="34" charset="0"/>
                    <a:ea typeface="Cambria Math" panose="02040503050406030204" pitchFamily="18" charset="0"/>
                  </a:rPr>
                  <a:t>Решение задачи: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  <m:r>
                            <a:rPr lang="e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𝜐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𝜐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ru-RU" sz="1400" dirty="0">
                  <a:latin typeface="Century Gothic" panose="020B0502020202020204" pitchFamily="34" charset="0"/>
                  <a:ea typeface="Cambria Math" panose="02040503050406030204" pitchFamily="18" charset="0"/>
                </a:endParaRPr>
              </a:p>
              <a:p>
                <a:r>
                  <a:rPr lang="ru-RU" sz="1400" dirty="0">
                    <a:latin typeface="Century Gothic" panose="020B0502020202020204" pitchFamily="34" charset="0"/>
                    <a:ea typeface="Cambria Math" panose="02040503050406030204" pitchFamily="18" charset="0"/>
                  </a:rPr>
                  <a:t>даёт полный набор собственных значений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…,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1400" dirty="0">
                    <a:latin typeface="Century Gothic" panose="020B0502020202020204" pitchFamily="34" charset="0"/>
                    <a:ea typeface="Cambria Math" panose="02040503050406030204" pitchFamily="18" charset="0"/>
                  </a:rPr>
                  <a:t>и соответствующих им направлений</a:t>
                </a:r>
                <a:r>
                  <a:rPr lang="en-US" sz="1400" dirty="0">
                    <a:latin typeface="Century Gothic" panose="020B0502020202020204" pitchFamily="34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𝜐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…,</m:t>
                    </m:r>
                  </m:oMath>
                </a14:m>
                <a:r>
                  <a:rPr lang="en-US" sz="1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𝜐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endParaRPr lang="ru-RU" sz="1400" dirty="0">
                  <a:latin typeface="Century Gothic" panose="020B0502020202020204" pitchFamily="34" charset="0"/>
                  <a:ea typeface="Cambria Math" panose="02040503050406030204" pitchFamily="18" charset="0"/>
                </a:endParaRPr>
              </a:p>
              <a:p>
                <a:r>
                  <a:rPr lang="ru-RU" sz="1400" dirty="0">
                    <a:latin typeface="Century Gothic" panose="020B0502020202020204" pitchFamily="34" charset="0"/>
                    <a:ea typeface="Cambria Math" panose="02040503050406030204" pitchFamily="18" charset="0"/>
                  </a:rPr>
                  <a:t>Собственные значения сортируют по убыванию: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…≥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ru-RU" sz="1400" dirty="0">
                  <a:latin typeface="Century Gothic" panose="020B0502020202020204" pitchFamily="34" charset="0"/>
                  <a:ea typeface="Cambria Math" panose="02040503050406030204" pitchFamily="18" charset="0"/>
                </a:endParaRPr>
              </a:p>
              <a:p>
                <a:r>
                  <a:rPr lang="ru-RU" sz="1400" dirty="0">
                    <a:latin typeface="Century Gothic" panose="020B0502020202020204" pitchFamily="34" charset="0"/>
                    <a:ea typeface="Cambria Math" panose="02040503050406030204" pitchFamily="18" charset="0"/>
                  </a:rPr>
                  <a:t>Первые компоненты несут наибольшую вариацию данных.</a:t>
                </a:r>
                <a:endParaRPr lang="en-US" sz="1400" dirty="0">
                  <a:latin typeface="Century Gothic" panose="020B0502020202020204" pitchFamily="34" charset="0"/>
                  <a:ea typeface="Cambria Math" panose="02040503050406030204" pitchFamily="18" charset="0"/>
                </a:endParaRPr>
              </a:p>
              <a:p>
                <a:endParaRPr lang="en-US" sz="1400" dirty="0">
                  <a:latin typeface="Century Gothic" panose="020B0502020202020204" pitchFamily="34" charset="0"/>
                  <a:ea typeface="Cambria Math" panose="02040503050406030204" pitchFamily="18" charset="0"/>
                </a:endParaRPr>
              </a:p>
              <a:p>
                <a:r>
                  <a:rPr lang="ru-RU" sz="1400" b="1" dirty="0">
                    <a:latin typeface="Century Gothic" panose="020B0502020202020204" pitchFamily="34" charset="0"/>
                    <a:ea typeface="Cambria Math" panose="02040503050406030204" pitchFamily="18" charset="0"/>
                  </a:rPr>
                  <a:t>6</a:t>
                </a:r>
                <a:r>
                  <a:rPr lang="en-US" sz="1400" b="1" dirty="0">
                    <a:latin typeface="Century Gothic" panose="020B0502020202020204" pitchFamily="34" charset="0"/>
                    <a:ea typeface="Cambria Math" panose="02040503050406030204" pitchFamily="18" charset="0"/>
                  </a:rPr>
                  <a:t>. </a:t>
                </a:r>
                <a:r>
                  <a:rPr lang="ru-RU" sz="1400" b="1" dirty="0">
                    <a:latin typeface="Century Gothic" panose="020B0502020202020204" pitchFamily="34" charset="0"/>
                    <a:ea typeface="Cambria Math" panose="02040503050406030204" pitchFamily="18" charset="0"/>
                  </a:rPr>
                  <a:t>Выбор числа компонент –– объяснённая дисперсия</a:t>
                </a:r>
                <a:endParaRPr lang="en-US" sz="1400" b="1" dirty="0">
                  <a:latin typeface="Century Gothic" panose="020B0502020202020204" pitchFamily="34" charset="0"/>
                  <a:ea typeface="Cambria Math" panose="02040503050406030204" pitchFamily="18" charset="0"/>
                </a:endParaRPr>
              </a:p>
              <a:p>
                <a:r>
                  <a:rPr lang="ru-RU" sz="1400" dirty="0">
                    <a:latin typeface="Century Gothic" panose="020B0502020202020204" pitchFamily="34" charset="0"/>
                    <a:ea typeface="Cambria Math" panose="02040503050406030204" pitchFamily="18" charset="0"/>
                  </a:rPr>
                  <a:t>Часть общей дисперсии, которую объясняет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" sz="1400" dirty="0">
                    <a:latin typeface="Century Gothic" panose="020B0502020202020204" pitchFamily="34" charset="0"/>
                    <a:ea typeface="Cambria Math" panose="02040503050406030204" pitchFamily="18" charset="0"/>
                  </a:rPr>
                  <a:t>-</a:t>
                </a:r>
                <a:r>
                  <a:rPr lang="ru-RU" sz="1400" dirty="0">
                    <a:latin typeface="Century Gothic" panose="020B0502020202020204" pitchFamily="34" charset="0"/>
                    <a:ea typeface="Cambria Math" panose="02040503050406030204" pitchFamily="18" charset="0"/>
                  </a:rPr>
                  <a:t>я компонента:</a:t>
                </a:r>
                <a:endParaRPr lang="en-US" sz="1400" dirty="0">
                  <a:latin typeface="Century Gothic" panose="020B0502020202020204" pitchFamily="34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𝐸𝑥𝑝𝑙𝑎𝑖𝑛𝑒𝑑𝑉𝑎𝑟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</m:t>
                      </m:r>
                    </m:oMath>
                  </m:oMathPara>
                </a14:m>
                <a:endParaRPr lang="en-US" sz="1400" dirty="0">
                  <a:latin typeface="Century Gothic" panose="020B0502020202020204" pitchFamily="34" charset="0"/>
                  <a:ea typeface="Cambria Math" panose="02040503050406030204" pitchFamily="18" charset="0"/>
                </a:endParaRPr>
              </a:p>
              <a:p>
                <a:r>
                  <a:rPr lang="ru-RU" sz="1400" dirty="0">
                    <a:latin typeface="Century Gothic" panose="020B0502020202020204" pitchFamily="34" charset="0"/>
                    <a:ea typeface="Cambria Math" panose="02040503050406030204" pitchFamily="18" charset="0"/>
                  </a:rPr>
                  <a:t>Кумулятивная объяснённая дисперсия первых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" sz="1400" dirty="0">
                    <a:latin typeface="Century Gothic" panose="020B0502020202020204" pitchFamily="34" charset="0"/>
                    <a:ea typeface="Cambria Math" panose="02040503050406030204" pitchFamily="18" charset="0"/>
                  </a:rPr>
                  <a:t> </a:t>
                </a:r>
                <a:r>
                  <a:rPr lang="ru-RU" sz="1400" dirty="0">
                    <a:latin typeface="Century Gothic" panose="020B0502020202020204" pitchFamily="34" charset="0"/>
                    <a:ea typeface="Cambria Math" panose="02040503050406030204" pitchFamily="18" charset="0"/>
                  </a:rPr>
                  <a:t>компонент:</a:t>
                </a:r>
                <a:endParaRPr lang="en-US" sz="1400" dirty="0">
                  <a:latin typeface="Century Gothic" panose="020B0502020202020204" pitchFamily="34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𝐸𝑉𝑅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1400" dirty="0">
                  <a:latin typeface="Century Gothic" panose="020B0502020202020204" pitchFamily="34" charset="0"/>
                  <a:ea typeface="Cambria Math" panose="02040503050406030204" pitchFamily="18" charset="0"/>
                </a:endParaRPr>
              </a:p>
              <a:p>
                <a:r>
                  <a:rPr lang="ru-RU" sz="1400" dirty="0">
                    <a:latin typeface="Century Gothic" panose="020B0502020202020204" pitchFamily="34" charset="0"/>
                    <a:ea typeface="Cambria Math" panose="02040503050406030204" pitchFamily="18" charset="0"/>
                  </a:rPr>
                  <a:t>Этот показатель используют для выбора числа главных компонент.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E52CABD-8C88-46A9-19EB-7CDD8C4A0D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1100" y="1028700"/>
                <a:ext cx="9324975" cy="4704493"/>
              </a:xfrm>
              <a:prstGeom prst="rect">
                <a:avLst/>
              </a:prstGeom>
              <a:blipFill>
                <a:blip r:embed="rId2"/>
                <a:stretch>
                  <a:fillRect l="-1633" t="-1887" b="-45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AEB0211-53F0-8405-23B7-D12AB37D04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30609" y="3382174"/>
            <a:ext cx="3907661" cy="2819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26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7EB24-BF1B-F3E2-5AFF-2E7B48B2D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4343632-CE52-6625-7C53-0CCDD5269554}"/>
                  </a:ext>
                </a:extLst>
              </p:cNvPr>
              <p:cNvSpPr txBox="1"/>
              <p:nvPr/>
            </p:nvSpPr>
            <p:spPr>
              <a:xfrm>
                <a:off x="1181100" y="1028700"/>
                <a:ext cx="9324975" cy="41064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>
                    <a:latin typeface="Century Gothic" panose="020B0502020202020204" pitchFamily="34" charset="0"/>
                  </a:rPr>
                  <a:t>//</a:t>
                </a:r>
                <a:r>
                  <a:rPr lang="ru-RU" sz="3200" b="1" dirty="0">
                    <a:latin typeface="Century Gothic" panose="020B0502020202020204" pitchFamily="34" charset="0"/>
                  </a:rPr>
                  <a:t>Алгоритм</a:t>
                </a:r>
              </a:p>
              <a:p>
                <a:endParaRPr lang="en-US" sz="3200" b="1" dirty="0">
                  <a:latin typeface="Century Gothic" panose="020B0502020202020204" pitchFamily="34" charset="0"/>
                </a:endParaRPr>
              </a:p>
              <a:p>
                <a:r>
                  <a:rPr lang="ru-RU" sz="1400" b="1" dirty="0">
                    <a:latin typeface="Century Gothic" panose="020B0502020202020204" pitchFamily="34" charset="0"/>
                  </a:rPr>
                  <a:t>7</a:t>
                </a:r>
                <a:r>
                  <a:rPr lang="en-US" sz="1400" b="1" dirty="0">
                    <a:latin typeface="Century Gothic" panose="020B0502020202020204" pitchFamily="34" charset="0"/>
                  </a:rPr>
                  <a:t>. </a:t>
                </a:r>
                <a:r>
                  <a:rPr lang="ru-RU" sz="1400" b="1" dirty="0">
                    <a:latin typeface="Century Gothic" panose="020B0502020202020204" pitchFamily="34" charset="0"/>
                  </a:rPr>
                  <a:t>Матрица главных компонент</a:t>
                </a:r>
                <a:endParaRPr lang="en-US" sz="1400" b="1" dirty="0">
                  <a:latin typeface="Century Gothic" panose="020B0502020202020204" pitchFamily="34" charset="0"/>
                </a:endParaRPr>
              </a:p>
              <a:p>
                <a:r>
                  <a:rPr lang="ru-RU" sz="1400" dirty="0">
                    <a:latin typeface="Century Gothic" panose="020B0502020202020204" pitchFamily="34" charset="0"/>
                  </a:rPr>
                  <a:t>Выбираем первые </a:t>
                </a:r>
                <a:r>
                  <a:rPr lang="en" sz="1400" dirty="0">
                    <a:latin typeface="Century Gothic" panose="020B0502020202020204" pitchFamily="34" charset="0"/>
                  </a:rPr>
                  <a:t>k </a:t>
                </a:r>
                <a:r>
                  <a:rPr lang="ru-RU" sz="1400" dirty="0">
                    <a:latin typeface="Century Gothic" panose="020B0502020202020204" pitchFamily="34" charset="0"/>
                  </a:rPr>
                  <a:t>собственных векторов:</a:t>
                </a:r>
                <a:endParaRPr lang="en-US" sz="1400" dirty="0">
                  <a:latin typeface="Century Gothic" panose="020B0502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𝜐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𝜐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  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𝜐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mr>
                          </m: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1400" b="0" dirty="0">
                  <a:latin typeface="Century Gothic" panose="020B0502020202020204" pitchFamily="34" charset="0"/>
                </a:endParaRPr>
              </a:p>
              <a:p>
                <a:r>
                  <a:rPr lang="ru-RU" sz="1400" dirty="0">
                    <a:latin typeface="Century Gothic" panose="020B0502020202020204" pitchFamily="34" charset="0"/>
                  </a:rPr>
                  <a:t>Матрица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ru-RU" sz="14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ru-RU" sz="1400" b="0" dirty="0">
                  <a:latin typeface="Century Gothic" panose="020B0502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sz="1400" dirty="0">
                    <a:latin typeface="Century Gothic" panose="020B0502020202020204" pitchFamily="34" charset="0"/>
                  </a:rPr>
                  <a:t>о</a:t>
                </a:r>
                <a:r>
                  <a:rPr lang="ru-RU" sz="1400" b="0" dirty="0">
                    <a:latin typeface="Century Gothic" panose="020B0502020202020204" pitchFamily="34" charset="0"/>
                  </a:rPr>
                  <a:t>ртонормированная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ru-RU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ru-RU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ru-RU" sz="1400" b="0" dirty="0">
                  <a:latin typeface="Century Gothic" panose="020B0502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sz="1400" dirty="0">
                    <a:latin typeface="Century Gothic" panose="020B0502020202020204" pitchFamily="34" charset="0"/>
                  </a:rPr>
                  <a:t>задаёт новое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sz="1400" dirty="0">
                    <a:latin typeface="Century Gothic" panose="020B0502020202020204" pitchFamily="34" charset="0"/>
                  </a:rPr>
                  <a:t>–мерное ортогональное пространство признаков.</a:t>
                </a:r>
                <a:endParaRPr lang="en-US" sz="1400" dirty="0">
                  <a:latin typeface="Century Gothic" panose="020B0502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dirty="0">
                  <a:latin typeface="Century Gothic" panose="020B0502020202020204" pitchFamily="34" charset="0"/>
                </a:endParaRPr>
              </a:p>
              <a:p>
                <a:r>
                  <a:rPr lang="ru-RU" sz="1400" b="1" dirty="0">
                    <a:latin typeface="Century Gothic" panose="020B0502020202020204" pitchFamily="34" charset="0"/>
                  </a:rPr>
                  <a:t>8</a:t>
                </a:r>
                <a:r>
                  <a:rPr lang="en-US" sz="1400" b="1" dirty="0">
                    <a:latin typeface="Century Gothic" panose="020B0502020202020204" pitchFamily="34" charset="0"/>
                  </a:rPr>
                  <a:t>. </a:t>
                </a:r>
                <a:r>
                  <a:rPr lang="ru-RU" sz="1400" b="1" dirty="0">
                    <a:latin typeface="Century Gothic" panose="020B0502020202020204" pitchFamily="34" charset="0"/>
                  </a:rPr>
                  <a:t>Преобразование данных </a:t>
                </a:r>
                <a:endParaRPr lang="en-US" sz="1400" b="1" dirty="0">
                  <a:latin typeface="Century Gothic" panose="020B0502020202020204" pitchFamily="34" charset="0"/>
                </a:endParaRPr>
              </a:p>
              <a:p>
                <a:r>
                  <a:rPr lang="ru-RU" sz="1400" dirty="0">
                    <a:latin typeface="Century Gothic" panose="020B0502020202020204" pitchFamily="34" charset="0"/>
                  </a:rPr>
                  <a:t>Переход в пространство главных компонент:</a:t>
                </a:r>
                <a:endParaRPr lang="en-US" sz="1400" dirty="0">
                  <a:latin typeface="Century Gothic" panose="020B0502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𝑠𝑡𝑑</m:t>
                          </m:r>
                        </m:sub>
                      </m:sSub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1400" b="0" dirty="0">
                  <a:latin typeface="Century Gothic" panose="020B0502020202020204" pitchFamily="34" charset="0"/>
                </a:endParaRPr>
              </a:p>
              <a:p>
                <a:r>
                  <a:rPr lang="ru-RU" sz="1400" dirty="0">
                    <a:latin typeface="Century Gothic" panose="020B0502020202020204" pitchFamily="34" charset="0"/>
                  </a:rPr>
                  <a:t>где</a:t>
                </a:r>
                <a:r>
                  <a:rPr lang="en-US" sz="1400" dirty="0">
                    <a:latin typeface="Century Gothic" panose="020B0502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sz="1400" dirty="0">
                    <a:latin typeface="Century Gothic" panose="020B0502020202020204" pitchFamily="34" charset="0"/>
                  </a:rPr>
                  <a:t> - </a:t>
                </a:r>
                <a:r>
                  <a:rPr lang="ru-RU" sz="1400" dirty="0">
                    <a:latin typeface="Century Gothic" panose="020B0502020202020204" pitchFamily="34" charset="0"/>
                  </a:rPr>
                  <a:t>новая матрица признаков;</a:t>
                </a:r>
                <a:endParaRPr lang="en-US" sz="1400" dirty="0">
                  <a:latin typeface="Century Gothic" panose="020B0502020202020204" pitchFamily="34" charset="0"/>
                </a:endParaRPr>
              </a:p>
              <a:p>
                <a:r>
                  <a:rPr lang="ru-RU" sz="1400" dirty="0">
                    <a:latin typeface="Century Gothic" panose="020B0502020202020204" pitchFamily="34" charset="0"/>
                  </a:rPr>
                  <a:t>размерность данных уменьшена с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1400" dirty="0">
                    <a:latin typeface="Century Gothic" panose="020B0502020202020204" pitchFamily="34" charset="0"/>
                  </a:rPr>
                  <a:t>до</a:t>
                </a:r>
                <a:r>
                  <a:rPr lang="en-US" sz="1400" dirty="0">
                    <a:latin typeface="Century Gothic" panose="020B0502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400" dirty="0">
                    <a:latin typeface="Century Gothic" panose="020B0502020202020204" pitchFamily="34" charset="0"/>
                  </a:rPr>
                  <a:t>;</a:t>
                </a:r>
                <a:r>
                  <a:rPr lang="ru-RU" sz="1400" dirty="0">
                    <a:latin typeface="Century Gothic" panose="020B0502020202020204" pitchFamily="34" charset="0"/>
                  </a:rPr>
                  <a:t> </a:t>
                </a:r>
              </a:p>
              <a:p>
                <a:r>
                  <a:rPr lang="ru-RU" sz="1400" dirty="0">
                    <a:latin typeface="Century Gothic" panose="020B0502020202020204" pitchFamily="34" charset="0"/>
                  </a:rPr>
                  <a:t>признаки становятся некоррелированными;</a:t>
                </a:r>
              </a:p>
              <a:p>
                <a:r>
                  <a:rPr lang="ru-RU" sz="1400" dirty="0">
                    <a:latin typeface="Century Gothic" panose="020B0502020202020204" pitchFamily="34" charset="0"/>
                  </a:rPr>
                  <a:t>первые столбцы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sz="1400" dirty="0">
                    <a:latin typeface="Century Gothic" panose="020B0502020202020204" pitchFamily="34" charset="0"/>
                  </a:rPr>
                  <a:t> - </a:t>
                </a:r>
                <a:r>
                  <a:rPr lang="ru-RU" sz="1400" dirty="0">
                    <a:latin typeface="Century Gothic" panose="020B0502020202020204" pitchFamily="34" charset="0"/>
                  </a:rPr>
                  <a:t>наиболее информативные направления данных.</a:t>
                </a:r>
                <a:endParaRPr lang="en-US" sz="1400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4343632-CE52-6625-7C53-0CCDD52695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1100" y="1028700"/>
                <a:ext cx="9324975" cy="4106445"/>
              </a:xfrm>
              <a:prstGeom prst="rect">
                <a:avLst/>
              </a:prstGeom>
              <a:blipFill>
                <a:blip r:embed="rId2"/>
                <a:stretch>
                  <a:fillRect l="-1633" t="-2160" b="-6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9716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9935EBF-96EE-40BD-949D-FB30FBF18BD5}"/>
                  </a:ext>
                </a:extLst>
              </p:cNvPr>
              <p:cNvSpPr txBox="1"/>
              <p:nvPr/>
            </p:nvSpPr>
            <p:spPr>
              <a:xfrm>
                <a:off x="1181100" y="1028700"/>
                <a:ext cx="9324975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>
                    <a:latin typeface="Century Gothic" panose="020B0502020202020204" pitchFamily="34" charset="0"/>
                  </a:rPr>
                  <a:t>//</a:t>
                </a:r>
                <a:r>
                  <a:rPr lang="ru-RU" sz="3200" b="1" dirty="0">
                    <a:latin typeface="Century Gothic" panose="020B0502020202020204" pitchFamily="34" charset="0"/>
                  </a:rPr>
                  <a:t>Пример</a:t>
                </a:r>
              </a:p>
              <a:p>
                <a:endParaRPr lang="ru-RU" sz="3200" b="1" dirty="0">
                  <a:latin typeface="Century Gothic" panose="020B0502020202020204" pitchFamily="34" charset="0"/>
                </a:endParaRPr>
              </a:p>
              <a:p>
                <a:r>
                  <a:rPr lang="ru-RU" sz="1400" dirty="0">
                    <a:latin typeface="Century Gothic" panose="020B0502020202020204" pitchFamily="34" charset="0"/>
                  </a:rPr>
                  <a:t>Напишем пример реализации метода </a:t>
                </a:r>
                <a:r>
                  <a:rPr lang="en-US" sz="1400" dirty="0">
                    <a:latin typeface="Century Gothic" panose="020B0502020202020204" pitchFamily="34" charset="0"/>
                  </a:rPr>
                  <a:t>PCA </a:t>
                </a:r>
                <a:r>
                  <a:rPr lang="ru-RU" sz="1400" dirty="0">
                    <a:latin typeface="Century Gothic" panose="020B0502020202020204" pitchFamily="34" charset="0"/>
                  </a:rPr>
                  <a:t>на </a:t>
                </a:r>
                <a:r>
                  <a:rPr lang="en-US" sz="1400" b="1" dirty="0">
                    <a:latin typeface="Century Gothic" panose="020B0502020202020204" pitchFamily="34" charset="0"/>
                  </a:rPr>
                  <a:t>python</a:t>
                </a:r>
                <a:r>
                  <a:rPr lang="en-US" sz="1400" dirty="0">
                    <a:latin typeface="Century Gothic" panose="020B0502020202020204" pitchFamily="34" charset="0"/>
                  </a:rPr>
                  <a:t> </a:t>
                </a:r>
                <a:r>
                  <a:rPr lang="ru-RU" sz="1400" dirty="0">
                    <a:latin typeface="Century Gothic" panose="020B0502020202020204" pitchFamily="34" charset="0"/>
                  </a:rPr>
                  <a:t>с использованием библиотек :</a:t>
                </a:r>
                <a:br>
                  <a:rPr lang="ru-RU" sz="1400" dirty="0">
                    <a:latin typeface="Century Gothic" panose="020B0502020202020204" pitchFamily="34" charset="0"/>
                  </a:rPr>
                </a:br>
                <a:endParaRPr lang="ru-RU" sz="1400" dirty="0">
                  <a:latin typeface="Century Gothic" panose="020B0502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 err="1">
                    <a:latin typeface="Century Gothic" panose="020B0502020202020204" pitchFamily="34" charset="0"/>
                  </a:rPr>
                  <a:t>numpy</a:t>
                </a:r>
                <a:endParaRPr lang="en-US" sz="1400" dirty="0">
                  <a:latin typeface="Century Gothic" panose="020B0502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latin typeface="Century Gothic" panose="020B0502020202020204" pitchFamily="34" charset="0"/>
                  </a:rPr>
                  <a:t>matplotlib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dirty="0">
                  <a:latin typeface="Century Gothic" panose="020B0502020202020204" pitchFamily="34" charset="0"/>
                </a:endParaRPr>
              </a:p>
              <a:p>
                <a:r>
                  <a:rPr lang="ru-RU" sz="1400" dirty="0">
                    <a:latin typeface="Century Gothic" panose="020B0502020202020204" pitchFamily="34" charset="0"/>
                  </a:rPr>
                  <a:t>Наши входные данные будут следующими : </a:t>
                </a:r>
              </a:p>
              <a:p>
                <a:r>
                  <a:rPr lang="ru-RU" sz="1400" dirty="0">
                    <a:latin typeface="Century Gothic" panose="020B0502020202020204" pitchFamily="34" charset="0"/>
                  </a:rPr>
                  <a:t>6 исходных образцов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ru-RU" sz="1400" dirty="0">
                    <a:latin typeface="Century Gothic" panose="020B0502020202020204" pitchFamily="34" charset="0"/>
                  </a:rPr>
                  <a:t>, у каждого по 5 признаков</a:t>
                </a:r>
              </a:p>
              <a:p>
                <a:endParaRPr lang="en-US" dirty="0">
                  <a:latin typeface="Century Gothic" panose="020B0502020202020204" pitchFamily="34" charset="0"/>
                </a:endParaRPr>
              </a:p>
              <a:p>
                <a:endParaRPr lang="ru-RU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9935EBF-96EE-40BD-949D-FB30FBF18B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1100" y="1028700"/>
                <a:ext cx="9324975" cy="3139321"/>
              </a:xfrm>
              <a:prstGeom prst="rect">
                <a:avLst/>
              </a:prstGeom>
              <a:blipFill>
                <a:blip r:embed="rId2"/>
                <a:stretch>
                  <a:fillRect l="-1633" t="-282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3CBB444-3797-4D2C-BE5C-3364364FF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100" y="3787078"/>
            <a:ext cx="2406478" cy="180975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8DF8C8C-1043-4540-BB93-10EF242226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5275" y="3787078"/>
            <a:ext cx="1990725" cy="180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196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935EBF-96EE-40BD-949D-FB30FBF18BD5}"/>
              </a:ext>
            </a:extLst>
          </p:cNvPr>
          <p:cNvSpPr txBox="1"/>
          <p:nvPr/>
        </p:nvSpPr>
        <p:spPr>
          <a:xfrm>
            <a:off x="1181100" y="1028700"/>
            <a:ext cx="932497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entury Gothic" panose="020B0502020202020204" pitchFamily="34" charset="0"/>
              </a:rPr>
              <a:t>//</a:t>
            </a:r>
            <a:r>
              <a:rPr lang="ru-RU" sz="3200" b="1" dirty="0">
                <a:latin typeface="Century Gothic" panose="020B0502020202020204" pitchFamily="34" charset="0"/>
              </a:rPr>
              <a:t>Шаг (1) Стандартизация</a:t>
            </a:r>
          </a:p>
          <a:p>
            <a:endParaRPr lang="ru-RU" sz="3200" b="1" dirty="0">
              <a:latin typeface="Century Gothic" panose="020B0502020202020204" pitchFamily="34" charset="0"/>
            </a:endParaRPr>
          </a:p>
          <a:p>
            <a:r>
              <a:rPr lang="ru-RU" sz="1400" b="1" i="0" dirty="0">
                <a:solidFill>
                  <a:srgbClr val="0F1115"/>
                </a:solidFill>
                <a:effectLst/>
                <a:latin typeface="Century Gothic" panose="020B0502020202020204" pitchFamily="34" charset="0"/>
              </a:rPr>
              <a:t>Цель</a:t>
            </a:r>
            <a:r>
              <a:rPr lang="en-US" sz="1400" b="1" i="0" dirty="0">
                <a:solidFill>
                  <a:srgbClr val="0F1115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1400" b="1" i="0" dirty="0">
                <a:solidFill>
                  <a:srgbClr val="0F1115"/>
                </a:solidFill>
                <a:effectLst/>
                <a:latin typeface="Century Gothic" panose="020B0502020202020204" pitchFamily="34" charset="0"/>
              </a:rPr>
              <a:t>:</a:t>
            </a:r>
            <a:r>
              <a:rPr lang="ru-RU" sz="1400" b="0" i="0" dirty="0">
                <a:solidFill>
                  <a:srgbClr val="0F1115"/>
                </a:solidFill>
                <a:effectLst/>
                <a:latin typeface="Century Gothic" panose="020B0502020202020204" pitchFamily="34" charset="0"/>
              </a:rPr>
              <a:t> Привести все признаки к одинаковому масштабу</a:t>
            </a:r>
          </a:p>
          <a:p>
            <a:endParaRPr lang="ru-RU" sz="1400" dirty="0">
              <a:solidFill>
                <a:srgbClr val="0F1115"/>
              </a:solidFill>
              <a:latin typeface="Century Gothic" panose="020B0502020202020204" pitchFamily="34" charset="0"/>
            </a:endParaRPr>
          </a:p>
          <a:p>
            <a:endParaRPr lang="en-US" sz="1400" dirty="0">
              <a:latin typeface="Century Gothic" panose="020B0502020202020204" pitchFamily="34" charset="0"/>
            </a:endParaRPr>
          </a:p>
          <a:p>
            <a:endParaRPr lang="ru-RU" dirty="0">
              <a:latin typeface="Century Gothic" panose="020B0502020202020204" pitchFamily="34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E6ECEE8-1F95-438F-9308-7EA61EA2A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2543472"/>
            <a:ext cx="5400000" cy="51573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7E241E4-BF9B-4697-976F-0DF48F8568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100" y="3429000"/>
            <a:ext cx="5400000" cy="17474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68B48A4-F11F-4B05-A7FC-45DFA523EEFF}"/>
                  </a:ext>
                </a:extLst>
              </p:cNvPr>
              <p:cNvSpPr txBox="1"/>
              <p:nvPr/>
            </p:nvSpPr>
            <p:spPr>
              <a:xfrm>
                <a:off x="7023100" y="1654062"/>
                <a:ext cx="4902200" cy="44751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ru-RU" sz="1100" dirty="0">
                    <a:latin typeface="Century Gothic" panose="020B0502020202020204" pitchFamily="34" charset="0"/>
                  </a:rPr>
                  <a:t>Формула для стандартизации: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100" i="0" dirty="0" smtClean="0">
                        <a:latin typeface="Cambria Math" panose="02040503050406030204" pitchFamily="18" charset="0"/>
                      </a:rPr>
                      <m:t>z</m:t>
                    </m:r>
                    <m:r>
                      <a:rPr lang="en-US" sz="1100" i="0" dirty="0" smtClean="0">
                        <a:latin typeface="Cambria Math" panose="02040503050406030204" pitchFamily="18" charset="0"/>
                      </a:rPr>
                      <m:t>ᵢ</m:t>
                    </m:r>
                    <m:r>
                      <a:rPr lang="en-US" sz="1100" i="0" dirty="0" smtClean="0"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100" i="0" dirty="0" smtClean="0">
                        <a:latin typeface="Cambria Math" panose="02040503050406030204" pitchFamily="18" charset="0"/>
                      </a:rPr>
                      <m:t> = (</m:t>
                    </m:r>
                    <m:r>
                      <m:rPr>
                        <m:sty m:val="p"/>
                      </m:rPr>
                      <a:rPr lang="en-US" sz="1100" i="0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1100" i="0" dirty="0" smtClean="0">
                        <a:latin typeface="Cambria Math" panose="02040503050406030204" pitchFamily="18" charset="0"/>
                      </a:rPr>
                      <m:t>ᵢ</m:t>
                    </m:r>
                    <m:r>
                      <a:rPr lang="en-US" sz="1100" i="0" dirty="0" smtClean="0"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100" i="0" dirty="0" smtClean="0">
                        <a:latin typeface="Cambria Math" panose="02040503050406030204" pitchFamily="18" charset="0"/>
                      </a:rPr>
                      <m:t> − </m:t>
                    </m:r>
                    <m:r>
                      <m:rPr>
                        <m:sty m:val="p"/>
                      </m:rPr>
                      <a:rPr lang="el-GR" sz="1100" i="0" dirty="0" smtClean="0">
                        <a:latin typeface="Cambria Math" panose="02040503050406030204" pitchFamily="18" charset="0"/>
                      </a:rPr>
                      <m:t>μ</m:t>
                    </m:r>
                    <m:r>
                      <a:rPr lang="el-GR" sz="1100" i="0" dirty="0" smtClean="0">
                        <a:latin typeface="Cambria Math" panose="02040503050406030204" pitchFamily="18" charset="0"/>
                      </a:rPr>
                      <m:t>ⱼ</m:t>
                    </m:r>
                    <m:r>
                      <a:rPr lang="el-GR" sz="1100" i="0" dirty="0" smtClean="0">
                        <a:latin typeface="Cambria Math" panose="02040503050406030204" pitchFamily="18" charset="0"/>
                      </a:rPr>
                      <m:t>) / </m:t>
                    </m:r>
                    <m:r>
                      <m:rPr>
                        <m:sty m:val="p"/>
                      </m:rPr>
                      <a:rPr lang="el-GR" sz="1100" i="0" dirty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l-GR" sz="1100" i="0" dirty="0" smtClean="0">
                        <a:latin typeface="Cambria Math" panose="02040503050406030204" pitchFamily="18" charset="0"/>
                      </a:rPr>
                      <m:t>ⱼ</m:t>
                    </m:r>
                  </m:oMath>
                </a14:m>
                <a:r>
                  <a:rPr lang="ru-RU" sz="1100" dirty="0">
                    <a:latin typeface="Century Gothic" panose="020B0502020202020204" pitchFamily="34" charset="0"/>
                  </a:rPr>
                  <a:t>, где:</a:t>
                </a:r>
              </a:p>
              <a:p>
                <a:endParaRPr lang="ru-RU" sz="1100" dirty="0">
                  <a:latin typeface="Century Gothic" panose="020B0502020202020204" pitchFamily="34" charset="0"/>
                </a:endParaRPr>
              </a:p>
              <a:p>
                <a:r>
                  <a:rPr lang="ru-RU" sz="1100" dirty="0">
                    <a:latin typeface="Century Gothic" panose="020B0502020202020204" pitchFamily="34" charset="0"/>
                  </a:rPr>
                  <a:t>μⱼ — среднее значение j-го признака (столбца)</a:t>
                </a:r>
                <a:endParaRPr lang="en-US" sz="1100" dirty="0">
                  <a:latin typeface="Century Gothic" panose="020B0502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100" i="1" dirty="0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pt-BR" sz="1100" i="1" dirty="0" smtClean="0">
                          <a:latin typeface="Cambria Math" panose="02040503050406030204" pitchFamily="18" charset="0"/>
                        </a:rPr>
                        <m:t>ⱼ</m:t>
                      </m:r>
                      <m:r>
                        <a:rPr lang="pt-BR" sz="1100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pt-BR" sz="11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1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110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pt-BR" sz="1100" i="1" dirty="0" smtClean="0">
                          <a:latin typeface="Cambria Math" panose="02040503050406030204" pitchFamily="18" charset="0"/>
                        </a:rPr>
                        <m:t> × </m:t>
                      </m:r>
                      <m:nary>
                        <m:naryPr>
                          <m:chr m:val="∑"/>
                          <m:ctrlPr>
                            <a:rPr lang="pt-BR" sz="11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pt-BR" sz="11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1100" i="1" dirty="0">
                              <a:latin typeface="Cambria Math" panose="02040503050406030204" pitchFamily="18" charset="0"/>
                            </a:rPr>
                            <m:t>ᵢ</m:t>
                          </m:r>
                          <m:r>
                            <a:rPr lang="pt-BR" sz="1100" i="1" dirty="0">
                              <a:latin typeface="Cambria Math" panose="02040503050406030204" pitchFamily="18" charset="0"/>
                            </a:rPr>
                            <m:t>ⱼ</m:t>
                          </m:r>
                        </m:e>
                      </m:nary>
                      <m:r>
                        <a:rPr lang="en-US" sz="1100" b="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ru-RU" sz="1100" b="0" i="1" dirty="0" smtClean="0">
                          <a:latin typeface="Cambria Math" panose="02040503050406030204" pitchFamily="18" charset="0"/>
                        </a:rPr>
                        <m:t>где </m:t>
                      </m:r>
                      <m:r>
                        <a:rPr lang="en-US" sz="1100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100" b="0" i="1" dirty="0" smtClean="0">
                          <a:latin typeface="Cambria Math" panose="02040503050406030204" pitchFamily="18" charset="0"/>
                        </a:rPr>
                        <m:t>−число ст</m:t>
                      </m:r>
                      <m:r>
                        <a:rPr lang="ru-RU" sz="1100" b="0" i="1" dirty="0" smtClean="0">
                          <a:latin typeface="Cambria Math" panose="02040503050406030204" pitchFamily="18" charset="0"/>
                        </a:rPr>
                        <m:t>рок</m:t>
                      </m:r>
                    </m:oMath>
                  </m:oMathPara>
                </a14:m>
                <a:endParaRPr lang="ru-RU" sz="1100" dirty="0">
                  <a:latin typeface="Century Gothic" panose="020B0502020202020204" pitchFamily="34" charset="0"/>
                </a:endParaRPr>
              </a:p>
              <a:p>
                <a:r>
                  <a:rPr lang="ru-RU" sz="1100" dirty="0">
                    <a:latin typeface="Century Gothic" panose="020B0502020202020204" pitchFamily="34" charset="0"/>
                  </a:rPr>
                  <a:t>σⱼ — стандартное отклонение j-го признака</a:t>
                </a:r>
                <a:endParaRPr lang="en-US" sz="1100" dirty="0">
                  <a:latin typeface="Century Gothic" panose="020B0502020202020204" pitchFamily="34" charset="0"/>
                </a:endParaRPr>
              </a:p>
              <a:p>
                <a:endParaRPr lang="ru-RU" sz="1100" dirty="0">
                  <a:latin typeface="Century Gothic" panose="020B0502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1100" i="1" dirty="0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l-GR" sz="1100" i="1" dirty="0" smtClean="0">
                          <a:latin typeface="Cambria Math" panose="02040503050406030204" pitchFamily="18" charset="0"/>
                        </a:rPr>
                        <m:t>ⱼ</m:t>
                      </m:r>
                      <m:r>
                        <a:rPr lang="el-GR" sz="1100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ad>
                        <m:radPr>
                          <m:degHide m:val="on"/>
                          <m:ctrlP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l-GR" sz="11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l-GR" sz="11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1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 × </m:t>
                          </m:r>
                          <m:nary>
                            <m:naryPr>
                              <m:chr m:val="∑"/>
                              <m:ctrlPr>
                                <a:rPr lang="en-US" sz="1100" i="1" dirty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sz="1100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1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100" i="1" dirty="0">
                                  <a:latin typeface="Cambria Math" panose="02040503050406030204" pitchFamily="18" charset="0"/>
                                </a:rPr>
                                <m:t>ᵢ</m:t>
                              </m:r>
                              <m:r>
                                <a:rPr lang="en-US" sz="1100" i="1" dirty="0">
                                  <a:latin typeface="Cambria Math" panose="02040503050406030204" pitchFamily="18" charset="0"/>
                                </a:rPr>
                                <m:t>ⱼ</m:t>
                              </m:r>
                              <m:r>
                                <a:rPr lang="en-US" sz="1100" i="1" dirty="0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r>
                                <a:rPr lang="el-GR" sz="1100" i="1" dirty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l-GR" sz="1100" i="1" dirty="0">
                                  <a:latin typeface="Cambria Math" panose="02040503050406030204" pitchFamily="18" charset="0"/>
                                </a:rPr>
                                <m:t>ⱼ</m:t>
                              </m:r>
                              <m:r>
                                <a:rPr lang="el-GR" sz="1100" i="1" dirty="0">
                                  <a:latin typeface="Cambria Math" panose="02040503050406030204" pitchFamily="18" charset="0"/>
                                </a:rPr>
                                <m:t>)²</m:t>
                              </m:r>
                            </m:e>
                          </m:nary>
                        </m:e>
                      </m:rad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1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sz="1100" i="1" dirty="0">
                          <a:latin typeface="Cambria Math" panose="02040503050406030204" pitchFamily="18" charset="0"/>
                        </a:rPr>
                        <m:t>где </m:t>
                      </m:r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−число строк</m:t>
                      </m:r>
                    </m:oMath>
                  </m:oMathPara>
                </a14:m>
                <a:endParaRPr lang="ru-RU" sz="1100" dirty="0">
                  <a:latin typeface="Century Gothic" panose="020B0502020202020204" pitchFamily="34" charset="0"/>
                </a:endParaRPr>
              </a:p>
              <a:p>
                <a:endParaRPr lang="en-US" sz="1100" dirty="0">
                  <a:latin typeface="Century Gothic" panose="020B0502020202020204" pitchFamily="34" charset="0"/>
                </a:endParaRPr>
              </a:p>
              <a:p>
                <a:r>
                  <a:rPr lang="ru-RU" sz="1100" dirty="0">
                    <a:latin typeface="Century Gothic" panose="020B0502020202020204" pitchFamily="34" charset="0"/>
                  </a:rPr>
                  <a:t>Рассчитаем для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100" i="0" dirty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sz="1100" b="0" i="0" dirty="0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lang="ru-RU" sz="1100" dirty="0">
                    <a:latin typeface="Century Gothic" panose="020B0502020202020204" pitchFamily="34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1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100" dirty="0"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b>
                        <m:r>
                          <a:rPr lang="ru-RU" sz="1100" b="0" i="0" dirty="0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en-US" sz="1100" dirty="0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el-GR" sz="11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11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1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1100" dirty="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en-US" sz="1100" b="0" i="0" dirty="0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</m:sSub>
                            <m:r>
                              <a:rPr lang="en-US" sz="1100" dirty="0">
                                <a:latin typeface="Cambria Math" panose="02040503050406030204" pitchFamily="18" charset="0"/>
                              </a:rPr>
                              <m:t>− </m:t>
                            </m:r>
                            <m:sSub>
                              <m:sSubPr>
                                <m:ctrlPr>
                                  <a:rPr lang="en-US" sz="11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sz="1100" dirty="0">
                                    <a:latin typeface="Cambria Math" panose="02040503050406030204" pitchFamily="18" charset="0"/>
                                  </a:rPr>
                                  <m:t>μ</m:t>
                                </m:r>
                              </m:e>
                              <m:sub>
                                <m:r>
                                  <a:rPr lang="en-US" sz="1100" b="0" i="0" dirty="0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sz="11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1100" dirty="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sz="11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ru-RU" sz="1100" dirty="0">
                  <a:latin typeface="Century Gothic" panose="020B0502020202020204" pitchFamily="34" charset="0"/>
                </a:endParaRPr>
              </a:p>
              <a:p>
                <a:endParaRPr lang="ru-RU" sz="1100" b="0" dirty="0">
                  <a:latin typeface="Century Gothic" panose="020B0502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100" dirty="0">
                              <a:latin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US" sz="1100" dirty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11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11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1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pt-BR" sz="1100" i="1" dirty="0">
                          <a:latin typeface="Cambria Math" panose="02040503050406030204" pitchFamily="18" charset="0"/>
                        </a:rPr>
                        <m:t> × </m:t>
                      </m:r>
                      <m:nary>
                        <m:naryPr>
                          <m:chr m:val="∑"/>
                          <m:ctrlPr>
                            <a:rPr lang="pt-BR" sz="11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1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  <m:e>
                          <m:sSub>
                            <m:sSubPr>
                              <m:ctrlP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1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nary>
                      <m:r>
                        <a:rPr lang="en-US" sz="11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1100" i="1" dirty="0" smtClean="0">
                          <a:latin typeface="Cambria Math" panose="02040503050406030204" pitchFamily="18" charset="0"/>
                        </a:rPr>
                        <m:t>(1+3+2+5+2+4)/6 = 17/6 ≈ 2.833</m:t>
                      </m:r>
                    </m:oMath>
                  </m:oMathPara>
                </a14:m>
                <a:endParaRPr lang="en-US" sz="1100" b="0" dirty="0">
                  <a:latin typeface="Century Gothic" panose="020B0502020202020204" pitchFamily="34" charset="0"/>
                </a:endParaRPr>
              </a:p>
              <a:p>
                <a:endParaRPr lang="en-US" sz="1100" b="0" dirty="0">
                  <a:latin typeface="Century Gothic" panose="020B0502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1100" i="1" dirty="0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l-GR" sz="1100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ad>
                        <m:radPr>
                          <m:degHide m:val="on"/>
                          <m:ctrlP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l-GR" sz="11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l-GR" sz="11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 × </m:t>
                          </m:r>
                          <m:nary>
                            <m:naryPr>
                              <m:chr m:val="∑"/>
                              <m:ctrlPr>
                                <a:rPr lang="en-US" sz="1100" i="1" dirty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  <m:e>
                              <m:r>
                                <a:rPr lang="en-US" sz="1100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1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100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1100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100" i="1" dirty="0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sSub>
                                <m:sSubPr>
                                  <m:ctrlPr>
                                    <a:rPr lang="en-US" sz="11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sz="1100" i="1" dirty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100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l-GR" sz="1100" i="1" dirty="0">
                                  <a:latin typeface="Cambria Math" panose="02040503050406030204" pitchFamily="18" charset="0"/>
                                </a:rPr>
                                <m:t>)²</m:t>
                              </m:r>
                            </m:e>
                          </m:nary>
                        </m:e>
                      </m:rad>
                      <m:r>
                        <a:rPr lang="ru-RU" sz="1100" b="0" i="1" dirty="0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ru-RU" sz="1100" b="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100" i="1" dirty="0">
                                  <a:latin typeface="Cambria Math" panose="02040503050406030204" pitchFamily="18" charset="0"/>
                                </a:rPr>
                                <m:t>10.83333332</m:t>
                              </m:r>
                            </m:num>
                            <m:den>
                              <m:r>
                                <a:rPr lang="ru-RU" sz="1100" b="0" i="1" dirty="0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rad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≈1.343709</m:t>
                      </m:r>
                    </m:oMath>
                  </m:oMathPara>
                </a14:m>
                <a:endParaRPr lang="ru-RU" sz="1100" dirty="0">
                  <a:latin typeface="Century Gothic" panose="020B0502020202020204" pitchFamily="34" charset="0"/>
                </a:endParaRPr>
              </a:p>
              <a:p>
                <a:endParaRPr lang="ru-RU" sz="1100" dirty="0">
                  <a:latin typeface="Century Gothic" panose="020B0502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100" i="0" dirty="0" smtClean="0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sz="1100" b="0" i="0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1100" i="0" dirty="0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ru-RU" sz="11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1100" b="0" i="0" dirty="0" smtClean="0">
                                  <a:latin typeface="Cambria Math" panose="02040503050406030204" pitchFamily="18" charset="0"/>
                                </a:rPr>
                                <m:t>1−2.833</m:t>
                              </m:r>
                            </m:e>
                          </m:d>
                        </m:num>
                        <m:den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1.343709</m:t>
                          </m:r>
                        </m:den>
                      </m:f>
                      <m:r>
                        <a:rPr lang="en-US" sz="1100" dirty="0">
                          <a:latin typeface="Cambria Math" panose="02040503050406030204" pitchFamily="18" charset="0"/>
                        </a:rPr>
                        <m:t>=−1.36438208</m:t>
                      </m:r>
                    </m:oMath>
                  </m:oMathPara>
                </a14:m>
                <a:endParaRPr lang="en-US" sz="1100" b="0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68B48A4-F11F-4B05-A7FC-45DFA523EE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3100" y="1654062"/>
                <a:ext cx="4902200" cy="4475199"/>
              </a:xfrm>
              <a:prstGeom prst="rect">
                <a:avLst/>
              </a:prstGeom>
              <a:blipFill>
                <a:blip r:embed="rId4"/>
                <a:stretch>
                  <a:fillRect t="-27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5667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935EBF-96EE-40BD-949D-FB30FBF18BD5}"/>
              </a:ext>
            </a:extLst>
          </p:cNvPr>
          <p:cNvSpPr txBox="1"/>
          <p:nvPr/>
        </p:nvSpPr>
        <p:spPr>
          <a:xfrm>
            <a:off x="1181100" y="1028700"/>
            <a:ext cx="932497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entury Gothic" panose="020B0502020202020204" pitchFamily="34" charset="0"/>
              </a:rPr>
              <a:t>//</a:t>
            </a:r>
            <a:r>
              <a:rPr lang="ru-RU" sz="3200" b="1" dirty="0">
                <a:latin typeface="Century Gothic" panose="020B0502020202020204" pitchFamily="34" charset="0"/>
              </a:rPr>
              <a:t>Шаг (2) Матрица ковариации</a:t>
            </a:r>
          </a:p>
          <a:p>
            <a:endParaRPr lang="ru-RU" sz="3200" b="1" dirty="0">
              <a:latin typeface="Century Gothic" panose="020B0502020202020204" pitchFamily="34" charset="0"/>
            </a:endParaRPr>
          </a:p>
          <a:p>
            <a:r>
              <a:rPr lang="ru-RU" sz="1400" b="1" i="0" dirty="0">
                <a:solidFill>
                  <a:srgbClr val="0F1115"/>
                </a:solidFill>
                <a:effectLst/>
                <a:latin typeface="Century Gothic" panose="020B0502020202020204" pitchFamily="34" charset="0"/>
              </a:rPr>
              <a:t>Цель</a:t>
            </a:r>
            <a:r>
              <a:rPr lang="en-US" sz="1400" b="1" i="0" dirty="0">
                <a:solidFill>
                  <a:srgbClr val="0F1115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1400" b="1" i="0" dirty="0">
                <a:solidFill>
                  <a:srgbClr val="0F1115"/>
                </a:solidFill>
                <a:effectLst/>
                <a:latin typeface="Century Gothic" panose="020B0502020202020204" pitchFamily="34" charset="0"/>
              </a:rPr>
              <a:t>:</a:t>
            </a:r>
            <a:r>
              <a:rPr lang="ru-RU" sz="1400" b="0" i="0" dirty="0">
                <a:solidFill>
                  <a:srgbClr val="0F1115"/>
                </a:solidFill>
                <a:effectLst/>
                <a:latin typeface="Century Gothic" panose="020B0502020202020204" pitchFamily="34" charset="0"/>
              </a:rPr>
              <a:t> Найти связи между признаками</a:t>
            </a:r>
            <a:endParaRPr lang="ru-RU" sz="1400" dirty="0">
              <a:solidFill>
                <a:srgbClr val="0F1115"/>
              </a:solidFill>
              <a:latin typeface="Century Gothic" panose="020B0502020202020204" pitchFamily="34" charset="0"/>
            </a:endParaRPr>
          </a:p>
          <a:p>
            <a:endParaRPr lang="en-US" sz="1400" dirty="0">
              <a:latin typeface="Century Gothic" panose="020B0502020202020204" pitchFamily="34" charset="0"/>
            </a:endParaRPr>
          </a:p>
          <a:p>
            <a:endParaRPr lang="ru-RU" dirty="0">
              <a:latin typeface="Century Gothic" panose="020B0502020202020204" pitchFamily="34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E6ECEE8-1F95-438F-9308-7EA61EA2A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2543472"/>
            <a:ext cx="5400000" cy="51573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AD62329-2DE4-4AFD-91CE-B92B9AC70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100" y="2546793"/>
            <a:ext cx="5400000" cy="51240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D841023-95F1-41CF-ACB8-C091ED5002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1100" y="3429000"/>
            <a:ext cx="5400000" cy="156069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62FECB5-34BC-4AB5-B74B-2AC0A8A37786}"/>
                  </a:ext>
                </a:extLst>
              </p:cNvPr>
              <p:cNvSpPr txBox="1"/>
              <p:nvPr/>
            </p:nvSpPr>
            <p:spPr>
              <a:xfrm>
                <a:off x="7023100" y="1654062"/>
                <a:ext cx="4902200" cy="394620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ru-RU" sz="1100" dirty="0">
                    <a:latin typeface="Century Gothic" panose="020B0502020202020204" pitchFamily="34" charset="0"/>
                  </a:rPr>
                  <a:t>Матричная форма:</a:t>
                </a:r>
              </a:p>
              <a:p>
                <a:pPr marL="228600" indent="-228600">
                  <a:buAutoNum type="arabicPeriod"/>
                </a:pPr>
                <a:endParaRPr lang="ru-RU" sz="1100" dirty="0">
                  <a:latin typeface="Century Gothic" panose="020B0502020202020204" pitchFamily="34" charset="0"/>
                </a:endParaRPr>
              </a:p>
              <a:p>
                <a:r>
                  <a:rPr lang="ru-RU" sz="1100" dirty="0">
                    <a:latin typeface="Century Gothic" panose="020B0502020202020204" pitchFamily="34" charset="0"/>
                  </a:rPr>
                  <a:t>Если Z — матрица стандартизированных данных (</a:t>
                </a:r>
                <a:r>
                  <a:rPr lang="ru-RU" sz="1100" dirty="0" err="1">
                    <a:latin typeface="Century Gothic" panose="020B0502020202020204" pitchFamily="34" charset="0"/>
                  </a:rPr>
                  <a:t>n×m</a:t>
                </a:r>
                <a:r>
                  <a:rPr lang="ru-RU" sz="1100" dirty="0">
                    <a:latin typeface="Century Gothic" panose="020B0502020202020204" pitchFamily="34" charset="0"/>
                  </a:rPr>
                  <a:t>), то:</a:t>
                </a:r>
              </a:p>
              <a:p>
                <a:endParaRPr lang="ru-RU" sz="1100" dirty="0">
                  <a:latin typeface="Century Gothic" panose="020B0502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100" i="1" dirty="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ru-RU" sz="1100" i="1" dirty="0" smtClean="0">
                          <a:latin typeface="Cambria Math" panose="02040503050406030204" pitchFamily="18" charset="0"/>
                        </a:rPr>
                        <m:t> = (1/(</m:t>
                      </m:r>
                      <m:r>
                        <a:rPr lang="ru-RU" sz="110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ru-RU" sz="1100" i="1" dirty="0" smtClean="0">
                          <a:latin typeface="Cambria Math" panose="02040503050406030204" pitchFamily="18" charset="0"/>
                        </a:rPr>
                        <m:t>−1)) ∗ </m:t>
                      </m:r>
                      <m:r>
                        <a:rPr lang="ru-RU" sz="1100" i="1" dirty="0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ru-RU" sz="1100" i="1" dirty="0" smtClean="0">
                          <a:latin typeface="Cambria Math" panose="02040503050406030204" pitchFamily="18" charset="0"/>
                        </a:rPr>
                        <m:t>ᵀ × </m:t>
                      </m:r>
                      <m:r>
                        <a:rPr lang="ru-RU" sz="1100" i="1" dirty="0" smtClean="0"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ru-RU" sz="1100" dirty="0">
                  <a:latin typeface="Century Gothic" panose="020B0502020202020204" pitchFamily="34" charset="0"/>
                </a:endParaRPr>
              </a:p>
              <a:p>
                <a:endParaRPr lang="ru-RU" sz="1100" dirty="0">
                  <a:latin typeface="Century Gothic" panose="020B0502020202020204" pitchFamily="34" charset="0"/>
                </a:endParaRPr>
              </a:p>
              <a:p>
                <a:endParaRPr lang="ru-RU" sz="1100" dirty="0">
                  <a:latin typeface="Century Gothic" panose="020B0502020202020204" pitchFamily="34" charset="0"/>
                </a:endParaRPr>
              </a:p>
              <a:p>
                <a:r>
                  <a:rPr lang="ru-RU" sz="1100" dirty="0">
                    <a:latin typeface="Century Gothic" panose="020B0502020202020204" pitchFamily="34" charset="0"/>
                  </a:rPr>
                  <a:t>Элемент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с</m:t>
                        </m:r>
                      </m:e>
                      <m:sub>
                        <m:r>
                          <a:rPr lang="en-US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𝑗𝑘</m:t>
                        </m:r>
                      </m:sub>
                    </m:sSub>
                    <m:r>
                      <a:rPr lang="en-US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1100" dirty="0">
                    <a:latin typeface="Century Gothic" panose="020B0502020202020204" pitchFamily="34" charset="0"/>
                  </a:rPr>
                  <a:t>на пересечении j-й строки и k-го столбца:</a:t>
                </a:r>
                <a:endParaRPr lang="en-US" sz="1100" dirty="0">
                  <a:latin typeface="Century Gothic" panose="020B0502020202020204" pitchFamily="34" charset="0"/>
                </a:endParaRPr>
              </a:p>
              <a:p>
                <a:endParaRPr lang="en-US" sz="1100" dirty="0">
                  <a:latin typeface="Century Gothic" panose="020B0502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с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𝑗𝑘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𝑖𝑘</m:t>
                              </m:r>
                            </m:sub>
                          </m:sSub>
                          <m:r>
                            <a:rPr lang="ru-RU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 где 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=1,.., 6</m:t>
                          </m:r>
                        </m:e>
                      </m:nary>
                    </m:oMath>
                  </m:oMathPara>
                </a14:m>
                <a:endParaRPr lang="ru-RU" sz="1100" dirty="0">
                  <a:latin typeface="Century Gothic" panose="020B0502020202020204" pitchFamily="34" charset="0"/>
                  <a:ea typeface="Cambria Math" panose="02040503050406030204" pitchFamily="18" charset="0"/>
                </a:endParaRPr>
              </a:p>
              <a:p>
                <a:endParaRPr lang="en-US" sz="1100" dirty="0">
                  <a:latin typeface="Century Gothic" panose="020B0502020202020204" pitchFamily="34" charset="0"/>
                  <a:ea typeface="Cambria Math" panose="02040503050406030204" pitchFamily="18" charset="0"/>
                </a:endParaRPr>
              </a:p>
              <a:p>
                <a:r>
                  <a:rPr lang="ru-RU" sz="1100" dirty="0">
                    <a:latin typeface="Century Gothic" panose="020B0502020202020204" pitchFamily="34" charset="0"/>
                    <a:ea typeface="Cambria Math" panose="02040503050406030204" pitchFamily="18" charset="0"/>
                  </a:rPr>
                  <a:t>Рассчитаем для</a:t>
                </a:r>
                <a:r>
                  <a:rPr lang="en-US" sz="1100" dirty="0">
                    <a:latin typeface="Century Gothic" panose="020B0502020202020204" pitchFamily="34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a:rPr lang="ru-RU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ru-RU" sz="1100" dirty="0">
                    <a:latin typeface="Century Gothic" panose="020B0502020202020204" pitchFamily="34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с</m:t>
                        </m:r>
                      </m:e>
                      <m:sub>
                        <m:r>
                          <a:rPr lang="ru-RU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a:rPr lang="en-US" sz="1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ru-RU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  <m:r>
                          <a:rPr lang="en-US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ru-RU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sup>
                      <m:e>
                        <m:sSub>
                          <m:sSubPr>
                            <m:ctrlPr>
                              <a:rPr lang="en-US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en-US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𝑖𝑘</m:t>
                            </m:r>
                          </m:sub>
                        </m:sSub>
                      </m:e>
                    </m:nary>
                  </m:oMath>
                </a14:m>
                <a:endParaRPr lang="en-US" sz="1100" dirty="0">
                  <a:latin typeface="Century Gothic" panose="020B0502020202020204" pitchFamily="34" charset="0"/>
                  <a:ea typeface="Cambria Math" panose="02040503050406030204" pitchFamily="18" charset="0"/>
                </a:endParaRPr>
              </a:p>
              <a:p>
                <a:endParaRPr lang="en-US" sz="1100" dirty="0">
                  <a:latin typeface="Century Gothic" panose="020B0502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с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𝑖𝑘</m:t>
                              </m:r>
                            </m:sub>
                          </m:sSub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 </m:t>
                          </m:r>
                        </m:e>
                      </m:nary>
                    </m:oMath>
                  </m:oMathPara>
                </a14:m>
                <a:endParaRPr lang="en-US" sz="1100" dirty="0">
                  <a:latin typeface="Century Gothic" panose="020B0502020202020204" pitchFamily="34" charset="0"/>
                </a:endParaRPr>
              </a:p>
              <a:p>
                <a:endParaRPr lang="en-US" sz="1100" dirty="0">
                  <a:latin typeface="Century Gothic" panose="020B0502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ru-RU" sz="11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−0.964763 − 0.241202 − 0.109630 + 0.285078 − 0.767448 − 0.307030</m:t>
                          </m:r>
                        </m:num>
                        <m:den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US" sz="11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ru-RU" sz="11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 −0.421</m:t>
                      </m:r>
                    </m:oMath>
                  </m:oMathPara>
                </a14:m>
                <a:endParaRPr lang="ru-RU" sz="11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ru-RU" sz="1000" dirty="0">
                  <a:latin typeface="Century Gothic" panose="020B0502020202020204" pitchFamily="34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62FECB5-34BC-4AB5-B74B-2AC0A8A377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3100" y="1654062"/>
                <a:ext cx="4902200" cy="39462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5432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935EBF-96EE-40BD-949D-FB30FBF18BD5}"/>
              </a:ext>
            </a:extLst>
          </p:cNvPr>
          <p:cNvSpPr txBox="1"/>
          <p:nvPr/>
        </p:nvSpPr>
        <p:spPr>
          <a:xfrm>
            <a:off x="1181100" y="1028700"/>
            <a:ext cx="932497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entury Gothic" panose="020B0502020202020204" pitchFamily="34" charset="0"/>
              </a:rPr>
              <a:t>//</a:t>
            </a:r>
            <a:r>
              <a:rPr lang="ru-RU" sz="3200" b="1" dirty="0">
                <a:latin typeface="Century Gothic" panose="020B0502020202020204" pitchFamily="34" charset="0"/>
              </a:rPr>
              <a:t>Шаг (</a:t>
            </a:r>
            <a:r>
              <a:rPr lang="en-US" sz="3200" b="1" dirty="0">
                <a:latin typeface="Century Gothic" panose="020B0502020202020204" pitchFamily="34" charset="0"/>
              </a:rPr>
              <a:t>3</a:t>
            </a:r>
            <a:r>
              <a:rPr lang="ru-RU" sz="3200" b="1" dirty="0">
                <a:latin typeface="Century Gothic" panose="020B0502020202020204" pitchFamily="34" charset="0"/>
              </a:rPr>
              <a:t>) Собственные значения и векторы</a:t>
            </a:r>
            <a:endParaRPr lang="en-US" sz="3200" b="1" dirty="0">
              <a:latin typeface="Century Gothic" panose="020B0502020202020204" pitchFamily="34" charset="0"/>
            </a:endParaRPr>
          </a:p>
          <a:p>
            <a:endParaRPr lang="ru-RU" sz="3200" b="1" dirty="0">
              <a:latin typeface="Century Gothic" panose="020B0502020202020204" pitchFamily="34" charset="0"/>
            </a:endParaRPr>
          </a:p>
          <a:p>
            <a:r>
              <a:rPr lang="ru-RU" sz="1400" b="1" dirty="0">
                <a:latin typeface="Century Gothic" panose="020B0502020202020204" pitchFamily="34" charset="0"/>
              </a:rPr>
              <a:t>Результат</a:t>
            </a:r>
            <a:r>
              <a:rPr lang="en-US" sz="1400" b="1" dirty="0">
                <a:latin typeface="Century Gothic" panose="020B0502020202020204" pitchFamily="34" charset="0"/>
              </a:rPr>
              <a:t> </a:t>
            </a:r>
            <a:r>
              <a:rPr lang="ru-RU" sz="1400" b="1" dirty="0">
                <a:latin typeface="Century Gothic" panose="020B0502020202020204" pitchFamily="34" charset="0"/>
              </a:rPr>
              <a:t>:</a:t>
            </a:r>
            <a:r>
              <a:rPr lang="en-US" sz="1400" b="1" dirty="0">
                <a:latin typeface="Century Gothic" panose="020B0502020202020204" pitchFamily="34" charset="0"/>
              </a:rPr>
              <a:t> </a:t>
            </a:r>
            <a:r>
              <a:rPr lang="ru-RU" sz="1400" dirty="0" err="1">
                <a:latin typeface="Century Gothic" panose="020B0502020202020204" pitchFamily="34" charset="0"/>
              </a:rPr>
              <a:t>eigenvalues</a:t>
            </a:r>
            <a:r>
              <a:rPr lang="ru-RU" sz="1400" dirty="0">
                <a:latin typeface="Century Gothic" panose="020B0502020202020204" pitchFamily="34" charset="0"/>
              </a:rPr>
              <a:t> - важность направлений</a:t>
            </a:r>
            <a:r>
              <a:rPr lang="en-US" sz="1400" dirty="0">
                <a:latin typeface="Century Gothic" panose="020B0502020202020204" pitchFamily="34" charset="0"/>
              </a:rPr>
              <a:t>; </a:t>
            </a:r>
            <a:endParaRPr lang="ru-RU" sz="1400" dirty="0">
              <a:latin typeface="Century Gothic" panose="020B0502020202020204" pitchFamily="34" charset="0"/>
            </a:endParaRPr>
          </a:p>
          <a:p>
            <a:r>
              <a:rPr lang="ru-RU" sz="1400" dirty="0" err="1">
                <a:latin typeface="Century Gothic" panose="020B0502020202020204" pitchFamily="34" charset="0"/>
              </a:rPr>
              <a:t>eigenvectors</a:t>
            </a:r>
            <a:r>
              <a:rPr lang="ru-RU" sz="1400" dirty="0">
                <a:latin typeface="Century Gothic" panose="020B0502020202020204" pitchFamily="34" charset="0"/>
              </a:rPr>
              <a:t> - главные направления</a:t>
            </a:r>
            <a:endParaRPr lang="en-US" sz="1400" dirty="0">
              <a:latin typeface="Century Gothic" panose="020B0502020202020204" pitchFamily="34" charset="0"/>
            </a:endParaRPr>
          </a:p>
          <a:p>
            <a:endParaRPr lang="ru-RU" dirty="0">
              <a:latin typeface="Century Gothic" panose="020B0502020202020204" pitchFamily="34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E6ECEE8-1F95-438F-9308-7EA61EA2A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2543472"/>
            <a:ext cx="5400000" cy="51573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AD62329-2DE4-4AFD-91CE-B92B9AC70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100" y="2546793"/>
            <a:ext cx="5400000" cy="51240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F44C07E-C934-40DB-9015-CB79110D2B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1100" y="2568493"/>
            <a:ext cx="5400000" cy="465688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3227B28-E82D-4771-8632-961F6738A8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1101" y="3429000"/>
            <a:ext cx="5400000" cy="14784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09089E4-CFE5-4BAB-A803-6C7A7BA6B6F9}"/>
                  </a:ext>
                </a:extLst>
              </p:cNvPr>
              <p:cNvSpPr txBox="1"/>
              <p:nvPr/>
            </p:nvSpPr>
            <p:spPr>
              <a:xfrm>
                <a:off x="7023099" y="1654062"/>
                <a:ext cx="4986763" cy="511717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ru-RU" sz="1100" dirty="0">
                    <a:latin typeface="Century Gothic" panose="020B0502020202020204" pitchFamily="34" charset="0"/>
                  </a:rPr>
                  <a:t>Исходные данные: </a:t>
                </a:r>
              </a:p>
              <a:p>
                <a:endParaRPr lang="ru-RU" sz="1100" dirty="0">
                  <a:latin typeface="Century Gothic" panose="020B0502020202020204" pitchFamily="34" charset="0"/>
                </a:endParaRPr>
              </a:p>
              <a:p>
                <a:endParaRPr lang="ru-RU" sz="1100" dirty="0">
                  <a:latin typeface="Century Gothic" panose="020B0502020202020204" pitchFamily="34" charset="0"/>
                </a:endParaRPr>
              </a:p>
              <a:p>
                <a:endParaRPr lang="ru-RU" sz="1100" dirty="0">
                  <a:latin typeface="Century Gothic" panose="020B0502020202020204" pitchFamily="34" charset="0"/>
                </a:endParaRPr>
              </a:p>
              <a:p>
                <a:endParaRPr lang="ru-RU" sz="1100" dirty="0">
                  <a:latin typeface="Century Gothic" panose="020B0502020202020204" pitchFamily="34" charset="0"/>
                </a:endParaRPr>
              </a:p>
              <a:p>
                <a:endParaRPr lang="ru-RU" sz="1100" dirty="0">
                  <a:latin typeface="Century Gothic" panose="020B0502020202020204" pitchFamily="34" charset="0"/>
                </a:endParaRPr>
              </a:p>
              <a:p>
                <a:endParaRPr lang="ru-RU" sz="1100" dirty="0">
                  <a:latin typeface="Century Gothic" panose="020B0502020202020204" pitchFamily="34" charset="0"/>
                </a:endParaRPr>
              </a:p>
              <a:p>
                <a:endParaRPr lang="ru-RU" sz="1100" dirty="0">
                  <a:latin typeface="Century Gothic" panose="020B0502020202020204" pitchFamily="34" charset="0"/>
                </a:endParaRPr>
              </a:p>
              <a:p>
                <a:endParaRPr lang="ru-RU" sz="1100" dirty="0">
                  <a:latin typeface="Century Gothic" panose="020B0502020202020204" pitchFamily="34" charset="0"/>
                </a:endParaRPr>
              </a:p>
              <a:p>
                <a:endParaRPr lang="ru-RU" sz="1100" dirty="0">
                  <a:latin typeface="Century Gothic" panose="020B0502020202020204" pitchFamily="34" charset="0"/>
                </a:endParaRPr>
              </a:p>
              <a:p>
                <a:r>
                  <a:rPr lang="ru-RU" sz="1100" dirty="0">
                    <a:latin typeface="Century Gothic" panose="020B0502020202020204" pitchFamily="34" charset="0"/>
                  </a:rPr>
                  <a:t>Характеристическое уравнение: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det</m:t>
                      </m:r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1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11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ru-RU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en-US" sz="1100" b="0" dirty="0">
                  <a:latin typeface="Century Gothic" panose="020B0502020202020204" pitchFamily="34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1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</m:t>
                      </m:r>
                      <m:r>
                        <a:rPr lang="en-US" sz="11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11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1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1.2−</m:t>
                                </m:r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−0.42098785</m:t>
                                </m:r>
                              </m:e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−1.0835838</m:t>
                                </m:r>
                              </m:e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0.90219291</m:t>
                                </m:r>
                              </m:e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−0.37000528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−0.42098785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.2−</m:t>
                                </m:r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0.20397003</m:t>
                                </m:r>
                              </m:e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−0.77149364</m:t>
                                </m:r>
                              </m:e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1.18751836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−1.0835838</m:t>
                                </m:r>
                              </m:e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0.20397003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.2−</m:t>
                                </m:r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−0.59947269</m:t>
                                </m:r>
                              </m:e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0.22208218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0.90219291</m:t>
                                </m:r>
                              </m:e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−0.77149364</m:t>
                                </m:r>
                              </m:e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−0.59947269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.2−</m:t>
                                </m:r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−0.70017993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−0.37000528</m:t>
                                </m:r>
                              </m:e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1.18751836</m:t>
                                </m:r>
                              </m:e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0.22208218</m:t>
                                </m:r>
                              </m:e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−0.70017993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.2−</m:t>
                                </m:r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1100" dirty="0">
                  <a:latin typeface="Century Gothic" panose="020B0502020202020204" pitchFamily="34" charset="0"/>
                </a:endParaRPr>
              </a:p>
              <a:p>
                <a:endParaRPr lang="ru-RU" sz="1100" dirty="0">
                  <a:latin typeface="Century Gothic" panose="020B0502020202020204" pitchFamily="34" charset="0"/>
                </a:endParaRPr>
              </a:p>
              <a:p>
                <a:r>
                  <a:rPr lang="ru-RU" sz="1100" dirty="0">
                    <a:latin typeface="Century Gothic" panose="020B0502020202020204" pitchFamily="34" charset="0"/>
                  </a:rPr>
                  <a:t>Оценка интервала для наибольшего собственного значения:</a:t>
                </a:r>
              </a:p>
              <a:p>
                <a:r>
                  <a:rPr lang="ru-RU" sz="1100" dirty="0">
                    <a:latin typeface="Century Gothic" panose="020B0502020202020204" pitchFamily="34" charset="0"/>
                  </a:rPr>
                  <a:t>Суммы по строкам матрицы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1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</m:t>
                    </m:r>
                    <m:r>
                      <a:rPr lang="en-US" sz="1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100" dirty="0">
                    <a:latin typeface="Century Gothic" panose="020B0502020202020204" pitchFamily="34" charset="0"/>
                  </a:rPr>
                  <a:t>:</a:t>
                </a:r>
                <a:endParaRPr lang="ru-RU" sz="1100" dirty="0">
                  <a:latin typeface="Century Gothic" panose="020B0502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ru-RU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p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a:rPr lang="en-US" sz="1100" i="1">
                          <a:latin typeface="Cambria Math" panose="02040503050406030204" pitchFamily="18" charset="0"/>
                        </a:rPr>
                        <m:t>=1.2+0.42098785+1.0835838+0.90219291+0.37000528=3.97676984</m:t>
                      </m:r>
                    </m:oMath>
                  </m:oMathPara>
                </a14:m>
                <a:endParaRPr lang="en-US" sz="1100" dirty="0">
                  <a:latin typeface="Century Gothic" panose="020B0502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ru-RU" sz="11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1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p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a:rPr lang="en-US" sz="1100" i="1">
                          <a:latin typeface="Cambria Math" panose="02040503050406030204" pitchFamily="18" charset="0"/>
                        </a:rPr>
                        <m:t>=3.7839698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8   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ru-RU" sz="11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1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p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a:rPr lang="en-US" sz="1100" i="1">
                          <a:latin typeface="Cambria Math" panose="02040503050406030204" pitchFamily="18" charset="0"/>
                        </a:rPr>
                        <m:t>=3.3091087</m:t>
                      </m:r>
                    </m:oMath>
                  </m:oMathPara>
                </a14:m>
                <a:endParaRPr lang="en-US" sz="11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ru-RU" sz="11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1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p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=4.17333917 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ru-RU" sz="11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1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p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a:rPr lang="en-US" sz="11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3.67978575</m:t>
                      </m:r>
                    </m:oMath>
                  </m:oMathPara>
                </a14:m>
                <a:endParaRPr lang="en-US" sz="1100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09089E4-CFE5-4BAB-A803-6C7A7BA6B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3099" y="1654062"/>
                <a:ext cx="4986763" cy="5117170"/>
              </a:xfrm>
              <a:prstGeom prst="rect">
                <a:avLst/>
              </a:prstGeom>
              <a:blipFill>
                <a:blip r:embed="rId6"/>
                <a:stretch>
                  <a:fillRect l="-4304" r="-506" b="-1333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E553836-39B3-573D-9DE3-D167445857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3099" y="1915672"/>
            <a:ext cx="4986763" cy="1416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2999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A4059-5D0A-A08D-359F-A83CFB0F5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9BF9CA8-2317-D7EA-26E9-989A8436E49C}"/>
                  </a:ext>
                </a:extLst>
              </p:cNvPr>
              <p:cNvSpPr txBox="1"/>
              <p:nvPr/>
            </p:nvSpPr>
            <p:spPr>
              <a:xfrm>
                <a:off x="466937" y="884553"/>
                <a:ext cx="4902200" cy="508889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ru-RU" sz="1100" dirty="0">
                    <a:latin typeface="Century Gothic" panose="020B0502020202020204" pitchFamily="34" charset="0"/>
                  </a:rPr>
                  <a:t>Для симметричной матрицы: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unc>
                        <m:funcPr>
                          <m:ctrlPr>
                            <a:rPr lang="en-US" sz="11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1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10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11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sSup>
                                <m:sSup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p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𝑖𝑗</m:t>
                                  </m:r>
                                </m:sup>
                              </m:sSup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en-US" sz="1100" dirty="0">
                  <a:latin typeface="Century Gothic" panose="020B0502020202020204" pitchFamily="34" charset="0"/>
                </a:endParaRP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r>
                          <a:rPr lang="en-US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en-US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p>
                            <m:r>
                              <a:rPr lang="en-US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𝑖𝑗</m:t>
                            </m:r>
                          </m:sup>
                        </m:sSup>
                        <m:r>
                          <a:rPr lang="en-US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e>
                    </m:nary>
                    <m:r>
                      <a:rPr lang="en-US" sz="11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1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[3.97676984, 3.78396988, 3.3091087, 4.17333917, 3.67978575]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𝑚𝑎𝑥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=4.17333917</m:t>
                      </m:r>
                      <m:r>
                        <a:rPr lang="en-US" sz="11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≤4.17333917</m:t>
                      </m:r>
                    </m:oMath>
                  </m:oMathPara>
                </a14:m>
                <a:endParaRPr lang="en-US" sz="1100" dirty="0">
                  <a:latin typeface="Century Gothic" panose="020B0502020202020204" pitchFamily="34" charset="0"/>
                </a:endParaRPr>
              </a:p>
              <a:p>
                <a:endParaRPr lang="en-US" sz="1100" dirty="0">
                  <a:latin typeface="Century Gothic" panose="020B0502020202020204" pitchFamily="34" charset="0"/>
                </a:endParaRPr>
              </a:p>
              <a:p>
                <a:r>
                  <a:rPr lang="ru-RU" sz="1100" dirty="0">
                    <a:latin typeface="Century Gothic" panose="020B0502020202020204" pitchFamily="34" charset="0"/>
                  </a:rPr>
                  <a:t>Метод Ньютона для нахождения наибольшего корня:</a:t>
                </a:r>
                <a:endParaRPr lang="en-US" sz="1100" dirty="0">
                  <a:latin typeface="Century Gothic" panose="020B0502020202020204" pitchFamily="34" charset="0"/>
                </a:endParaRPr>
              </a:p>
              <a:p>
                <a:r>
                  <a:rPr lang="ru-RU" sz="1100" dirty="0">
                    <a:latin typeface="Century Gothic" panose="020B0502020202020204" pitchFamily="34" charset="0"/>
                  </a:rPr>
                  <a:t>Начальное приближение: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1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11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ru-RU" sz="1100" b="0" i="1" smtClean="0"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p>
                    <m:r>
                      <a:rPr lang="ru-RU" sz="110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ru-RU" sz="1100" b="0" dirty="0">
                  <a:latin typeface="Century Gothic" panose="020B0502020202020204" pitchFamily="34" charset="0"/>
                </a:endParaRPr>
              </a:p>
              <a:p>
                <a:r>
                  <a:rPr lang="ru-RU" sz="1100" dirty="0">
                    <a:latin typeface="Century Gothic" panose="020B0502020202020204" pitchFamily="34" charset="0"/>
                  </a:rPr>
                  <a:t>Вычисляем </a:t>
                </a:r>
                <a14:m>
                  <m:oMath xmlns:m="http://schemas.openxmlformats.org/officeDocument/2006/math">
                    <m:r>
                      <a:rPr lang="en-US" sz="11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100" b="0" i="1" smtClean="0">
                        <a:latin typeface="Cambria Math" panose="02040503050406030204" pitchFamily="18" charset="0"/>
                      </a:rPr>
                      <m:t>(4)</m:t>
                    </m:r>
                  </m:oMath>
                </a14:m>
                <a:r>
                  <a:rPr lang="ru-RU" sz="1100" dirty="0">
                    <a:latin typeface="Century Gothic" panose="020B0502020202020204" pitchFamily="34" charset="0"/>
                  </a:rPr>
                  <a:t> 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ru-RU" sz="1100" b="0" i="1" smtClean="0">
                        <a:latin typeface="Cambria Math" panose="02040503050406030204" pitchFamily="18" charset="0"/>
                      </a:rPr>
                      <m:t> через следы матрицы:</m:t>
                    </m:r>
                  </m:oMath>
                </a14:m>
                <a:endParaRPr lang="ru-RU" sz="1100" b="0" dirty="0">
                  <a:latin typeface="Century Gothic" panose="020B0502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ru-RU" sz="1100" b="0" i="1" smtClean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ru-RU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ru-RU" sz="11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ru-RU" sz="1100" b="0" i="1" smtClean="0">
                          <a:latin typeface="Cambria Math" panose="02040503050406030204" pitchFamily="18" charset="0"/>
                        </a:rPr>
                        <m:t>+6</m:t>
                      </m:r>
                      <m:sSup>
                        <m:sSupPr>
                          <m:ctrlPr>
                            <a:rPr lang="ru-RU" sz="11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ru-RU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ru-RU" sz="1100" b="0" i="1" smtClean="0">
                          <a:latin typeface="Cambria Math" panose="02040503050406030204" pitchFamily="18" charset="0"/>
                        </a:rPr>
                        <m:t>−12.8</m:t>
                      </m:r>
                      <m:sSup>
                        <m:sSupPr>
                          <m:ctrlPr>
                            <a:rPr lang="ru-RU" sz="11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ru-RU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ru-RU" sz="1100" b="0" i="1" smtClean="0">
                          <a:latin typeface="Cambria Math" panose="02040503050406030204" pitchFamily="18" charset="0"/>
                        </a:rPr>
                        <m:t>+11.52</m:t>
                      </m:r>
                      <m:sSup>
                        <m:sSupPr>
                          <m:ctrlPr>
                            <a:rPr lang="ru-RU" sz="11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ru-RU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 sz="1100" b="0" i="1" smtClean="0">
                          <a:latin typeface="Cambria Math" panose="02040503050406030204" pitchFamily="18" charset="0"/>
                        </a:rPr>
                        <m:t>−4.8</m:t>
                      </m:r>
                      <m:r>
                        <a:rPr lang="ru-RU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ru-RU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+0.576</m:t>
                      </m:r>
                    </m:oMath>
                  </m:oMathPara>
                </a14:m>
                <a:endParaRPr lang="ru-RU" sz="1100" b="0" dirty="0">
                  <a:latin typeface="Century Gothic" panose="020B0502020202020204" pitchFamily="34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ru-RU" sz="11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5</m:t>
                      </m:r>
                      <m:sSup>
                        <m:sSupPr>
                          <m:ctrlPr>
                            <a:rPr lang="ru-RU" sz="11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ru-RU" sz="11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24</m:t>
                      </m:r>
                      <m:sSup>
                        <m:sSupPr>
                          <m:ctrlPr>
                            <a:rPr lang="ru-RU" sz="11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ru-RU" sz="11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38.4</m:t>
                      </m:r>
                      <m:sSup>
                        <m:sSupPr>
                          <m:ctrlPr>
                            <a:rPr lang="ru-RU" sz="11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 sz="11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23</m:t>
                      </m:r>
                      <m:r>
                        <a:rPr lang="ru-RU" sz="11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04</m:t>
                      </m:r>
                      <m:r>
                        <a:rPr lang="ru-RU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ru-RU" sz="1100" i="1">
                          <a:latin typeface="Cambria Math" panose="02040503050406030204" pitchFamily="18" charset="0"/>
                        </a:rPr>
                        <m:t>−4.</m:t>
                      </m:r>
                      <m:r>
                        <a:rPr lang="ru-RU" sz="1100" i="1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ru-RU" sz="1100" dirty="0">
                  <a:latin typeface="Century Gothic" panose="020B0502020202020204" pitchFamily="34" charset="0"/>
                  <a:ea typeface="Cambria Math" panose="02040503050406030204" pitchFamily="18" charset="0"/>
                </a:endParaRPr>
              </a:p>
              <a:p>
                <a:r>
                  <a:rPr lang="ru-RU" sz="1100" dirty="0">
                    <a:latin typeface="Century Gothic" panose="020B0502020202020204" pitchFamily="34" charset="0"/>
                    <a:ea typeface="Cambria Math" panose="02040503050406030204" pitchFamily="18" charset="0"/>
                  </a:rPr>
                  <a:t>Итерация 1:</a:t>
                </a:r>
                <a:endParaRPr lang="en-US" sz="1100" dirty="0">
                  <a:latin typeface="Century Gothic" panose="020B0502020202020204" pitchFamily="34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(4)=−1024+6⋅256−12.8⋅64+11.52⋅16−4.8⋅4+0.576=0.576</m:t>
                      </m:r>
                    </m:oMath>
                  </m:oMathPara>
                </a14:m>
                <a:endParaRPr lang="ru-RU" sz="1100" dirty="0">
                  <a:latin typeface="Century Gothic" panose="020B0502020202020204" pitchFamily="34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n-US" sz="1100" i="1">
                          <a:latin typeface="Cambria Math" panose="02040503050406030204" pitchFamily="18" charset="0"/>
                        </a:rPr>
                        <m:t>=−5⋅256+24⋅64−38.4⋅16+23.04⋅4−4.8=−1280+1536−614.4+92.16−4.8=−271.04</m:t>
                      </m:r>
                    </m:oMath>
                  </m:oMathPara>
                </a14:m>
                <a:endParaRPr lang="ru-RU" sz="11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11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11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p>
                      <m:r>
                        <a:rPr lang="ru-RU" sz="1100" b="0" i="1" smtClean="0">
                          <a:latin typeface="Cambria Math" panose="02040503050406030204" pitchFamily="18" charset="0"/>
                        </a:rPr>
                        <m:t>=4−</m:t>
                      </m:r>
                      <m:f>
                        <m:fPr>
                          <m:ctrlPr>
                            <a:rPr lang="ru-RU" sz="1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0.576</m:t>
                          </m:r>
                        </m:num>
                        <m:den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−271.04</m:t>
                          </m:r>
                        </m:den>
                      </m:f>
                      <m:r>
                        <a:rPr lang="ru-RU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≈4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.002125</m:t>
                      </m:r>
                    </m:oMath>
                  </m:oMathPara>
                </a14:m>
                <a:endParaRPr lang="ru-RU" sz="1100" i="1" dirty="0">
                  <a:latin typeface="Cambria Math" panose="02040503050406030204" pitchFamily="18" charset="0"/>
                </a:endParaRPr>
              </a:p>
              <a:p>
                <a:r>
                  <a:rPr lang="ru-RU" sz="1100" dirty="0">
                    <a:latin typeface="Century Gothic" panose="020B0502020202020204" pitchFamily="34" charset="0"/>
                    <a:ea typeface="Cambria Math" panose="02040503050406030204" pitchFamily="18" charset="0"/>
                  </a:rPr>
                  <a:t>Итерация 2:</a:t>
                </a:r>
                <a:endParaRPr lang="en-US" sz="1100" dirty="0">
                  <a:latin typeface="Century Gothic" panose="020B0502020202020204" pitchFamily="34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.002125</m:t>
                          </m:r>
                        </m:e>
                      </m:d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≈−0.001</m:t>
                      </m:r>
                    </m:oMath>
                  </m:oMathPara>
                </a14:m>
                <a:endParaRPr lang="en-US" sz="1100" b="0" dirty="0">
                  <a:latin typeface="Century Gothic" panose="020B0502020202020204" pitchFamily="34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.002125</m:t>
                          </m:r>
                        </m:e>
                      </m:d>
                      <m:r>
                        <a:rPr lang="en-US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≈−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270.5</m:t>
                      </m:r>
                    </m:oMath>
                  </m:oMathPara>
                </a14:m>
                <a:endParaRPr lang="en-US" sz="1100" dirty="0">
                  <a:latin typeface="Century Gothic" panose="020B0502020202020204" pitchFamily="34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11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ru-RU" sz="11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US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.002125</m:t>
                      </m:r>
                      <m:r>
                        <a:rPr lang="ru-RU" sz="11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ru-RU" sz="1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−0.001</m:t>
                          </m:r>
                        </m:num>
                        <m:den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−27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0.5</m:t>
                          </m:r>
                        </m:den>
                      </m:f>
                      <m:r>
                        <a:rPr lang="ru-RU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≈4</m:t>
                      </m:r>
                      <m:r>
                        <a:rPr lang="en-US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.00212</m:t>
                      </m:r>
                      <m:r>
                        <a:rPr lang="ru-RU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100" b="0" dirty="0">
                  <a:latin typeface="Century Gothic" panose="020B0502020202020204" pitchFamily="34" charset="0"/>
                  <a:ea typeface="Cambria Math" panose="02040503050406030204" pitchFamily="18" charset="0"/>
                </a:endParaRPr>
              </a:p>
              <a:p>
                <a:pPr/>
                <a:r>
                  <a:rPr lang="ru-RU" sz="1100" dirty="0">
                    <a:latin typeface="Century Gothic" panose="020B0502020202020204" pitchFamily="34" charset="0"/>
                  </a:rPr>
                  <a:t>Итерация 3 и далее до сходимости:</a:t>
                </a:r>
                <a:br>
                  <a:rPr lang="ru-RU" sz="1100" dirty="0">
                    <a:latin typeface="Century Gothic" panose="020B0502020202020204" pitchFamily="3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ru-RU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→3.809857</m:t>
                      </m:r>
                      <m:r>
                        <a:rPr lang="ru-RU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61</m:t>
                      </m:r>
                    </m:oMath>
                  </m:oMathPara>
                </a14:m>
                <a:endParaRPr lang="ru-RU" sz="1100" b="0" dirty="0">
                  <a:latin typeface="Century Gothic" panose="020B0502020202020204" pitchFamily="34" charset="0"/>
                  <a:ea typeface="Cambria Math" panose="02040503050406030204" pitchFamily="18" charset="0"/>
                </a:endParaRPr>
              </a:p>
              <a:p>
                <a:r>
                  <a:rPr lang="ru-RU" sz="1100" dirty="0">
                    <a:latin typeface="Century Gothic" panose="020B0502020202020204" pitchFamily="34" charset="0"/>
                  </a:rPr>
                  <a:t>Аналогично находим остальные собственные значения: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1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ru-RU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ru-RU" sz="11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1.73655615</m:t>
                      </m:r>
                      <m:r>
                        <a:rPr lang="ru-RU" sz="11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ru-RU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ru-RU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ru-RU" sz="1100" i="1">
                          <a:latin typeface="Cambria Math" panose="02040503050406030204" pitchFamily="18" charset="0"/>
                        </a:rPr>
                        <m:t>=0.40408572</m:t>
                      </m:r>
                    </m:oMath>
                  </m:oMathPara>
                </a14:m>
                <a:endParaRPr lang="ru-RU" sz="1100" dirty="0">
                  <a:latin typeface="Century Gothic" panose="020B0502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ru-RU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ru-RU" sz="11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ru-RU" sz="11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0.04945310</m:t>
                      </m:r>
                      <m:r>
                        <m:rPr>
                          <m:nor/>
                        </m:rPr>
                        <a:rPr lang="ru-RU" sz="11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ru-RU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ru-RU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ru-RU" sz="11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ru-RU" sz="11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0.00004742</m:t>
                      </m:r>
                    </m:oMath>
                  </m:oMathPara>
                </a14:m>
                <a:endParaRPr lang="en-US" sz="1100" dirty="0">
                  <a:latin typeface="Century Gothic" panose="020B0502020202020204" pitchFamily="34" charset="0"/>
                </a:endParaRPr>
              </a:p>
              <a:p>
                <a:endParaRPr lang="en-US" sz="1100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9BF9CA8-2317-D7EA-26E9-989A8436E4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37" y="884553"/>
                <a:ext cx="4902200" cy="5088894"/>
              </a:xfrm>
              <a:prstGeom prst="rect">
                <a:avLst/>
              </a:prstGeom>
              <a:blipFill>
                <a:blip r:embed="rId2"/>
                <a:stretch>
                  <a:fillRect l="-3351" t="-796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BBD4974-5540-04AE-C5B7-004C57E8BD8B}"/>
                  </a:ext>
                </a:extLst>
              </p:cNvPr>
              <p:cNvSpPr txBox="1"/>
              <p:nvPr/>
            </p:nvSpPr>
            <p:spPr>
              <a:xfrm>
                <a:off x="5551610" y="299679"/>
                <a:ext cx="6066291" cy="623048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ru-RU" sz="1100" dirty="0">
                    <a:latin typeface="Century Gothic" panose="020B0502020202020204" pitchFamily="34" charset="0"/>
                  </a:rPr>
                  <a:t>Найдем собственный вектор для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ru-RU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11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1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3.80985761</m:t>
                    </m:r>
                  </m:oMath>
                </a14:m>
                <a:r>
                  <a:rPr lang="ru-RU" sz="1100" dirty="0">
                    <a:latin typeface="Century Gothic" panose="020B050202020202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RU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1100" b="0" i="1" smtClean="0">
                              <a:latin typeface="Cambria Math" panose="02040503050406030204" pitchFamily="18" charset="0"/>
                            </a:rPr>
                            <m:t>С−</m:t>
                          </m:r>
                          <m:sSub>
                            <m:sSubPr>
                              <m:ctrlPr>
                                <a:rPr lang="ru-RU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𝜐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ru-RU" sz="11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ru-RU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2.60985761</m:t>
                                </m:r>
                              </m:e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−0.42098785</m:t>
                                </m:r>
                              </m:e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−1.0835838</m:t>
                                </m:r>
                              </m:e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0.90219291</m:t>
                                </m:r>
                              </m:e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−0.37000528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−0.42098785</m:t>
                                </m:r>
                              </m:e>
                              <m:e>
                                <m:r>
                                  <a:rPr lang="ru-RU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2.60985761</m:t>
                                </m:r>
                              </m:e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0.20397003</m:t>
                                </m:r>
                              </m:e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−0.77149364</m:t>
                                </m:r>
                              </m:e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1.18751836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−1.0835838</m:t>
                                </m:r>
                              </m:e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0.20397003</m:t>
                                </m:r>
                              </m:e>
                              <m:e>
                                <m:r>
                                  <a:rPr lang="ru-RU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2.60985761</m:t>
                                </m:r>
                              </m:e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−0.59947269</m:t>
                                </m:r>
                              </m:e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0.22208218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0.90219291</m:t>
                                </m:r>
                              </m:e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−0.77149364</m:t>
                                </m:r>
                              </m:e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−0.59947269</m:t>
                                </m:r>
                              </m:e>
                              <m:e>
                                <m:r>
                                  <a:rPr lang="ru-RU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2.60985761</m:t>
                                </m:r>
                              </m:e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−0.70017993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−0.37000528</m:t>
                                </m:r>
                              </m:e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1.18751836</m:t>
                                </m:r>
                              </m:e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0.22208218</m:t>
                                </m:r>
                              </m:e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−0.70017993</m:t>
                                </m:r>
                              </m:e>
                              <m:e>
                                <m:r>
                                  <a:rPr lang="ru-RU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2.60985761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ru-RU" sz="11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11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ru-RU" sz="11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ru-RU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ru-RU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ru-RU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ru-RU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100" dirty="0">
                  <a:latin typeface="Century Gothic" panose="020B0502020202020204" pitchFamily="34" charset="0"/>
                </a:endParaRPr>
              </a:p>
              <a:p>
                <a:endParaRPr lang="en-US" sz="1100" dirty="0">
                  <a:latin typeface="Century Gothic" panose="020B0502020202020204" pitchFamily="34" charset="0"/>
                </a:endParaRPr>
              </a:p>
              <a:p>
                <a:r>
                  <a:rPr lang="ru-RU" sz="1100" dirty="0">
                    <a:latin typeface="Century Gothic" panose="020B0502020202020204" pitchFamily="34" charset="0"/>
                  </a:rPr>
                  <a:t>По методу Гаусса приводим матрицу к ступенчатому виду: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RU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ru-RU" sz="11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0.161348</m:t>
                                </m:r>
                              </m:e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0.415182</m:t>
                                </m:r>
                              </m:e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−0.345689</m:t>
                                </m:r>
                              </m:e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0.141772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sz="11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11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ru-RU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−0.149128</m:t>
                                </m:r>
                              </m:e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0.360624</m:t>
                                </m:r>
                              </m:e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−0.490812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sz="11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11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11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0.531478</m:t>
                                </m:r>
                              </m:e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−0.269842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sz="11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11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11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11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ru-RU" sz="11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1.175623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sz="11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11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11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11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11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1100" dirty="0">
                  <a:latin typeface="Century Gothic" panose="020B0502020202020204" pitchFamily="34" charset="0"/>
                </a:endParaRPr>
              </a:p>
              <a:p>
                <a:endParaRPr lang="ru-RU" sz="1100" dirty="0">
                  <a:latin typeface="Century Gothic" panose="020B0502020202020204" pitchFamily="34" charset="0"/>
                </a:endParaRPr>
              </a:p>
              <a:p>
                <a:r>
                  <a:rPr lang="ru-RU" sz="1100" dirty="0">
                    <a:latin typeface="Century Gothic" panose="020B0502020202020204" pitchFamily="34" charset="0"/>
                  </a:rPr>
                  <a:t>Обратный ход, свободная переменная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1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sz="11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1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ru-RU" sz="1100" dirty="0">
                    <a:latin typeface="Century Gothic" panose="020B050202020202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ru-RU" sz="11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ru-RU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1.175623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  <m:r>
                        <a:rPr lang="en-US" sz="11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ru-RU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1.175623</m:t>
                      </m:r>
                      <m:r>
                        <a:rPr lang="en-US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1100" dirty="0">
                  <a:latin typeface="Century Gothic" panose="020B0502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1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0.531478</m:t>
                          </m:r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−0.269842</m:t>
                      </m:r>
                      <m:r>
                        <a:rPr lang="en-US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  <m:r>
                        <a:rPr lang="en-US" sz="11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1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0.894841</m:t>
                      </m:r>
                      <m:r>
                        <a:rPr lang="en-US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1100" dirty="0">
                  <a:latin typeface="Century Gothic" panose="020B0502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−0.149128</m:t>
                      </m:r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0.360624</m:t>
                          </m:r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−0.490812</m:t>
                      </m:r>
                      <m:r>
                        <a:rPr lang="en-US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  <m:r>
                        <a:rPr lang="en-US" sz="11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1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1.048145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1100" dirty="0">
                  <a:latin typeface="Century Gothic" panose="020B0502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0.161348</m:t>
                      </m:r>
                      <m:sSub>
                        <m:sSubPr>
                          <m:ctrlPr>
                            <a:rPr lang="en-US" sz="11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0.415182</m:t>
                      </m:r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0.345689</m:t>
                          </m:r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ru-RU" sz="11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0.141772</m:t>
                      </m:r>
                      <m:r>
                        <a:rPr lang="en-US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  <m:r>
                        <a:rPr lang="en-US" sz="11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1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ru-RU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1.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087772</m:t>
                      </m:r>
                      <m:r>
                        <a:rPr lang="en-US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1100" dirty="0">
                  <a:latin typeface="Century Gothic" panose="020B0502020202020204" pitchFamily="34" charset="0"/>
                </a:endParaRPr>
              </a:p>
              <a:p>
                <a:endParaRPr lang="en-US" sz="1100" dirty="0">
                  <a:latin typeface="Century Gothic" panose="020B0502020202020204" pitchFamily="34" charset="0"/>
                </a:endParaRPr>
              </a:p>
              <a:p>
                <a:r>
                  <a:rPr lang="ru-RU" sz="1100" dirty="0">
                    <a:latin typeface="Century Gothic" panose="020B0502020202020204" pitchFamily="34" charset="0"/>
                  </a:rPr>
                  <a:t>Нормируем </a:t>
                </a:r>
                <a:r>
                  <a:rPr lang="en-US" sz="1100" dirty="0">
                    <a:latin typeface="Century Gothic" panose="020B0502020202020204" pitchFamily="34" charset="0"/>
                  </a:rPr>
                  <a:t>(t=1)</a:t>
                </a:r>
                <a:r>
                  <a:rPr lang="ru-RU" sz="1100" dirty="0">
                    <a:latin typeface="Century Gothic" panose="020B050202020202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sz="11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u-RU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𝜐</m:t>
                          </m:r>
                        </m:e>
                        <m:sub>
                          <m:r>
                            <a:rPr lang="ru-RU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ru-RU" sz="1100" b="0" i="1" smtClean="0">
                              <a:latin typeface="Cambria Math" panose="02040503050406030204" pitchFamily="18" charset="0"/>
                            </a:rPr>
                            <m:t>ненорм</m:t>
                          </m:r>
                        </m:sup>
                      </m:sSubSup>
                      <m:r>
                        <a:rPr lang="ru-RU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11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1.</m:t>
                              </m:r>
                              <m:r>
                                <a:rPr lang="en-U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087772</m:t>
                              </m:r>
                            </m:e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1.048145</m:t>
                              </m:r>
                            </m:e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0.894841</m:t>
                              </m:r>
                            </m:e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1.175623</m:t>
                              </m:r>
                            </m:e>
                            <m:e>
                              <m:r>
                                <a:rPr lang="ru-RU" sz="11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sz="1100" dirty="0">
                  <a:latin typeface="Century Gothic" panose="020B0502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ru-RU" sz="11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ru-RU" sz="11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𝜐</m:t>
                              </m:r>
                            </m:e>
                            <m:sub>
                              <m:r>
                                <a:rPr lang="ru-RU" sz="11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ru-RU" sz="1100" i="1">
                                  <a:latin typeface="Cambria Math" panose="02040503050406030204" pitchFamily="18" charset="0"/>
                                </a:rPr>
                                <m:t>ненорм</m:t>
                              </m:r>
                            </m:sup>
                          </m:sSubSup>
                        </m:e>
                      </m:d>
                      <m:r>
                        <a:rPr lang="ru-RU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ru-RU" sz="11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ru-RU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11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1.</m:t>
                              </m:r>
                              <m:r>
                                <a:rPr lang="en-U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087772</m:t>
                              </m:r>
                              <m:r>
                                <a:rPr lang="ru-RU" sz="11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ru-RU" sz="11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sz="11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ru-RU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1.048145</m:t>
                              </m:r>
                            </m:e>
                            <m:sup>
                              <m:r>
                                <a:rPr lang="ru-RU" sz="11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sz="11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ru-RU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0.894841</m:t>
                              </m:r>
                            </m:e>
                            <m:sup>
                              <m:r>
                                <a:rPr lang="ru-RU" sz="11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sz="11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ru-RU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11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1.175623</m:t>
                              </m:r>
                              <m:r>
                                <a:rPr lang="ru-RU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ru-RU" sz="11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sz="11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ru-RU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11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ru-RU" sz="11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ru-RU" sz="1100" b="0" i="1" smtClean="0">
                          <a:latin typeface="Cambria Math" panose="02040503050406030204" pitchFamily="18" charset="0"/>
                        </a:rPr>
                        <m:t>=2.42</m:t>
                      </m:r>
                    </m:oMath>
                  </m:oMathPara>
                </a14:m>
                <a:endParaRPr lang="ru-RU" sz="1100" dirty="0">
                  <a:latin typeface="Century Gothic" panose="020B0502020202020204" pitchFamily="34" charset="0"/>
                </a:endParaRPr>
              </a:p>
              <a:p>
                <a:endParaRPr lang="ru-RU" sz="1100" dirty="0">
                  <a:latin typeface="Century Gothic" panose="020B0502020202020204" pitchFamily="34" charset="0"/>
                </a:endParaRP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ru-RU" sz="11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ru-RU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1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𝜐</m:t>
                            </m:r>
                          </m:e>
                          <m:sub>
                            <m:r>
                              <a:rPr lang="ru-RU" sz="11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u-RU" sz="11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ru-RU" sz="11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 sz="11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ru-RU" sz="1100" b="0" i="1" smtClean="0">
                                <a:latin typeface="Cambria Math" panose="02040503050406030204" pitchFamily="18" charset="0"/>
                              </a:rPr>
                              <m:t>2.42</m:t>
                            </m:r>
                          </m:den>
                        </m:f>
                        <m:r>
                          <a:rPr lang="ru-RU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𝜐</m:t>
                        </m:r>
                      </m:e>
                      <m:sub>
                        <m:r>
                          <a:rPr lang="ru-RU" sz="11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ru-RU" sz="1100" i="1">
                            <a:latin typeface="Cambria Math" panose="02040503050406030204" pitchFamily="18" charset="0"/>
                          </a:rPr>
                          <m:t>ненорм</m:t>
                        </m:r>
                      </m:sup>
                    </m:sSubSup>
                    <m:r>
                      <a:rPr lang="ru-RU" sz="11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d>
                      <m:dPr>
                        <m:ctrlPr>
                          <a:rPr lang="ru-RU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u-RU" sz="11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ru-RU" sz="11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.44949</m:t>
                            </m:r>
                            <m:r>
                              <a:rPr lang="en-US" sz="11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0.43308</m:t>
                            </m:r>
                          </m:e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0.36985</m:t>
                            </m:r>
                          </m:e>
                          <m:e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0.48579</m:t>
                            </m:r>
                          </m:e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0.41322</m:t>
                            </m:r>
                          </m:e>
                        </m:eqArr>
                      </m:e>
                    </m:d>
                    <m:r>
                      <a:rPr lang="ru-RU" sz="11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sz="1100" dirty="0">
                    <a:latin typeface="Century Gothic" panose="020B0502020202020204" pitchFamily="34" charset="0"/>
                  </a:rPr>
                  <a:t> после уточнения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1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1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𝜐</m:t>
                        </m:r>
                      </m:e>
                      <m:sub>
                        <m:r>
                          <a:rPr lang="ru-RU" sz="11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11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u-RU" sz="11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−0.4640131</m:t>
                            </m:r>
                          </m:e>
                          <m:e>
                            <m:r>
                              <a:rPr lang="en-US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0.45019005</m:t>
                            </m:r>
                          </m:e>
                          <m:e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0.37929082</m:t>
                            </m:r>
                          </m:e>
                          <m:e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−0.4</m:t>
                            </m:r>
                            <m:r>
                              <a:rPr lang="ru-RU" sz="1100" b="0" i="1" smtClean="0">
                                <a:latin typeface="Cambria Math" panose="02040503050406030204" pitchFamily="18" charset="0"/>
                              </a:rPr>
                              <m:t>976889</m:t>
                            </m:r>
                          </m:e>
                          <m:e>
                            <m:r>
                              <a:rPr lang="en-US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0.4</m:t>
                            </m:r>
                            <m:r>
                              <a:rPr lang="ru-RU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3642295</m:t>
                            </m:r>
                          </m:e>
                        </m:eqArr>
                      </m:e>
                    </m:d>
                  </m:oMath>
                </a14:m>
                <a:endParaRPr lang="ru-RU" sz="1100" dirty="0">
                  <a:latin typeface="Century Gothic" panose="020B0502020202020204" pitchFamily="34" charset="0"/>
                </a:endParaRPr>
              </a:p>
              <a:p>
                <a:endParaRPr lang="ru-RU" sz="1100" dirty="0">
                  <a:latin typeface="Century Gothic" panose="020B0502020202020204" pitchFamily="34" charset="0"/>
                </a:endParaRPr>
              </a:p>
              <a:p>
                <a:r>
                  <a:rPr lang="ru-RU" sz="1100" dirty="0">
                    <a:latin typeface="Century Gothic" panose="020B0502020202020204" pitchFamily="34" charset="0"/>
                  </a:rPr>
                  <a:t>Аналогично находим другие собственные векторы, соответствующие вычисленным собственным значениям. </a:t>
                </a:r>
                <a:endParaRPr lang="en-US" sz="1100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BBD4974-5540-04AE-C5B7-004C57E8BD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1610" y="299679"/>
                <a:ext cx="6066291" cy="62304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93431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935EBF-96EE-40BD-949D-FB30FBF18BD5}"/>
              </a:ext>
            </a:extLst>
          </p:cNvPr>
          <p:cNvSpPr txBox="1"/>
          <p:nvPr/>
        </p:nvSpPr>
        <p:spPr>
          <a:xfrm>
            <a:off x="1181100" y="1028700"/>
            <a:ext cx="9324975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entury Gothic" panose="020B0502020202020204" pitchFamily="34" charset="0"/>
              </a:rPr>
              <a:t>//</a:t>
            </a:r>
            <a:r>
              <a:rPr lang="ru-RU" sz="3200" b="1" dirty="0">
                <a:latin typeface="Century Gothic" panose="020B0502020202020204" pitchFamily="34" charset="0"/>
              </a:rPr>
              <a:t>Шаг (</a:t>
            </a:r>
            <a:r>
              <a:rPr lang="en-US" sz="3200" b="1" dirty="0">
                <a:latin typeface="Century Gothic" panose="020B0502020202020204" pitchFamily="34" charset="0"/>
              </a:rPr>
              <a:t>4</a:t>
            </a:r>
            <a:r>
              <a:rPr lang="ru-RU" sz="3200" b="1" dirty="0">
                <a:latin typeface="Century Gothic" panose="020B0502020202020204" pitchFamily="34" charset="0"/>
              </a:rPr>
              <a:t>) Сортировка по важности</a:t>
            </a:r>
            <a:endParaRPr lang="en-US" sz="3200" b="1" dirty="0">
              <a:latin typeface="Century Gothic" panose="020B0502020202020204" pitchFamily="34" charset="0"/>
            </a:endParaRPr>
          </a:p>
          <a:p>
            <a:endParaRPr lang="ru-RU" sz="3200" b="1" dirty="0">
              <a:latin typeface="Century Gothic" panose="020B0502020202020204" pitchFamily="34" charset="0"/>
            </a:endParaRPr>
          </a:p>
          <a:p>
            <a:r>
              <a:rPr lang="ru-RU" sz="1400" b="1" dirty="0">
                <a:latin typeface="Century Gothic" panose="020B0502020202020204" pitchFamily="34" charset="0"/>
              </a:rPr>
              <a:t>Цель</a:t>
            </a:r>
            <a:r>
              <a:rPr lang="en-US" sz="1400" b="1" dirty="0">
                <a:latin typeface="Century Gothic" panose="020B0502020202020204" pitchFamily="34" charset="0"/>
              </a:rPr>
              <a:t> </a:t>
            </a:r>
            <a:r>
              <a:rPr lang="ru-RU" sz="1400" b="1" dirty="0">
                <a:latin typeface="Century Gothic" panose="020B0502020202020204" pitchFamily="34" charset="0"/>
              </a:rPr>
              <a:t>: </a:t>
            </a:r>
            <a:r>
              <a:rPr lang="ru-RU" sz="1400" dirty="0">
                <a:latin typeface="Century Gothic" panose="020B0502020202020204" pitchFamily="34" charset="0"/>
              </a:rPr>
              <a:t>Упорядочить компоненты от самой важной </a:t>
            </a:r>
          </a:p>
          <a:p>
            <a:r>
              <a:rPr lang="ru-RU" sz="1400" dirty="0">
                <a:latin typeface="Century Gothic" panose="020B0502020202020204" pitchFamily="34" charset="0"/>
              </a:rPr>
              <a:t>к наименее важной</a:t>
            </a:r>
            <a:endParaRPr lang="ru-RU" dirty="0">
              <a:latin typeface="Century Gothic" panose="020B0502020202020204" pitchFamily="34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E6ECEE8-1F95-438F-9308-7EA61EA2A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2543472"/>
            <a:ext cx="5400000" cy="51573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AD62329-2DE4-4AFD-91CE-B92B9AC70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100" y="2546793"/>
            <a:ext cx="5400000" cy="51240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F44C07E-C934-40DB-9015-CB79110D2B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1100" y="2568493"/>
            <a:ext cx="5400000" cy="46568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C92DFA1-ACDC-4D6B-8D10-EA20C8DE4F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1100" y="2543472"/>
            <a:ext cx="5400000" cy="93208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CE8658C-D273-49FC-AFC8-B39E3CCBC5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1100" y="3823820"/>
            <a:ext cx="5400000" cy="122127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2A22B75-33B9-4DA7-B99D-98181479E958}"/>
                  </a:ext>
                </a:extLst>
              </p:cNvPr>
              <p:cNvSpPr txBox="1"/>
              <p:nvPr/>
            </p:nvSpPr>
            <p:spPr>
              <a:xfrm>
                <a:off x="7023100" y="1654062"/>
                <a:ext cx="4902200" cy="515525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ru-RU" sz="1100" dirty="0">
                    <a:latin typeface="Century Gothic" panose="020B0502020202020204" pitchFamily="34" charset="0"/>
                  </a:rPr>
                  <a:t>Исходные данные :</a:t>
                </a:r>
              </a:p>
              <a:p>
                <a:r>
                  <a:rPr lang="en-US" sz="1100" dirty="0">
                    <a:latin typeface="Century Gothic" panose="020B0502020202020204" pitchFamily="34" charset="0"/>
                  </a:rPr>
                  <a:t>  </a:t>
                </a:r>
                <a:endParaRPr lang="ru-RU" sz="1100" dirty="0">
                  <a:latin typeface="Century Gothic" panose="020B0502020202020204" pitchFamily="34" charset="0"/>
                </a:endParaRPr>
              </a:p>
              <a:p>
                <a:endParaRPr lang="ru-RU" sz="1100" dirty="0">
                  <a:latin typeface="Century Gothic" panose="020B0502020202020204" pitchFamily="34" charset="0"/>
                </a:endParaRPr>
              </a:p>
              <a:p>
                <a:endParaRPr lang="ru-RU" sz="1100" dirty="0">
                  <a:latin typeface="Century Gothic" panose="020B0502020202020204" pitchFamily="34" charset="0"/>
                </a:endParaRPr>
              </a:p>
              <a:p>
                <a:endParaRPr lang="ru-RU" sz="1100" dirty="0">
                  <a:latin typeface="Century Gothic" panose="020B0502020202020204" pitchFamily="34" charset="0"/>
                </a:endParaRPr>
              </a:p>
              <a:p>
                <a:endParaRPr lang="en-US" sz="1100" dirty="0">
                  <a:latin typeface="Century Gothic" panose="020B0502020202020204" pitchFamily="34" charset="0"/>
                </a:endParaRPr>
              </a:p>
              <a:p>
                <a:endParaRPr lang="en-US" sz="1100" dirty="0">
                  <a:latin typeface="Century Gothic" panose="020B0502020202020204" pitchFamily="34" charset="0"/>
                </a:endParaRPr>
              </a:p>
              <a:p>
                <a:endParaRPr lang="en-US" sz="1100" dirty="0">
                  <a:latin typeface="Century Gothic" panose="020B0502020202020204" pitchFamily="34" charset="0"/>
                </a:endParaRPr>
              </a:p>
              <a:p>
                <a:endParaRPr lang="en-US" sz="1100" dirty="0">
                  <a:latin typeface="Century Gothic" panose="020B0502020202020204" pitchFamily="34" charset="0"/>
                </a:endParaRPr>
              </a:p>
              <a:p>
                <a:endParaRPr lang="ru-RU" sz="1100" dirty="0">
                  <a:latin typeface="Century Gothic" panose="020B0502020202020204" pitchFamily="34" charset="0"/>
                </a:endParaRPr>
              </a:p>
              <a:p>
                <a:endParaRPr lang="ru-RU" sz="1100" dirty="0">
                  <a:latin typeface="Century Gothic" panose="020B0502020202020204" pitchFamily="34" charset="0"/>
                </a:endParaRPr>
              </a:p>
              <a:p>
                <a:r>
                  <a:rPr lang="ru-RU" sz="1100" dirty="0">
                    <a:latin typeface="Century Gothic" panose="020B0502020202020204" pitchFamily="34" charset="0"/>
                  </a:rPr>
                  <a:t>Сравниваем значения и получаем порядок по убыванию:</a:t>
                </a:r>
              </a:p>
              <a:p>
                <a:r>
                  <a:rPr lang="ru-RU" sz="1100" dirty="0">
                    <a:latin typeface="Century Gothic" panose="020B0502020202020204" pitchFamily="34" charset="0"/>
                  </a:rPr>
                  <a:t> </a:t>
                </a:r>
              </a:p>
              <a:p>
                <a:r>
                  <a:rPr lang="ru-RU" sz="1100" dirty="0">
                    <a:latin typeface="Century Gothic" panose="020B0502020202020204" pitchFamily="34" charset="0"/>
                  </a:rPr>
                  <a:t>[0, 1, 4, 2, 3]</a:t>
                </a:r>
              </a:p>
              <a:p>
                <a:endParaRPr lang="ru-RU" sz="1100" dirty="0">
                  <a:latin typeface="Century Gothic" panose="020B0502020202020204" pitchFamily="34" charset="0"/>
                </a:endParaRPr>
              </a:p>
              <a:p>
                <a:r>
                  <a:rPr lang="ru-RU" sz="1100" dirty="0">
                    <a:latin typeface="Century Gothic" panose="020B0502020202020204" pitchFamily="34" charset="0"/>
                  </a:rPr>
                  <a:t>Применяем индексы [0, 1, 4, 2, 3] к исходному массиву (берем значения в данном порядке): </a:t>
                </a:r>
                <a:endParaRPr lang="en-US" sz="1100" dirty="0">
                  <a:latin typeface="Century Gothic" panose="020B0502020202020204" pitchFamily="34" charset="0"/>
                </a:endParaRPr>
              </a:p>
              <a:p>
                <a:endParaRPr lang="en-US" sz="1100" dirty="0">
                  <a:latin typeface="Century Gothic" panose="020B0502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0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ru-RU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10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={</m:t>
                      </m:r>
                      <m:r>
                        <m:rPr>
                          <m:nor/>
                        </m:rPr>
                        <a:rPr lang="ru-RU" sz="105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3.80985761, 1.73655615, 0.40408572, 0.04945310, 0.00004742</m:t>
                      </m:r>
                      <m:r>
                        <m:rPr>
                          <m:nor/>
                        </m:rPr>
                        <a:rPr lang="en-US" sz="105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ru-RU" sz="105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ru-RU" sz="1100" dirty="0">
                  <a:latin typeface="Century Gothic" panose="020B0502020202020204" pitchFamily="34" charset="0"/>
                </a:endParaRPr>
              </a:p>
              <a:p>
                <a:r>
                  <a:rPr lang="ru-RU" sz="1100" dirty="0">
                    <a:latin typeface="Century Gothic" panose="020B0502020202020204" pitchFamily="34" charset="0"/>
                  </a:rPr>
                  <a:t>Применяем порядок [0, 1, 4, 2, 3] к матрице исходных собственных векторов (берем столбцы в данном порядке):</a:t>
                </a:r>
              </a:p>
              <a:p>
                <a:endParaRPr lang="ru-RU" sz="1100" dirty="0">
                  <a:latin typeface="Century Gothic" panose="020B0502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1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11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11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1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[[−0.4640131   0.45182808 −0.03317471 −0.70733581  0.28128049] </m:t>
                      </m:r>
                    </m:oMath>
                  </m:oMathPara>
                </a14:m>
                <a:endParaRPr lang="ru-RU" sz="11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1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[ 0.45019005  0.48800851 −0.15803498  0.29051532  0.6706731 ]</m:t>
                      </m:r>
                    </m:oMath>
                  </m:oMathPara>
                </a14:m>
                <a:endParaRPr lang="ru-RU" sz="11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1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[ 0.37929082 −0.55665017 −0.5029143  −0.48462321  0.24186072]</m:t>
                      </m:r>
                    </m:oMath>
                  </m:oMathPara>
                </a14:m>
                <a:endParaRPr lang="ru-RU" sz="11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1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[−0.4976889   0.03162214 −0.78311558  0.36999674 −0.03373724]</m:t>
                      </m:r>
                    </m:oMath>
                  </m:oMathPara>
                </a14:m>
                <a:endParaRPr lang="ru-RU" sz="11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1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[ 0.43642295  0.49682965 −0.32822489 −0.20861365 −0.64143906]]</m:t>
                      </m:r>
                    </m:oMath>
                  </m:oMathPara>
                </a14:m>
                <a:endParaRPr lang="ru-RU" sz="11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ru-RU" sz="1100" dirty="0">
                  <a:latin typeface="Century Gothic" panose="020B0502020202020204" pitchFamily="34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2A22B75-33B9-4DA7-B99D-98181479E9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3100" y="1654062"/>
                <a:ext cx="4902200" cy="515525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E2D7E11-4ADB-44A8-9E98-DB908193725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23100" y="1950524"/>
            <a:ext cx="4902200" cy="1337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214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935EBF-96EE-40BD-949D-FB30FBF18BD5}"/>
              </a:ext>
            </a:extLst>
          </p:cNvPr>
          <p:cNvSpPr txBox="1"/>
          <p:nvPr/>
        </p:nvSpPr>
        <p:spPr>
          <a:xfrm>
            <a:off x="1181100" y="1028700"/>
            <a:ext cx="932497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entury Gothic" panose="020B0502020202020204" pitchFamily="34" charset="0"/>
              </a:rPr>
              <a:t>//</a:t>
            </a:r>
            <a:r>
              <a:rPr lang="ru-RU" sz="3200" b="1" dirty="0">
                <a:latin typeface="Century Gothic" panose="020B0502020202020204" pitchFamily="34" charset="0"/>
              </a:rPr>
              <a:t>Шаг (</a:t>
            </a:r>
            <a:r>
              <a:rPr lang="en-US" sz="3200" b="1" dirty="0">
                <a:latin typeface="Century Gothic" panose="020B0502020202020204" pitchFamily="34" charset="0"/>
              </a:rPr>
              <a:t>5</a:t>
            </a:r>
            <a:r>
              <a:rPr lang="ru-RU" sz="3200" b="1" dirty="0">
                <a:latin typeface="Century Gothic" panose="020B0502020202020204" pitchFamily="34" charset="0"/>
              </a:rPr>
              <a:t>) Объясненная дисперсия</a:t>
            </a:r>
            <a:endParaRPr lang="en-US" sz="3200" b="1" dirty="0">
              <a:latin typeface="Century Gothic" panose="020B0502020202020204" pitchFamily="34" charset="0"/>
            </a:endParaRPr>
          </a:p>
          <a:p>
            <a:endParaRPr lang="ru-RU" sz="3200" b="1" dirty="0">
              <a:latin typeface="Century Gothic" panose="020B0502020202020204" pitchFamily="34" charset="0"/>
            </a:endParaRPr>
          </a:p>
          <a:p>
            <a:r>
              <a:rPr lang="ru-RU" sz="1400" b="1" dirty="0">
                <a:latin typeface="Century Gothic" panose="020B0502020202020204" pitchFamily="34" charset="0"/>
              </a:rPr>
              <a:t>Цель</a:t>
            </a:r>
            <a:r>
              <a:rPr lang="en-US" sz="1400" b="1" dirty="0">
                <a:latin typeface="Century Gothic" panose="020B0502020202020204" pitchFamily="34" charset="0"/>
              </a:rPr>
              <a:t> </a:t>
            </a:r>
            <a:r>
              <a:rPr lang="ru-RU" sz="1400" b="1" dirty="0">
                <a:latin typeface="Century Gothic" panose="020B0502020202020204" pitchFamily="34" charset="0"/>
              </a:rPr>
              <a:t>: </a:t>
            </a:r>
            <a:r>
              <a:rPr lang="ru-RU" sz="1400" dirty="0">
                <a:latin typeface="Century Gothic" panose="020B0502020202020204" pitchFamily="34" charset="0"/>
              </a:rPr>
              <a:t>Вычислить значимость каждой компоненты</a:t>
            </a:r>
            <a:endParaRPr lang="ru-RU" dirty="0">
              <a:latin typeface="Century Gothic" panose="020B0502020202020204" pitchFamily="34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E6ECEE8-1F95-438F-9308-7EA61EA2A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2543472"/>
            <a:ext cx="5400000" cy="51573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AD62329-2DE4-4AFD-91CE-B92B9AC70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100" y="2546793"/>
            <a:ext cx="5400000" cy="51240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F44C07E-C934-40DB-9015-CB79110D2B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1100" y="2568493"/>
            <a:ext cx="5400000" cy="46568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820C394-C0CA-4F88-8193-293AC6D50C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1100" y="2541661"/>
            <a:ext cx="5400000" cy="517541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868D84C-AF5B-4E8C-A520-F55C9F1A93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1100" y="3429000"/>
            <a:ext cx="5400000" cy="155209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0B28B0B-0945-46FA-8D04-182AD0BA354F}"/>
                  </a:ext>
                </a:extLst>
              </p:cNvPr>
              <p:cNvSpPr txBox="1"/>
              <p:nvPr/>
            </p:nvSpPr>
            <p:spPr>
              <a:xfrm>
                <a:off x="7023100" y="1654062"/>
                <a:ext cx="4902200" cy="355033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ru-RU" sz="1100" dirty="0">
                    <a:latin typeface="Century Gothic" panose="020B0502020202020204" pitchFamily="34" charset="0"/>
                    <a:ea typeface="Cambria Math" panose="02040503050406030204" pitchFamily="18" charset="0"/>
                  </a:rPr>
                  <a:t>Часть объясненной дисперсии, которую объясняет </a:t>
                </a:r>
                <a14:m>
                  <m:oMath xmlns:m="http://schemas.openxmlformats.org/officeDocument/2006/math">
                    <m:r>
                      <a:rPr lang="en-US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" sz="1100" dirty="0">
                    <a:latin typeface="Century Gothic" panose="020B0502020202020204" pitchFamily="34" charset="0"/>
                    <a:ea typeface="Cambria Math" panose="02040503050406030204" pitchFamily="18" charset="0"/>
                  </a:rPr>
                  <a:t>-</a:t>
                </a:r>
                <a:r>
                  <a:rPr lang="ru-RU" sz="1100" dirty="0">
                    <a:latin typeface="Century Gothic" panose="020B0502020202020204" pitchFamily="34" charset="0"/>
                    <a:ea typeface="Cambria Math" panose="02040503050406030204" pitchFamily="18" charset="0"/>
                  </a:rPr>
                  <a:t>я компонента:</a:t>
                </a:r>
                <a:endParaRPr lang="en-US" sz="1100" dirty="0">
                  <a:latin typeface="Century Gothic" panose="020B0502020202020204" pitchFamily="34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𝐸𝑥𝑝𝑙𝑎𝑖𝑛𝑒𝑑𝑉𝑎𝑟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</m:e>
                          </m:nary>
                        </m:den>
                      </m:f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ru-RU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где 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−число со</m:t>
                      </m:r>
                      <m:r>
                        <a:rPr lang="ru-RU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бственных значений </m:t>
                      </m:r>
                    </m:oMath>
                  </m:oMathPara>
                </a14:m>
                <a:br>
                  <a:rPr lang="ru-RU" sz="1100" dirty="0">
                    <a:latin typeface="Century Gothic" panose="020B0502020202020204" pitchFamily="34" charset="0"/>
                  </a:rPr>
                </a:br>
                <a:br>
                  <a:rPr lang="ru-RU" sz="1100" dirty="0">
                    <a:latin typeface="Century Gothic" panose="020B0502020202020204" pitchFamily="34" charset="0"/>
                  </a:rPr>
                </a:br>
                <a:r>
                  <a:rPr lang="ru-RU" sz="1100" dirty="0">
                    <a:latin typeface="Century Gothic" panose="020B0502020202020204" pitchFamily="34" charset="0"/>
                  </a:rPr>
                  <a:t>Отсортированные собственные значения:</a:t>
                </a:r>
              </a:p>
              <a:p>
                <a:endParaRPr lang="ru-RU" sz="1100" dirty="0">
                  <a:latin typeface="Century Gothic" panose="020B0502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ru-RU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={</m:t>
                      </m:r>
                      <m:r>
                        <m:rPr>
                          <m:nor/>
                        </m:rPr>
                        <a:rPr lang="ru-RU" sz="11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3.80985761, 1.73655615, 0.40408572, 0.04945310, 0.00004742</m:t>
                      </m:r>
                      <m:r>
                        <m:rPr>
                          <m:nor/>
                        </m:rPr>
                        <a:rPr lang="en-US" sz="11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ru-RU" sz="11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ru-RU" sz="1100" dirty="0">
                  <a:latin typeface="Century Gothic" panose="020B0502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ru-RU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ru-RU" sz="11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3.809857 + 1.736556 + 0.404085 + 0.049453 + 0.000047</m:t>
                          </m:r>
                          <m:r>
                            <a:rPr lang="ru-RU" sz="11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=6</m:t>
                          </m:r>
                        </m:e>
                      </m:nary>
                    </m:oMath>
                  </m:oMathPara>
                </a14:m>
                <a:endParaRPr lang="ru-RU" sz="1100" dirty="0">
                  <a:latin typeface="Century Gothic" panose="020B0502020202020204" pitchFamily="34" charset="0"/>
                  <a:ea typeface="Cambria Math" panose="02040503050406030204" pitchFamily="18" charset="0"/>
                </a:endParaRPr>
              </a:p>
              <a:p>
                <a:endParaRPr lang="ru-RU" sz="1100" dirty="0">
                  <a:latin typeface="Century Gothic" panose="020B0502020202020204" pitchFamily="34" charset="0"/>
                </a:endParaRPr>
              </a:p>
              <a:p>
                <a:r>
                  <a:rPr lang="ru-RU" sz="1100" dirty="0">
                    <a:latin typeface="Century Gothic" panose="020B0502020202020204" pitchFamily="34" charset="0"/>
                  </a:rPr>
                  <a:t>Рассчитаем для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ru-RU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1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m:rPr>
                        <m:nor/>
                      </m:rPr>
                      <a:rPr lang="ru-RU" sz="1100" dirty="0">
                        <a:latin typeface="Century Gothic" panose="020B0502020202020204" pitchFamily="34" charset="0"/>
                      </a:rPr>
                      <m:t> </m:t>
                    </m:r>
                    <m:sSub>
                      <m:sSubPr>
                        <m:ctrlPr>
                          <a:rPr lang="en-US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𝐸𝑥𝑝𝑙𝑎𝑖𝑛𝑒𝑑𝑉𝑎𝑟</m:t>
                        </m:r>
                      </m:e>
                      <m:sub>
                        <m:r>
                          <a:rPr lang="en-US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f>
                      <m:fPr>
                        <m:ctrlPr>
                          <a:rPr lang="en-US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ru-RU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num>
                      <m:den>
                        <m:nary>
                          <m:naryPr>
                            <m:chr m:val="∑"/>
                            <m:ctrlPr>
                              <a:rPr lang="en-US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ru-RU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sz="11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</m:nary>
                      </m:den>
                    </m:f>
                  </m:oMath>
                </a14:m>
                <a:endParaRPr lang="ru-RU" sz="1100" dirty="0">
                  <a:latin typeface="Century Gothic" panose="020B0502020202020204" pitchFamily="34" charset="0"/>
                </a:endParaRPr>
              </a:p>
              <a:p>
                <a:endParaRPr lang="ru-RU" sz="1100" dirty="0">
                  <a:latin typeface="Century Gothic" panose="020B0502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𝐸𝑥𝑝𝑙𝑎𝑖𝑛𝑒𝑑𝑉𝑎𝑟</m:t>
                          </m:r>
                        </m:e>
                        <m:sub>
                          <m:r>
                            <a:rPr lang="ru-RU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en-US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ru-RU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ru-RU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</m:e>
                          </m:nary>
                        </m:den>
                      </m:f>
                      <m:r>
                        <a:rPr lang="ru-RU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ru-RU" sz="11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3.80985761</m:t>
                      </m:r>
                      <m:r>
                        <m:rPr>
                          <m:nor/>
                        </m:rPr>
                        <a:rPr lang="en-US" sz="11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/6 = 0.63497627</m:t>
                      </m:r>
                    </m:oMath>
                  </m:oMathPara>
                </a14:m>
                <a:br>
                  <a:rPr lang="ru-RU" sz="1100" dirty="0">
                    <a:latin typeface="Century Gothic" panose="020B0502020202020204" pitchFamily="34" charset="0"/>
                  </a:rPr>
                </a:br>
                <a:endParaRPr lang="ru-RU" sz="1100" dirty="0">
                  <a:latin typeface="Century Gothic" panose="020B0502020202020204" pitchFamily="34" charset="0"/>
                </a:endParaRPr>
              </a:p>
              <a:p>
                <a:endParaRPr lang="ru-RU" sz="1100" dirty="0">
                  <a:latin typeface="Century Gothic" panose="020B0502020202020204" pitchFamily="34" charset="0"/>
                </a:endParaRPr>
              </a:p>
              <a:p>
                <a:endParaRPr lang="ru-RU" sz="1100" dirty="0">
                  <a:latin typeface="Century Gothic" panose="020B0502020202020204" pitchFamily="34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0B28B0B-0945-46FA-8D04-182AD0BA35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3100" y="1654062"/>
                <a:ext cx="4902200" cy="3550331"/>
              </a:xfrm>
              <a:prstGeom prst="rect">
                <a:avLst/>
              </a:prstGeom>
              <a:blipFill>
                <a:blip r:embed="rId7"/>
                <a:stretch>
                  <a:fillRect l="-471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6950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935EBF-96EE-40BD-949D-FB30FBF18BD5}"/>
              </a:ext>
            </a:extLst>
          </p:cNvPr>
          <p:cNvSpPr txBox="1"/>
          <p:nvPr/>
        </p:nvSpPr>
        <p:spPr>
          <a:xfrm>
            <a:off x="1181100" y="1028700"/>
            <a:ext cx="932497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entury Gothic" panose="020B0502020202020204" pitchFamily="34" charset="0"/>
              </a:rPr>
              <a:t>//</a:t>
            </a:r>
            <a:r>
              <a:rPr lang="ru-RU" sz="3200" b="1" dirty="0">
                <a:latin typeface="Century Gothic" panose="020B0502020202020204" pitchFamily="34" charset="0"/>
              </a:rPr>
              <a:t>Шаг (6) Преобразование данных</a:t>
            </a:r>
            <a:endParaRPr lang="en-US" sz="3200" b="1" dirty="0">
              <a:latin typeface="Century Gothic" panose="020B0502020202020204" pitchFamily="34" charset="0"/>
            </a:endParaRPr>
          </a:p>
          <a:p>
            <a:endParaRPr lang="en-US" sz="3200" b="1" dirty="0">
              <a:latin typeface="Century Gothic" panose="020B0502020202020204" pitchFamily="34" charset="0"/>
            </a:endParaRPr>
          </a:p>
          <a:p>
            <a:r>
              <a:rPr lang="ru-RU" sz="1400" b="1" i="0" dirty="0">
                <a:solidFill>
                  <a:srgbClr val="0F1115"/>
                </a:solidFill>
                <a:effectLst/>
                <a:latin typeface="Century Gothic" panose="020B0502020202020204" pitchFamily="34" charset="0"/>
              </a:rPr>
              <a:t>Результат:</a:t>
            </a:r>
            <a:r>
              <a:rPr lang="ru-RU" sz="1400" b="0" i="0" dirty="0">
                <a:solidFill>
                  <a:srgbClr val="0F1115"/>
                </a:solidFill>
                <a:effectLst/>
                <a:latin typeface="Century Gothic" panose="020B0502020202020204" pitchFamily="34" charset="0"/>
              </a:rPr>
              <a:t> 6×5 → 6×2 (сжали данные в 2.5 раза)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Century Gothic" panose="020B0502020202020204" pitchFamily="34" charset="0"/>
              </a:rPr>
              <a:t> </a:t>
            </a:r>
            <a:endParaRPr lang="en-US" sz="1400" dirty="0">
              <a:latin typeface="Century Gothic" panose="020B0502020202020204" pitchFamily="34" charset="0"/>
            </a:endParaRPr>
          </a:p>
          <a:p>
            <a:endParaRPr lang="ru-RU" sz="3200" b="1" dirty="0">
              <a:latin typeface="Century Gothic" panose="020B0502020202020204" pitchFamily="34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E6ECEE8-1F95-438F-9308-7EA61EA2A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2543472"/>
            <a:ext cx="5400000" cy="51573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AD62329-2DE4-4AFD-91CE-B92B9AC70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100" y="2546793"/>
            <a:ext cx="5400000" cy="51240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F44C07E-C934-40DB-9015-CB79110D2B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1100" y="2568493"/>
            <a:ext cx="5400000" cy="46568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820C394-C0CA-4F88-8193-293AC6D50C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1100" y="2541661"/>
            <a:ext cx="5400000" cy="51754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7312498-EE96-4CA3-BC55-416AAF7E96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1100" y="2539252"/>
            <a:ext cx="5400000" cy="66158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8305947-B9BC-4286-83CE-6ED02C4144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1100" y="3657160"/>
            <a:ext cx="2838450" cy="153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0775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8305947-B9BC-4286-83CE-6ED02C414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8490" y="4400550"/>
            <a:ext cx="3111421" cy="168100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41B6C83-8ABF-4C2C-8295-3C361D096853}"/>
                  </a:ext>
                </a:extLst>
              </p:cNvPr>
              <p:cNvSpPr txBox="1"/>
              <p:nvPr/>
            </p:nvSpPr>
            <p:spPr>
              <a:xfrm>
                <a:off x="6291676" y="776447"/>
                <a:ext cx="5605050" cy="34477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ru-RU" sz="1100" dirty="0">
                    <a:latin typeface="Century Gothic" panose="020B0502020202020204" pitchFamily="34" charset="0"/>
                  </a:rPr>
                  <a:t>Рассчитаем </a:t>
                </a:r>
                <a14:m>
                  <m:oMath xmlns:m="http://schemas.openxmlformats.org/officeDocument/2006/math">
                    <m:r>
                      <a:rPr lang="ru-RU" sz="1100" i="1" dirty="0" smtClean="0"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US" sz="11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10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1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ru-RU" sz="11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1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ru-RU" sz="1100" i="1" dirty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ru-RU" sz="11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1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100" b="0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1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en-US" sz="11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100" i="1" dirty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11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1100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ru-RU" sz="11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1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  <m:sSubSup>
                          <m:sSubSupPr>
                            <m:ctrlPr>
                              <a:rPr lang="en-US" sz="11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1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100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11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100" b="0" i="1" dirty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nary>
                    <m:r>
                      <a:rPr lang="en-US" sz="1100" b="0" i="0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1100" b="0" dirty="0">
                  <a:latin typeface="Century Gothic" panose="020B0502020202020204" pitchFamily="34" charset="0"/>
                </a:endParaRPr>
              </a:p>
              <a:p>
                <a:endParaRPr lang="en-US" sz="1100" dirty="0">
                  <a:latin typeface="Century Gothic" panose="020B0502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1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10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ru-RU" sz="11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ru-RU" sz="110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ru-RU" sz="11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10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ru-RU" sz="11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sSubSup>
                            <m:sSubSupPr>
                              <m:ctrlP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e>
                      </m:nary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₁₁×</m:t>
                      </m:r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₁₁ + </m:t>
                      </m:r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₁₂×</m:t>
                      </m:r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₂₁ + </m:t>
                      </m:r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₁₃×</m:t>
                      </m:r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₃₁ + </m:t>
                      </m:r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₁₄×</m:t>
                      </m:r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₄₁ + </m:t>
                      </m:r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₁₅×</m:t>
                      </m:r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₅₁</m:t>
                      </m:r>
                    </m:oMath>
                  </m:oMathPara>
                </a14:m>
                <a:endParaRPr lang="en-US" sz="1100" b="0" dirty="0">
                  <a:latin typeface="Century Gothic" panose="020B0502020202020204" pitchFamily="34" charset="0"/>
                </a:endParaRPr>
              </a:p>
              <a:p>
                <a:endParaRPr lang="en-US" sz="1100" b="0" dirty="0">
                  <a:latin typeface="Century Gothic" panose="020B0502020202020204" pitchFamily="34" charset="0"/>
                </a:endParaRPr>
              </a:p>
              <a:p>
                <a:endParaRPr lang="en-US" sz="1100" b="0" dirty="0">
                  <a:latin typeface="Century Gothic" panose="020B0502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i="1">
                          <a:latin typeface="Cambria Math" panose="02040503050406030204" pitchFamily="18" charset="0"/>
                        </a:rPr>
                        <m:t>=0.633091158 + 0.318332437 + 0.573095190 + 0.493642280 + 0.339549750 = 2.357710815</m:t>
                      </m:r>
                    </m:oMath>
                  </m:oMathPara>
                </a14:m>
                <a:endParaRPr lang="en-US" sz="1100" dirty="0">
                  <a:latin typeface="Century Gothic" panose="020B0502020202020204" pitchFamily="34" charset="0"/>
                </a:endParaRPr>
              </a:p>
              <a:p>
                <a:endParaRPr lang="ru-RU" sz="1100" dirty="0">
                  <a:latin typeface="Century Gothic" panose="020B0502020202020204" pitchFamily="34" charset="0"/>
                </a:endParaRPr>
              </a:p>
              <a:p>
                <a:r>
                  <a:rPr lang="ru-RU" sz="1100" dirty="0">
                    <a:latin typeface="Century Gothic" panose="020B0502020202020204" pitchFamily="34" charset="0"/>
                  </a:rPr>
                  <a:t>Рассчитаем </a:t>
                </a:r>
                <a14:m>
                  <m:oMath xmlns:m="http://schemas.openxmlformats.org/officeDocument/2006/math">
                    <m:r>
                      <a:rPr lang="ru-RU" sz="1100" i="1" dirty="0" smtClean="0"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US" sz="11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10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ru-RU" sz="11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ru-RU" sz="11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1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ru-RU" sz="1100" i="1" dirty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ru-RU" sz="11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1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100" b="0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1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en-US" sz="11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100" i="1" dirty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11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1100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ru-RU" sz="11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1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  <m:sSubSup>
                          <m:sSubSupPr>
                            <m:ctrlPr>
                              <a:rPr lang="en-US" sz="11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1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100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ru-RU" sz="11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1100" b="0" i="1" dirty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nary>
                    <m:r>
                      <a:rPr lang="en-US" sz="1100" b="0" i="0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1100" b="0" dirty="0">
                  <a:latin typeface="Century Gothic" panose="020B0502020202020204" pitchFamily="34" charset="0"/>
                </a:endParaRPr>
              </a:p>
              <a:p>
                <a:endParaRPr lang="en-US" sz="1100" dirty="0">
                  <a:latin typeface="Century Gothic" panose="020B0502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1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10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ru-RU" sz="11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ru-RU" sz="11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ru-RU" sz="110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ru-RU" sz="11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10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ru-RU" sz="11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sSubSup>
                            <m:sSubSupPr>
                              <m:ctrlP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ru-RU" sz="11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e>
                      </m:nary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₁₁×</m:t>
                      </m:r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₁₂ + </m:t>
                      </m:r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₁₂×</m:t>
                      </m:r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₂₂ + </m:t>
                      </m:r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₁₃×</m:t>
                      </m:r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₃₂ + </m:t>
                      </m:r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₁₄×</m:t>
                      </m:r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₄₂ + </m:t>
                      </m:r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₁₅×</m:t>
                      </m:r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₅₂</m:t>
                      </m:r>
                    </m:oMath>
                  </m:oMathPara>
                </a14:m>
                <a:endParaRPr lang="en-US" sz="1100" dirty="0">
                  <a:latin typeface="Century Gothic" panose="020B0502020202020204" pitchFamily="34" charset="0"/>
                </a:endParaRPr>
              </a:p>
              <a:p>
                <a:endParaRPr lang="en-US" sz="1100" dirty="0">
                  <a:latin typeface="Century Gothic" panose="020B0502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100" i="1">
                          <a:latin typeface="Cambria Math" panose="02040503050406030204" pitchFamily="18" charset="0"/>
                        </a:rPr>
                        <m:t>−0.616464936 + 0.345074126 − 0.841080410 − 0.031365093 + 0.386707503 = −0.757128810</m:t>
                      </m:r>
                    </m:oMath>
                  </m:oMathPara>
                </a14:m>
                <a:endParaRPr lang="ru-RU" sz="1100" dirty="0">
                  <a:latin typeface="Century Gothic" panose="020B0502020202020204" pitchFamily="34" charset="0"/>
                </a:endParaRPr>
              </a:p>
              <a:p>
                <a:endParaRPr lang="ru-RU" sz="1100" dirty="0">
                  <a:latin typeface="Century Gothic" panose="020B0502020202020204" pitchFamily="34" charset="0"/>
                </a:endParaRPr>
              </a:p>
              <a:p>
                <a:r>
                  <a:rPr lang="ru-RU" sz="1100" dirty="0">
                    <a:latin typeface="Century Gothic" panose="020B0502020202020204" pitchFamily="34" charset="0"/>
                  </a:rPr>
                  <a:t>Получаем первую строку </a:t>
                </a:r>
                <a:r>
                  <a:rPr lang="en-US" sz="1100" dirty="0">
                    <a:latin typeface="Century Gothic" panose="020B0502020202020204" pitchFamily="34" charset="0"/>
                  </a:rPr>
                  <a:t>Z* = {</a:t>
                </a:r>
                <a14:m>
                  <m:oMath xmlns:m="http://schemas.openxmlformats.org/officeDocument/2006/math">
                    <m:r>
                      <a:rPr lang="en-US" sz="1100" i="1" smtClean="0">
                        <a:latin typeface="Cambria Math" panose="02040503050406030204" pitchFamily="18" charset="0"/>
                      </a:rPr>
                      <m:t>2.357710815</m:t>
                    </m:r>
                  </m:oMath>
                </a14:m>
                <a:r>
                  <a:rPr lang="en-US" sz="1100" dirty="0">
                    <a:latin typeface="Century Gothic" panose="020B0502020202020204" pitchFamily="34" charset="0"/>
                  </a:rPr>
                  <a:t>,</a:t>
                </a:r>
                <a:r>
                  <a:rPr lang="en-US" sz="1100" dirty="0"/>
                  <a:t>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−0.757128810</m:t>
                    </m:r>
                  </m:oMath>
                </a14:m>
                <a:r>
                  <a:rPr lang="en-US" sz="1100" dirty="0">
                    <a:latin typeface="Century Gothic" panose="020B0502020202020204" pitchFamily="34" charset="0"/>
                  </a:rPr>
                  <a:t>}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41B6C83-8ABF-4C2C-8295-3C361D0968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1676" y="776447"/>
                <a:ext cx="5605050" cy="3447739"/>
              </a:xfrm>
              <a:prstGeom prst="rect">
                <a:avLst/>
              </a:prstGeom>
              <a:blipFill>
                <a:blip r:embed="rId3"/>
                <a:stretch>
                  <a:fillRect t="-70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B80C577B-7B80-472E-A660-A816C1979C25}"/>
              </a:ext>
            </a:extLst>
          </p:cNvPr>
          <p:cNvGrpSpPr/>
          <p:nvPr/>
        </p:nvGrpSpPr>
        <p:grpSpPr>
          <a:xfrm>
            <a:off x="204376" y="776447"/>
            <a:ext cx="5695950" cy="5305107"/>
            <a:chOff x="204376" y="1318606"/>
            <a:chExt cx="5695950" cy="530510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F0591DB2-D364-4940-80E9-987D818FABEF}"/>
                    </a:ext>
                  </a:extLst>
                </p:cNvPr>
                <p:cNvSpPr txBox="1"/>
                <p:nvPr/>
              </p:nvSpPr>
              <p:spPr>
                <a:xfrm>
                  <a:off x="204376" y="1318606"/>
                  <a:ext cx="5695950" cy="530510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ru-RU" sz="1100" dirty="0">
                      <a:latin typeface="Century Gothic" panose="020B0502020202020204" pitchFamily="34" charset="0"/>
                    </a:rPr>
                    <a:t>Исходные данные:</a:t>
                  </a:r>
                </a:p>
                <a:p>
                  <a:endParaRPr lang="en-US" sz="1100" dirty="0">
                    <a:latin typeface="Century Gothic" panose="020B0502020202020204" pitchFamily="34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ru-RU" sz="1100" dirty="0">
                    <a:latin typeface="Century Gothic" panose="020B0502020202020204" pitchFamily="34" charset="0"/>
                  </a:endParaRPr>
                </a:p>
                <a:p>
                  <a:endParaRPr lang="ru-RU" sz="1100" dirty="0">
                    <a:latin typeface="Century Gothic" panose="020B0502020202020204" pitchFamily="34" charset="0"/>
                  </a:endParaRPr>
                </a:p>
                <a:p>
                  <a:endParaRPr lang="ru-RU" sz="1100" dirty="0">
                    <a:latin typeface="Century Gothic" panose="020B0502020202020204" pitchFamily="34" charset="0"/>
                  </a:endParaRPr>
                </a:p>
                <a:p>
                  <a:endParaRPr lang="ru-RU" sz="1100" dirty="0">
                    <a:latin typeface="Century Gothic" panose="020B0502020202020204" pitchFamily="34" charset="0"/>
                  </a:endParaRPr>
                </a:p>
                <a:p>
                  <a:endParaRPr lang="ru-RU" sz="1100" dirty="0">
                    <a:latin typeface="Century Gothic" panose="020B0502020202020204" pitchFamily="34" charset="0"/>
                  </a:endParaRPr>
                </a:p>
                <a:p>
                  <a:endParaRPr lang="ru-RU" sz="1100" dirty="0">
                    <a:latin typeface="Century Gothic" panose="020B0502020202020204" pitchFamily="34" charset="0"/>
                  </a:endParaRPr>
                </a:p>
                <a:p>
                  <a:endParaRPr lang="ru-RU" sz="1100" dirty="0">
                    <a:latin typeface="Century Gothic" panose="020B0502020202020204" pitchFamily="34" charset="0"/>
                  </a:endParaRPr>
                </a:p>
                <a:p>
                  <a:endParaRPr lang="ru-RU" sz="1100" dirty="0">
                    <a:latin typeface="Century Gothic" panose="020B0502020202020204" pitchFamily="34" charset="0"/>
                  </a:endParaRPr>
                </a:p>
                <a:p>
                  <a:endParaRPr lang="en-US" sz="1100" dirty="0">
                    <a:latin typeface="Century Gothic" panose="020B0502020202020204" pitchFamily="34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US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sz="11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11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V</m:t>
                            </m:r>
                          </m:e>
                          <m:sup>
                            <m:r>
                              <a:rPr lang="en-US" sz="11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sz="11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ru-RU" sz="1100" dirty="0">
                    <a:latin typeface="Century Gothic" panose="020B0502020202020204" pitchFamily="34" charset="0"/>
                  </a:endParaRPr>
                </a:p>
                <a:p>
                  <a:endParaRPr lang="ru-RU" sz="1100" dirty="0">
                    <a:latin typeface="Century Gothic" panose="020B0502020202020204" pitchFamily="34" charset="0"/>
                  </a:endParaRPr>
                </a:p>
                <a:p>
                  <a:endParaRPr lang="ru-RU" sz="1100" dirty="0">
                    <a:latin typeface="Century Gothic" panose="020B0502020202020204" pitchFamily="34" charset="0"/>
                  </a:endParaRPr>
                </a:p>
                <a:p>
                  <a:endParaRPr lang="ru-RU" sz="1100" dirty="0">
                    <a:latin typeface="Century Gothic" panose="020B0502020202020204" pitchFamily="34" charset="0"/>
                  </a:endParaRPr>
                </a:p>
                <a:p>
                  <a:endParaRPr lang="en-US" sz="1100" dirty="0">
                    <a:latin typeface="Century Gothic" panose="020B0502020202020204" pitchFamily="34" charset="0"/>
                  </a:endParaRPr>
                </a:p>
                <a:p>
                  <a:endParaRPr lang="en-US" sz="1100" dirty="0">
                    <a:latin typeface="Century Gothic" panose="020B0502020202020204" pitchFamily="34" charset="0"/>
                  </a:endParaRPr>
                </a:p>
                <a:p>
                  <a:endParaRPr lang="en-US" sz="1100" dirty="0">
                    <a:latin typeface="Century Gothic" panose="020B0502020202020204" pitchFamily="34" charset="0"/>
                  </a:endParaRPr>
                </a:p>
                <a:p>
                  <a:endParaRPr lang="en-US" sz="1100" dirty="0">
                    <a:latin typeface="Century Gothic" panose="020B0502020202020204" pitchFamily="34" charset="0"/>
                  </a:endParaRPr>
                </a:p>
                <a:p>
                  <a:endParaRPr lang="en-US" sz="1100" dirty="0">
                    <a:latin typeface="Century Gothic" panose="020B0502020202020204" pitchFamily="34" charset="0"/>
                  </a:endParaRPr>
                </a:p>
                <a:p>
                  <a:endParaRPr lang="ru-RU" sz="1100" dirty="0">
                    <a:latin typeface="Century Gothic" panose="020B0502020202020204" pitchFamily="34" charset="0"/>
                  </a:endParaRPr>
                </a:p>
                <a:p>
                  <a:r>
                    <a:rPr lang="ru-RU" sz="1100" dirty="0">
                      <a:latin typeface="Century Gothic" panose="020B0502020202020204" pitchFamily="34" charset="0"/>
                    </a:rPr>
                    <a:t>Переход в пространство главных компонент:</a:t>
                  </a:r>
                  <a:endParaRPr lang="en-US" sz="1100" dirty="0">
                    <a:latin typeface="Century Gothic" panose="020B0502020202020204" pitchFamily="34" charset="0"/>
                  </a:endParaRPr>
                </a:p>
                <a:p>
                  <a:endParaRPr lang="ru-RU" sz="1100" dirty="0">
                    <a:latin typeface="Century Gothic" panose="020B0502020202020204" pitchFamily="34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p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  <m:sSubSup>
                          <m:sSubSupPr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u-RU" sz="1100" b="0" i="1" smtClean="0">
                            <a:latin typeface="Cambria Math" panose="02040503050406030204" pitchFamily="18" charset="0"/>
                          </a:rPr>
                          <m:t> где </m:t>
                        </m:r>
                        <m:sSubSup>
                          <m:sSubSupPr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ru-RU" sz="1100" b="0" i="1" smtClean="0">
                            <a:latin typeface="Cambria Math" panose="02040503050406030204" pitchFamily="18" charset="0"/>
                          </a:rPr>
                          <m:t>−первые 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 стобцов </m:t>
                        </m:r>
                        <m:r>
                          <a:rPr lang="ru-RU" sz="1100" b="0" i="1" smtClean="0">
                            <a:latin typeface="Cambria Math" panose="02040503050406030204" pitchFamily="18" charset="0"/>
                          </a:rPr>
                          <m:t>матрицы </m:t>
                        </m:r>
                        <m:sSup>
                          <m:sSupPr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en-US" sz="1100" b="0" dirty="0">
                    <a:latin typeface="Century Gothic" panose="020B0502020202020204" pitchFamily="34" charset="0"/>
                  </a:endParaRPr>
                </a:p>
                <a:p>
                  <a:endParaRPr lang="en-US" sz="1100" dirty="0">
                    <a:latin typeface="Century Gothic" panose="020B0502020202020204" pitchFamily="34" charset="0"/>
                  </a:endParaRPr>
                </a:p>
                <a:p>
                  <a:r>
                    <a:rPr lang="ru-RU" sz="1100" dirty="0">
                      <a:latin typeface="Century Gothic" panose="020B0502020202020204" pitchFamily="34" charset="0"/>
                    </a:rPr>
                    <a:t>Для i-го объекта и j-й главной компоненты:</a:t>
                  </a:r>
                </a:p>
                <a:p>
                  <a:endParaRPr lang="ru-RU" sz="1100" dirty="0">
                    <a:latin typeface="Century Gothic" panose="020B0502020202020204" pitchFamily="34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ru-RU" sz="1100" i="1" dirty="0" smtClean="0">
                            <a:latin typeface="Cambria Math" panose="02040503050406030204" pitchFamily="18" charset="0"/>
                          </a:rPr>
                          <m:t>𝑃𝐶</m:t>
                        </m:r>
                        <m:r>
                          <a:rPr lang="ru-RU" sz="1100" i="1" dirty="0" smtClean="0">
                            <a:latin typeface="Cambria Math" panose="02040503050406030204" pitchFamily="18" charset="0"/>
                          </a:rPr>
                          <m:t>ⱼ</m:t>
                        </m:r>
                        <m:d>
                          <m:dPr>
                            <m:ctrlPr>
                              <a:rPr lang="ru-RU" sz="11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sz="110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ru-RU" sz="110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ctrlPr>
                              <a:rPr lang="ru-RU" sz="1100" i="1" dirty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1100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1100" b="0" i="1" dirty="0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1100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  <m:e>
                            <m:r>
                              <a:rPr lang="ru-RU" sz="1100" i="1" dirty="0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ru-RU" sz="1100" i="1" dirty="0">
                                <a:latin typeface="Cambria Math" panose="02040503050406030204" pitchFamily="18" charset="0"/>
                              </a:rPr>
                              <m:t>ᵢₚ ∗ </m:t>
                            </m:r>
                            <m:r>
                              <a:rPr lang="ru-RU" sz="1100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ru-RU" sz="1100" i="1" dirty="0">
                                <a:latin typeface="Cambria Math" panose="02040503050406030204" pitchFamily="18" charset="0"/>
                              </a:rPr>
                              <m:t>ₚ</m:t>
                            </m:r>
                            <m:sSup>
                              <m:sSupPr>
                                <m:ctrlPr>
                                  <a:rPr lang="en-US" sz="11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ru-RU" sz="1100" i="1" dirty="0">
                                    <a:latin typeface="Cambria Math" panose="02040503050406030204" pitchFamily="18" charset="0"/>
                                  </a:rPr>
                                  <m:t>ⱼ</m:t>
                                </m:r>
                              </m:e>
                              <m:sup>
                                <m:r>
                                  <a:rPr lang="en-US" sz="1100" b="0" i="1" dirty="0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en-US" sz="1100" b="0" i="0" dirty="0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m:rPr>
                                <m:nor/>
                              </m:rPr>
                              <a:rPr lang="ru-RU" sz="1100" b="0" i="0" dirty="0" smtClean="0">
                                <a:latin typeface="Cambria Math" panose="02040503050406030204" pitchFamily="18" charset="0"/>
                              </a:rPr>
                              <m:t>где</m:t>
                            </m:r>
                            <m:r>
                              <m:rPr>
                                <m:nor/>
                              </m:rPr>
                              <a:rPr lang="en-US" sz="1100" b="0" i="0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1100" b="0" i="0" dirty="0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  <m:r>
                              <m:rPr>
                                <m:nor/>
                              </m:rPr>
                              <a:rPr lang="en-US" sz="1100" b="0" i="0" dirty="0" smtClean="0">
                                <a:latin typeface="Cambria Math" panose="02040503050406030204" pitchFamily="18" charset="0"/>
                              </a:rPr>
                              <m:t> = 1</m:t>
                            </m:r>
                            <m:r>
                              <a:rPr lang="en-US" sz="1100" b="0" i="1" dirty="0" smtClean="0">
                                <a:latin typeface="Cambria Math" panose="02040503050406030204" pitchFamily="18" charset="0"/>
                              </a:rPr>
                              <m:t>, …, </m:t>
                            </m:r>
                            <m:r>
                              <a:rPr lang="en-US" sz="1100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nary>
                        <m:r>
                          <a:rPr lang="en-US" sz="1100" b="0" i="1" dirty="0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sz="11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100" b="0" i="1" dirty="0" smtClean="0">
                            <a:latin typeface="Cambria Math" panose="02040503050406030204" pitchFamily="18" charset="0"/>
                          </a:rPr>
                          <m:t>=1,…, </m:t>
                        </m:r>
                        <m:r>
                          <a:rPr lang="en-US" sz="11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ru-RU" sz="110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1100" dirty="0">
                    <a:latin typeface="Century Gothic" panose="020B0502020202020204" pitchFamily="34" charset="0"/>
                  </a:endParaRPr>
                </a:p>
                <a:p>
                  <a:endParaRPr lang="en-US" sz="1050" dirty="0">
                    <a:latin typeface="Century Gothic" panose="020B0502020202020204" pitchFamily="34" charset="0"/>
                  </a:endParaRPr>
                </a:p>
              </p:txBody>
            </p:sp>
          </mc:Choice>
          <mc:Fallback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F0591DB2-D364-4940-80E9-987D818FAB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4376" y="1318606"/>
                  <a:ext cx="5695950" cy="5305107"/>
                </a:xfrm>
                <a:prstGeom prst="rect">
                  <a:avLst/>
                </a:prstGeom>
                <a:blipFill>
                  <a:blip r:embed="rId4"/>
                  <a:stretch>
                    <a:fillRect b="-10653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3" name="Рисунок 12">
              <a:extLst>
                <a:ext uri="{FF2B5EF4-FFF2-40B4-BE49-F238E27FC236}">
                  <a16:creationId xmlns:a16="http://schemas.microsoft.com/office/drawing/2014/main" id="{BD2845B5-651F-44FA-AF92-C71831D8F4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02741" y="1914605"/>
              <a:ext cx="3899220" cy="1261798"/>
            </a:xfrm>
            <a:prstGeom prst="rect">
              <a:avLst/>
            </a:prstGeom>
          </p:spPr>
        </p:pic>
        <p:pic>
          <p:nvPicPr>
            <p:cNvPr id="14" name="Рисунок 13">
              <a:extLst>
                <a:ext uri="{FF2B5EF4-FFF2-40B4-BE49-F238E27FC236}">
                  <a16:creationId xmlns:a16="http://schemas.microsoft.com/office/drawing/2014/main" id="{9334E872-418A-40D4-822D-FAA6CF79DB6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52351" y="3463711"/>
              <a:ext cx="5400000" cy="12212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82824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935EBF-96EE-40BD-949D-FB30FBF18BD5}"/>
              </a:ext>
            </a:extLst>
          </p:cNvPr>
          <p:cNvSpPr txBox="1"/>
          <p:nvPr/>
        </p:nvSpPr>
        <p:spPr>
          <a:xfrm>
            <a:off x="1181100" y="1028700"/>
            <a:ext cx="932497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entury Gothic" panose="020B0502020202020204" pitchFamily="34" charset="0"/>
              </a:rPr>
              <a:t>//</a:t>
            </a:r>
            <a:r>
              <a:rPr lang="ru-RU" sz="3200" b="1" dirty="0">
                <a:latin typeface="Century Gothic" panose="020B0502020202020204" pitchFamily="34" charset="0"/>
              </a:rPr>
              <a:t>Шаг (7) Общая объясненная дисперсия</a:t>
            </a:r>
            <a:endParaRPr lang="en-US" sz="3200" b="1" dirty="0">
              <a:latin typeface="Century Gothic" panose="020B0502020202020204" pitchFamily="34" charset="0"/>
            </a:endParaRPr>
          </a:p>
          <a:p>
            <a:endParaRPr lang="en-US" sz="3200" b="1" dirty="0">
              <a:latin typeface="Century Gothic" panose="020B0502020202020204" pitchFamily="34" charset="0"/>
            </a:endParaRPr>
          </a:p>
          <a:p>
            <a:r>
              <a:rPr lang="ru-RU" sz="1400" b="1" i="0" dirty="0">
                <a:solidFill>
                  <a:srgbClr val="0F1115"/>
                </a:solidFill>
                <a:effectLst/>
                <a:latin typeface="Century Gothic" panose="020B0502020202020204" pitchFamily="34" charset="0"/>
              </a:rPr>
              <a:t>Цель:</a:t>
            </a:r>
            <a:r>
              <a:rPr lang="ru-RU" sz="1400" b="0" i="0" dirty="0">
                <a:solidFill>
                  <a:srgbClr val="0F1115"/>
                </a:solidFill>
                <a:effectLst/>
                <a:latin typeface="Century Gothic" panose="020B0502020202020204" pitchFamily="34" charset="0"/>
              </a:rPr>
              <a:t> Оценить эффективность сжатия данных</a:t>
            </a:r>
            <a:endParaRPr lang="ru-RU" sz="3200" b="1" dirty="0">
              <a:latin typeface="Century Gothic" panose="020B0502020202020204" pitchFamily="34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6D0A417-0E75-43B9-A219-552E5B135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2539251"/>
            <a:ext cx="5400000" cy="413265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D8E6EA32-D148-47B3-A423-A7DEFB891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100" y="3429000"/>
            <a:ext cx="5400000" cy="49259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7B05AA9-6262-4343-9CE4-56D1779EBCC1}"/>
                  </a:ext>
                </a:extLst>
              </p:cNvPr>
              <p:cNvSpPr txBox="1"/>
              <p:nvPr/>
            </p:nvSpPr>
            <p:spPr>
              <a:xfrm>
                <a:off x="6861175" y="1675031"/>
                <a:ext cx="4902200" cy="480362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ru-RU" sz="1100" dirty="0">
                    <a:latin typeface="Century Gothic" panose="020B0502020202020204" pitchFamily="34" charset="0"/>
                  </a:rPr>
                  <a:t>Исходные данные: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10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ExplainedVar</m:t>
                    </m:r>
                  </m:oMath>
                </a14:m>
                <a:r>
                  <a:rPr lang="ru-RU" sz="1100" dirty="0">
                    <a:latin typeface="Century Gothic" panose="020B0502020202020204" pitchFamily="34" charset="0"/>
                  </a:rPr>
                  <a:t> =</a:t>
                </a:r>
              </a:p>
              <a:p>
                <a:endParaRPr lang="ru-RU" sz="1100" dirty="0">
                  <a:latin typeface="Century Gothic" panose="020B0502020202020204" pitchFamily="34" charset="0"/>
                </a:endParaRPr>
              </a:p>
              <a:p>
                <a:endParaRPr lang="ru-RU" sz="1100" dirty="0">
                  <a:latin typeface="Century Gothic" panose="020B0502020202020204" pitchFamily="34" charset="0"/>
                </a:endParaRPr>
              </a:p>
              <a:p>
                <a:endParaRPr lang="ru-RU" sz="1100" dirty="0">
                  <a:latin typeface="Century Gothic" panose="020B0502020202020204" pitchFamily="34" charset="0"/>
                </a:endParaRPr>
              </a:p>
              <a:p>
                <a:endParaRPr lang="ru-RU" sz="1100" dirty="0">
                  <a:latin typeface="Century Gothic" panose="020B0502020202020204" pitchFamily="34" charset="0"/>
                </a:endParaRPr>
              </a:p>
              <a:p>
                <a:endParaRPr lang="ru-RU" sz="1100" dirty="0">
                  <a:latin typeface="Century Gothic" panose="020B0502020202020204" pitchFamily="34" charset="0"/>
                </a:endParaRPr>
              </a:p>
              <a:p>
                <a:endParaRPr lang="ru-RU" sz="1100" dirty="0">
                  <a:latin typeface="Century Gothic" panose="020B0502020202020204" pitchFamily="34" charset="0"/>
                </a:endParaRPr>
              </a:p>
              <a:p>
                <a:endParaRPr lang="ru-RU" sz="1100" dirty="0">
                  <a:latin typeface="Century Gothic" panose="020B0502020202020204" pitchFamily="34" charset="0"/>
                </a:endParaRPr>
              </a:p>
              <a:p>
                <a:endParaRPr lang="ru-RU" sz="1100" dirty="0">
                  <a:latin typeface="Century Gothic" panose="020B0502020202020204" pitchFamily="34" charset="0"/>
                </a:endParaRPr>
              </a:p>
              <a:p>
                <a:endParaRPr lang="ru-RU" sz="1100" dirty="0">
                  <a:latin typeface="Century Gothic" panose="020B0502020202020204" pitchFamily="34" charset="0"/>
                </a:endParaRPr>
              </a:p>
              <a:p>
                <a:pPr/>
                <a:r>
                  <a:rPr lang="ru-RU" sz="1100" dirty="0">
                    <a:latin typeface="Century Gothic" panose="020B0502020202020204" pitchFamily="34" charset="0"/>
                  </a:rPr>
                  <a:t>Общая объясненная дисперсия:</a:t>
                </a:r>
                <a:br>
                  <a:rPr lang="ru-RU" sz="1100" dirty="0">
                    <a:latin typeface="Century Gothic" panose="020B0502020202020204" pitchFamily="34" charset="0"/>
                  </a:rPr>
                </a:br>
                <a:br>
                  <a:rPr lang="ru-RU" sz="1100" dirty="0">
                    <a:latin typeface="Century Gothic" panose="020B0502020202020204" pitchFamily="3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Total</m:t>
                      </m:r>
                      <m:r>
                        <m:rPr>
                          <m:sty m:val="p"/>
                        </m:rPr>
                        <a:rPr lang="en-US" sz="11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ExplainedVar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𝐸𝑥𝑝𝑙𝑎𝑖𝑛𝑒𝑑𝑉𝑎</m:t>
                              </m:r>
                              <m:sSub>
                                <m:sSubPr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𝐸𝑥𝑝𝑙𝑎𝑖𝑛𝑒𝑑𝑉𝑎</m:t>
                              </m:r>
                              <m:sSub>
                                <m:sSub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sz="1100" dirty="0">
                  <a:latin typeface="Century Gothic" panose="020B0502020202020204" pitchFamily="34" charset="0"/>
                </a:endParaRPr>
              </a:p>
              <a:p>
                <a:endParaRPr lang="en-US" sz="1100" dirty="0">
                  <a:latin typeface="Century Gothic" panose="020B0502020202020204" pitchFamily="34" charset="0"/>
                </a:endParaRPr>
              </a:p>
              <a:p>
                <a:r>
                  <a:rPr lang="ru-RU" sz="1100" dirty="0">
                    <a:latin typeface="Century Gothic" panose="020B0502020202020204" pitchFamily="34" charset="0"/>
                  </a:rPr>
                  <a:t>Рассчитаем для </a:t>
                </a:r>
                <a:r>
                  <a:rPr lang="en-US" sz="1100" dirty="0">
                    <a:latin typeface="Century Gothic" panose="020B0502020202020204" pitchFamily="34" charset="0"/>
                  </a:rPr>
                  <a:t>k=2:</a:t>
                </a:r>
              </a:p>
              <a:p>
                <a:endParaRPr lang="ru-RU" sz="1100" dirty="0">
                  <a:latin typeface="Century Gothic" panose="020B0502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11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𝐸𝑥𝑝𝑙𝑎𝑖𝑛𝑒𝑑𝑉𝑎</m:t>
                          </m:r>
                          <m:sSub>
                            <m:sSubPr>
                              <m:ctrlPr>
                                <a:rPr lang="en-U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=3.80985761 + 1.73655615 = 5.54641376</m:t>
                      </m:r>
                    </m:oMath>
                  </m:oMathPara>
                </a14:m>
                <a:endParaRPr lang="en-US" sz="1100" dirty="0">
                  <a:latin typeface="Century Gothic" panose="020B0502020202020204" pitchFamily="34" charset="0"/>
                </a:endParaRPr>
              </a:p>
              <a:p>
                <a:endParaRPr lang="en-US" sz="1100" dirty="0">
                  <a:latin typeface="Century Gothic" panose="020B0502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𝐸𝑥𝑝𝑙𝑎𝑖𝑛𝑒𝑑𝑉𝑎</m:t>
                          </m:r>
                          <m:sSub>
                            <m:sSub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r>
                        <a:rPr lang="en-US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0.63497627 + 0.28942603 + 0.06734762, 0.00824218 + 0.0000079 = 6</m:t>
                      </m:r>
                    </m:oMath>
                  </m:oMathPara>
                </a14:m>
                <a:endParaRPr lang="en-US" sz="11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11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1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TotalExplainedVar</m:t>
                      </m:r>
                      <m:r>
                        <a:rPr lang="en-US" sz="11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5.54641376</m:t>
                          </m:r>
                        </m:num>
                        <m:den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=0.92440229</m:t>
                      </m:r>
                    </m:oMath>
                  </m:oMathPara>
                </a14:m>
                <a:endParaRPr lang="en-US" sz="11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7B05AA9-6262-4343-9CE4-56D1779EBC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1175" y="1675031"/>
                <a:ext cx="4902200" cy="4803623"/>
              </a:xfrm>
              <a:prstGeom prst="rect">
                <a:avLst/>
              </a:prstGeom>
              <a:blipFill>
                <a:blip r:embed="rId4"/>
                <a:stretch>
                  <a:fillRect l="-1241" b="-215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777DDB5-49A0-47ED-B882-19FE52F0CF2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862" b="8259"/>
          <a:stretch/>
        </p:blipFill>
        <p:spPr>
          <a:xfrm>
            <a:off x="6861175" y="1927177"/>
            <a:ext cx="4902200" cy="1224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7018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935EBF-96EE-40BD-949D-FB30FBF18BD5}"/>
              </a:ext>
            </a:extLst>
          </p:cNvPr>
          <p:cNvSpPr txBox="1"/>
          <p:nvPr/>
        </p:nvSpPr>
        <p:spPr>
          <a:xfrm>
            <a:off x="1181100" y="1028700"/>
            <a:ext cx="93249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entury Gothic" panose="020B0502020202020204" pitchFamily="34" charset="0"/>
              </a:rPr>
              <a:t>//</a:t>
            </a:r>
            <a:r>
              <a:rPr lang="ru-RU" sz="3200" b="1" dirty="0">
                <a:latin typeface="Century Gothic" panose="020B0502020202020204" pitchFamily="34" charset="0"/>
              </a:rPr>
              <a:t>Итог</a:t>
            </a:r>
          </a:p>
          <a:p>
            <a:endParaRPr lang="ru-RU" sz="3200" b="1" dirty="0">
              <a:latin typeface="Century Gothic" panose="020B0502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F1115"/>
                </a:solidFill>
                <a:effectLst/>
                <a:latin typeface="Century Gothic" panose="020B0502020202020204" pitchFamily="34" charset="0"/>
              </a:rPr>
              <a:t>Уменьшили размерность с 5 до 2 (в 2.5 раза)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F1115"/>
                </a:solidFill>
                <a:effectLst/>
                <a:latin typeface="Century Gothic" panose="020B0502020202020204" pitchFamily="34" charset="0"/>
              </a:rPr>
              <a:t>Сохранили 92.4% информации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F1115"/>
                </a:solidFill>
                <a:effectLst/>
                <a:latin typeface="Century Gothic" panose="020B0502020202020204" pitchFamily="34" charset="0"/>
              </a:rPr>
              <a:t>Потеряли только 7.6% информации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F1115"/>
                </a:solidFill>
                <a:effectLst/>
                <a:latin typeface="Century Gothic" panose="020B0502020202020204" pitchFamily="34" charset="0"/>
              </a:rPr>
              <a:t>Получили визуализацию многомерных данных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54179DF-D3DD-4FFB-AA8F-2371BA801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574" y="3145493"/>
            <a:ext cx="8074025" cy="3240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5392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935EBF-96EE-40BD-949D-FB30FBF18BD5}"/>
              </a:ext>
            </a:extLst>
          </p:cNvPr>
          <p:cNvSpPr txBox="1"/>
          <p:nvPr/>
        </p:nvSpPr>
        <p:spPr>
          <a:xfrm>
            <a:off x="1181100" y="1028700"/>
            <a:ext cx="932497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entury Gothic" panose="020B0502020202020204" pitchFamily="34" charset="0"/>
                <a:cs typeface="Cascadia Code" panose="020B0609020000020004" pitchFamily="49" charset="0"/>
              </a:rPr>
              <a:t>//</a:t>
            </a:r>
            <a:r>
              <a:rPr lang="ru-RU" sz="3200" b="1" dirty="0">
                <a:latin typeface="Century Gothic" panose="020B0502020202020204" pitchFamily="34" charset="0"/>
                <a:cs typeface="Cascadia Code" panose="020B0609020000020004" pitchFamily="49" charset="0"/>
              </a:rPr>
              <a:t>Заключение</a:t>
            </a:r>
          </a:p>
          <a:p>
            <a:endParaRPr lang="ru-RU" sz="3200" b="1" dirty="0">
              <a:latin typeface="Century Gothic" panose="020B0502020202020204" pitchFamily="34" charset="0"/>
              <a:cs typeface="Cascadia Code" panose="020B0609020000020004" pitchFamily="49" charset="0"/>
            </a:endParaRPr>
          </a:p>
          <a:p>
            <a:r>
              <a:rPr lang="en" sz="1400" dirty="0">
                <a:latin typeface="Century Gothic" panose="020B0502020202020204" pitchFamily="34" charset="0"/>
                <a:cs typeface="Cascadia Code" panose="020B0609020000020004" pitchFamily="49" charset="0"/>
              </a:rPr>
              <a:t>PCA </a:t>
            </a:r>
            <a:r>
              <a:rPr lang="ru-RU" sz="1400" dirty="0">
                <a:latin typeface="Century Gothic" panose="020B0502020202020204" pitchFamily="34" charset="0"/>
                <a:cs typeface="Cascadia Code" panose="020B0609020000020004" pitchFamily="49" charset="0"/>
              </a:rPr>
              <a:t>преобразует исходные данные в новое пространство признаков, где сохраняется основная вариация и устраняется избыточность. Главные компоненты отражают ключевые направления изменения данных и позволяют существенно снизить размерность без заметной потери информации.</a:t>
            </a:r>
          </a:p>
          <a:p>
            <a:endParaRPr lang="ru-RU" sz="1400" dirty="0">
              <a:latin typeface="Century Gothic" panose="020B0502020202020204" pitchFamily="34" charset="0"/>
              <a:cs typeface="Cascadia Code" panose="020B0609020000020004" pitchFamily="49" charset="0"/>
            </a:endParaRPr>
          </a:p>
          <a:p>
            <a:r>
              <a:rPr lang="ru-RU" sz="1400" dirty="0">
                <a:latin typeface="Century Gothic" panose="020B0502020202020204" pitchFamily="34" charset="0"/>
                <a:cs typeface="Cascadia Code" panose="020B0609020000020004" pitchFamily="49" charset="0"/>
              </a:rPr>
              <a:t>Метод обеспечивает компактное, понятное и информативное представление данных, упрощая </a:t>
            </a:r>
          </a:p>
          <a:p>
            <a:r>
              <a:rPr lang="ru-RU" sz="1400" dirty="0">
                <a:latin typeface="Century Gothic" panose="020B0502020202020204" pitchFamily="34" charset="0"/>
                <a:cs typeface="Cascadia Code" panose="020B0609020000020004" pitchFamily="49" charset="0"/>
              </a:rPr>
              <a:t>их анализ, визуализацию и последующее моделирование.</a:t>
            </a:r>
          </a:p>
          <a:p>
            <a:endParaRPr lang="ru-RU" b="1" dirty="0">
              <a:latin typeface="Century Gothic" panose="020B0502020202020204" pitchFamily="34" charset="0"/>
              <a:cs typeface="Cascadia Code" panose="020B0609020000020004" pitchFamily="49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3D2E6C2-2F65-4760-A5FC-80701ED5AE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7687246" y="3524250"/>
            <a:ext cx="3570943" cy="2819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07385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10093</TotalTime>
  <Words>1745</Words>
  <Application>Microsoft Office PowerPoint</Application>
  <PresentationFormat>Широкоэкранный</PresentationFormat>
  <Paragraphs>331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Century Gothic</vt:lpstr>
      <vt:lpstr>Тема Office</vt:lpstr>
      <vt:lpstr>//Машинное обучение Метод главных компонент (PCA)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Доклад о библиотеке тестирования TestNG в Java</dc:title>
  <dc:creator>Кристина Голева</dc:creator>
  <cp:lastModifiedBy>Кристина Голева</cp:lastModifiedBy>
  <cp:revision>56</cp:revision>
  <dcterms:created xsi:type="dcterms:W3CDTF">2024-12-15T14:16:30Z</dcterms:created>
  <dcterms:modified xsi:type="dcterms:W3CDTF">2025-12-15T12:33:39Z</dcterms:modified>
</cp:coreProperties>
</file>