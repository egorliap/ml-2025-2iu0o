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C1D97-286C-9DDE-9A06-D80D69C37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35D0C1-B525-4029-E940-A1F21589B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A8C5BE-51B0-3C3F-C678-47906D93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7E57B9-816C-0AC0-E25E-7F365D6E9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6D6355-0694-EFD8-82B0-98D404F5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791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F1F1F-1428-6E4B-1463-480EBBAD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713D15-D7B0-EEE7-6C21-0B67C6AF0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BBEAA4-E234-EF4C-A433-29B6D414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B9A763-0429-A7CC-6EF9-E55E7A99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94C09-208C-DA6C-1800-717FB36A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85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661B9-4042-1EDF-AB14-9F7D2593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5B9496-5D6C-112C-AA2A-4CD75520B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E2DA77-8D20-46E8-912F-348E72C7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A3D32E-63A0-1A94-0908-6A0B89A3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A95CC8-662C-5301-260D-AB8833BD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66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E1076-7E2F-B677-CF71-97F4BF79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FF1DC4-F334-DF03-A592-B9C0B1245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F8C4E1-113F-490E-CFB7-8BDCD9DA3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EE260E-C431-2EDD-CDD5-A334C6644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595A22-E1D7-ED7C-268E-49A850B6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043A58-714E-39E6-7637-E96FDB3F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24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27974-55D3-FB18-E5C7-68398AA2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E9108D-FC36-480C-C3BE-C6E5BD17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BB8C66-03F6-FF72-3DA7-7C62CD6BA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12CB86-C9DC-6E30-045D-C828AB988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3E1EF7-B597-1929-C0BF-82E3E0EB2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D1E25BC-126D-6FD7-9D5A-5FAF014E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8BE4B2-6D46-5009-DA63-3E36D5A3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8EC5B48-78F9-602D-DFEE-FFF970E1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1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57391-E3CA-69EB-7A41-4717E248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13EE5CC-41FD-6C3D-9C31-CDE4A5EE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D3100A-4C32-F9D5-2B62-FD60C97C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5F8020-4F53-B995-6CE0-01DD79D6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23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11A5CF0-9DC1-8547-A054-7E68B3EE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5FDEC7-55CC-C6DE-1989-9F9B2936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0CE44A-E9D1-4D03-B7BF-A40F7891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16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AA8FF-3226-7703-87A0-CE869377E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D07C1-DF86-8DD7-E0DC-C0F8F4E43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4F886B-587B-E279-21E2-26E9ADE1F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4A748D-3878-87E1-647B-0EF20D81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38F616-B9BD-B943-F002-9FC8AF05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EC03B1-EBD9-2721-FA0E-42B53654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75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8CFFD-8C3E-4969-77A0-9B57DDB2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2CD741-6D84-0328-4D11-B0A1F01FB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8814CC-5241-E3F6-BD90-6082D3BA5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C7D0F9-BCBF-195A-973B-34AA78F6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ABE45C-1450-952D-FE1E-6F161FE3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3E2E1C-EEDD-9FE4-650B-E0928130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56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C6B5E-64E0-583B-CCCC-2819CA96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514204-467E-DCCC-05F0-4BC86A847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6AC336-F3BF-ED7B-5E36-95A4244C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5F7BFF-5E44-7154-F3AF-20213811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05CCE4-CEB3-025E-1B8F-A78975E8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479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4C2673-BA5A-0AE0-504F-E70DBB5A2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D7EEE7-37DE-E8F3-6B25-D5A4BAD6E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8F8E9-1E11-4FF6-09D4-F8C394A9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4D4D1F-B91F-F389-6CA4-72D22FE9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987038-3716-1CB3-9887-2D04171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35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321A5-41A5-A080-2A5E-1922B4BA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85A5DD-8C9D-7F8F-C496-6915F42A6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EC7D8C-EAE3-6A74-32A0-C55AD67C4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CA626-E982-4972-BEDD-F1C42743CF8D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8E0369-C49F-64A5-D1F5-ABB42E262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91047-8805-B486-AE3C-0309FAA47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539D3-6AF0-43B8-BADA-2FD44BE08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9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ensemble.html#mathematical-formulation" TargetMode="External"/><Relationship Id="rId2" Type="http://schemas.openxmlformats.org/officeDocument/2006/relationships/hyperlink" Target="https://explained.ai/gradient-boost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Gradient_boosting" TargetMode="External"/><Relationship Id="rId4" Type="http://schemas.openxmlformats.org/officeDocument/2006/relationships/hyperlink" Target="https://education.yandex.ru/handbook/ml/article/gradientnyj-bus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0D33C-6F28-F48C-0EC4-7D12DE10B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8916"/>
            <a:ext cx="9144000" cy="2387600"/>
          </a:xfrm>
        </p:spPr>
        <p:txBody>
          <a:bodyPr/>
          <a:lstStyle/>
          <a:p>
            <a:r>
              <a:rPr lang="ru-RU" dirty="0"/>
              <a:t>Градиентный </a:t>
            </a:r>
            <a:r>
              <a:rPr lang="ru-RU" dirty="0" err="1"/>
              <a:t>бустинг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1B3AD8-0F16-5D84-06EA-4E2EBC55AE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r"/>
            <a:r>
              <a:rPr lang="ru-RU" dirty="0"/>
              <a:t>Подготовили: </a:t>
            </a:r>
            <a:br>
              <a:rPr lang="ru-RU" dirty="0"/>
            </a:br>
            <a:r>
              <a:rPr lang="ru-RU" dirty="0"/>
              <a:t>студенты </a:t>
            </a:r>
            <a:r>
              <a:rPr lang="ru-RU" dirty="0" err="1"/>
              <a:t>СпбПУ</a:t>
            </a:r>
            <a:r>
              <a:rPr lang="ru-RU" dirty="0"/>
              <a:t>, группа 5030102/20201</a:t>
            </a:r>
            <a:br>
              <a:rPr lang="ru-RU" dirty="0"/>
            </a:br>
            <a:r>
              <a:rPr lang="ru-RU" dirty="0"/>
              <a:t>Жохов О.Д.</a:t>
            </a:r>
          </a:p>
          <a:p>
            <a:pPr algn="r"/>
            <a:r>
              <a:rPr lang="ru-RU" dirty="0" err="1"/>
              <a:t>Крехов</a:t>
            </a:r>
            <a:r>
              <a:rPr lang="ru-RU" dirty="0"/>
              <a:t> Д.А.</a:t>
            </a:r>
          </a:p>
          <a:p>
            <a:pPr algn="r"/>
            <a:r>
              <a:rPr lang="ru-RU" dirty="0" err="1"/>
              <a:t>Буслама</a:t>
            </a:r>
            <a:r>
              <a:rPr lang="ru-RU" dirty="0"/>
              <a:t> А.</a:t>
            </a:r>
          </a:p>
        </p:txBody>
      </p:sp>
    </p:spTree>
    <p:extLst>
      <p:ext uri="{BB962C8B-B14F-4D97-AF65-F5344CB8AC3E}">
        <p14:creationId xmlns:p14="http://schemas.microsoft.com/office/powerpoint/2010/main" val="155678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4BCF3-B470-0BC2-8C15-52455E9C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FAB68F-63A4-F3EB-628F-E8F2C5AA2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Градиентный </a:t>
            </a:r>
            <a:r>
              <a:rPr lang="ru-RU" dirty="0" err="1">
                <a:effectLst/>
              </a:rPr>
              <a:t>бустинг</a:t>
            </a:r>
            <a:r>
              <a:rPr lang="ru-RU" dirty="0">
                <a:effectLst/>
              </a:rPr>
              <a:t> (</a:t>
            </a:r>
            <a:r>
              <a:rPr lang="ru-RU" dirty="0" err="1">
                <a:effectLst/>
              </a:rPr>
              <a:t>Gradient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Boosting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Machines</a:t>
            </a:r>
            <a:r>
              <a:rPr lang="ru-RU" dirty="0">
                <a:effectLst/>
              </a:rPr>
              <a:t>, GBM) — это ансамблевый метод машинного обучения, основанный на </a:t>
            </a:r>
            <a:r>
              <a:rPr lang="ru-RU" dirty="0" err="1">
                <a:effectLst/>
              </a:rPr>
              <a:t>бустинге</a:t>
            </a:r>
            <a:r>
              <a:rPr lang="ru-RU" dirty="0">
                <a:effectLst/>
              </a:rPr>
              <a:t> в функциональном пространстве. В отличие от традиционного </a:t>
            </a:r>
            <a:r>
              <a:rPr lang="ru-RU" dirty="0" err="1">
                <a:effectLst/>
              </a:rPr>
              <a:t>бустинга</a:t>
            </a:r>
            <a:r>
              <a:rPr lang="ru-RU" dirty="0">
                <a:effectLst/>
              </a:rPr>
              <a:t> (например, </a:t>
            </a:r>
            <a:r>
              <a:rPr lang="ru-RU" dirty="0" err="1">
                <a:effectLst/>
              </a:rPr>
              <a:t>AdaBoost</a:t>
            </a:r>
            <a:r>
              <a:rPr lang="ru-RU" dirty="0">
                <a:effectLst/>
              </a:rPr>
              <a:t>), где минимизируются остатки с весами объектов, градиентный </a:t>
            </a:r>
            <a:r>
              <a:rPr lang="ru-RU" dirty="0" err="1">
                <a:effectLst/>
              </a:rPr>
              <a:t>бустинг</a:t>
            </a:r>
            <a:r>
              <a:rPr lang="ru-RU" dirty="0">
                <a:effectLst/>
              </a:rPr>
              <a:t> оптимизирует произвольную дифференцируемую функцию потерь, используя псевдо-остатки и итеративный функциональный градиентный спуск. Модель строится как взвешенная сумма слабых моделей, обычно простых деревьев решений.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702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C48AA-4E94-A7BD-6724-23CF1DAC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C0F104-12AE-57F6-F410-5D3096AD6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Применяется практически во всех табличных задачах:</a:t>
            </a:r>
          </a:p>
          <a:p>
            <a:r>
              <a:rPr lang="ru-RU" dirty="0"/>
              <a:t>Регрессия (прим: предсказание цены жилья)</a:t>
            </a:r>
          </a:p>
          <a:p>
            <a:r>
              <a:rPr lang="ru-RU" dirty="0"/>
              <a:t>Бинарная и </a:t>
            </a:r>
            <a:r>
              <a:rPr lang="ru-RU" dirty="0" err="1"/>
              <a:t>многоклассовая</a:t>
            </a:r>
            <a:r>
              <a:rPr lang="ru-RU" dirty="0"/>
              <a:t> классификация</a:t>
            </a:r>
          </a:p>
          <a:p>
            <a:r>
              <a:rPr lang="ru-RU" dirty="0"/>
              <a:t>Ранжирование (Learning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Rank</a:t>
            </a:r>
            <a:r>
              <a:rPr lang="ru-RU" dirty="0"/>
              <a:t>)  (прим: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ru-RU" dirty="0"/>
              <a:t>от </a:t>
            </a:r>
            <a:r>
              <a:rPr lang="en-US" dirty="0"/>
              <a:t>Yahoo)</a:t>
            </a:r>
            <a:endParaRPr lang="ru-RU" dirty="0"/>
          </a:p>
          <a:p>
            <a:r>
              <a:rPr lang="ru-RU" dirty="0"/>
              <a:t>Предсказание вероятностей (кредитный скоринг, отток клиентов и т.д.)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633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BF5CB7-F733-6F65-4A84-15379CD9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8" y="200500"/>
            <a:ext cx="10515600" cy="1325563"/>
          </a:xfrm>
        </p:spPr>
        <p:txBody>
          <a:bodyPr/>
          <a:lstStyle/>
          <a:p>
            <a:r>
              <a:rPr lang="ru-RU" dirty="0"/>
              <a:t>Условия применимости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ACE7D22-E31F-373F-A60F-0B72CA04387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355858" y="1388849"/>
                <a:ext cx="11660218" cy="4678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altLang="ru-RU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lt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Дифференцируемая функция потерь L(y, F(x)).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Базовые алгоритмы - простые деревья решений фиксированного размера, обучаемые на псевдо-остатках. 	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Деревья должны быть из класса </a:t>
                </a:r>
                <a14:m>
                  <m:oMath xmlns:m="http://schemas.openxmlformats.org/officeDocument/2006/math">
                    <m:r>
                      <a:rPr lang="ar-AE" smtClean="0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(класс всех слабых моделей, из которых </a:t>
                </a:r>
                <a:r>
                  <a:rPr kumimoji="0" lang="ru-RU" altLang="ru-RU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бустинг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на каждом шаге вбирает 1) с ограниченной сложностью.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Достаточно большой объём данных (минимум несколько тысяч объектов)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Признаки </a:t>
                </a:r>
                <a:r>
                  <a: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-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в основном числовые и категориальные (не изображения и не текст напрямую)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Для регуляризации</a:t>
                </a:r>
                <a:r>
                  <a: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(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предотвращение переобучения) </a:t>
                </a:r>
                <a:r>
                  <a: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-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наличие </a:t>
                </a:r>
                <a:r>
                  <a:rPr kumimoji="0" lang="ru-RU" altLang="ru-RU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валидационной</a:t>
                </a:r>
                <a:r>
                  <a:rPr kumimoji="0" lang="ru-RU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lt"/>
                  </a:rPr>
                  <a:t> выборки для контроля переобучения 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ACE7D22-E31F-373F-A60F-0B72CA043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355858" y="1388849"/>
                <a:ext cx="11660218" cy="4678204"/>
              </a:xfrm>
              <a:prstGeom prst="rect">
                <a:avLst/>
              </a:prstGeom>
              <a:blipFill>
                <a:blip r:embed="rId2"/>
                <a:stretch>
                  <a:fillRect l="-941" r="-680" b="-32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83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398EE-51EC-54FD-8AB8-73E4BB02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AD6160B-62C3-7DBE-386D-B629EDA5C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80932"/>
                <a:ext cx="10515600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b="1" dirty="0">
                    <a:effectLst/>
                  </a:rPr>
                  <a:t>Задача</a:t>
                </a:r>
                <a:r>
                  <a:rPr lang="ru-RU" dirty="0">
                    <a:effectLst/>
                  </a:rPr>
                  <a:t>: найти функцию-предсказатель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минимизирующую ожидаемый риск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nor/>
                          </m:rPr>
                          <a:rPr lang="en-US" i="1"/>
                          <m:t>(</m:t>
                        </m:r>
                        <m:r>
                          <m:rPr>
                            <m:nor/>
                          </m:rPr>
                          <a:rPr lang="en-US" i="1"/>
                          <m:t>y</m:t>
                        </m:r>
                        <m:r>
                          <m:rPr>
                            <m:nor/>
                          </m:rPr>
                          <a:rPr lang="en-US" i="1"/>
                          <m:t>, </m:t>
                        </m:r>
                        <m:r>
                          <m:rPr>
                            <m:nor/>
                          </m:rPr>
                          <a:rPr lang="en-US" i="1"/>
                          <m:t>F</m:t>
                        </m:r>
                        <m:r>
                          <m:rPr>
                            <m:nor/>
                          </m:rPr>
                          <a:rPr lang="en-US" i="1"/>
                          <m:t>(</m:t>
                        </m:r>
                        <m:r>
                          <m:rPr>
                            <m:nor/>
                          </m:rPr>
                          <a:rPr lang="en-US" i="1"/>
                          <m:t>x</m:t>
                        </m:r>
                        <m:r>
                          <m:rPr>
                            <m:nor/>
                          </m:rPr>
                          <a:rPr lang="en-US" i="1"/>
                          <m:t>))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на обучающей выборке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"/>
                            <m:endChr m:val="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{</m:t>
                            </m:r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ar-AE" dirty="0">
                    <a:effectLst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effectLst/>
                  </a:rPr>
                  <a:t>Модель аппроксимируется как аддитивная сумма базовых функций из класса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ru-RU" dirty="0">
                    <a:effectLst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ru-RU" dirty="0">
                    <a:effectLst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— </a:t>
                </a:r>
                <a:r>
                  <a:rPr lang="ru-RU" dirty="0">
                    <a:effectLst/>
                  </a:rPr>
                  <a:t>начальное предсказание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</m:e>
                    </m:func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например, среднее </a:t>
                </a:r>
                <a:r>
                  <a:rPr lang="en-US" dirty="0">
                    <a:effectLst/>
                  </a:rPr>
                  <a:t>y </a:t>
                </a:r>
                <a:r>
                  <a:rPr lang="ru-RU" dirty="0">
                    <a:effectLst/>
                  </a:rPr>
                  <a:t>для </a:t>
                </a:r>
                <a:r>
                  <a:rPr lang="en-US" dirty="0">
                    <a:effectLst/>
                  </a:rPr>
                  <a:t>MSE),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ar-AE" dirty="0">
                    <a:effectLst/>
                  </a:rPr>
                  <a:t>— </a:t>
                </a:r>
                <a:r>
                  <a:rPr lang="ru-RU" dirty="0">
                    <a:effectLst/>
                  </a:rPr>
                  <a:t>базовая модель,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— </a:t>
                </a:r>
                <a:r>
                  <a:rPr lang="ru-RU" dirty="0">
                    <a:effectLst/>
                  </a:rPr>
                  <a:t>веса.</a:t>
                </a:r>
              </a:p>
              <a:p>
                <a:r>
                  <a:rPr lang="ru-RU" dirty="0">
                    <a:effectLst/>
                  </a:rPr>
                  <a:t>Инициализация: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func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.</a:t>
                </a:r>
              </a:p>
              <a:p>
                <a:r>
                  <a:rPr lang="ru-RU" dirty="0">
                    <a:effectLst/>
                  </a:rPr>
                  <a:t>На шаге </a:t>
                </a:r>
                <a:r>
                  <a:rPr lang="en-US" dirty="0">
                    <a:effectLst/>
                  </a:rPr>
                  <a:t>m </a:t>
                </a:r>
                <a:r>
                  <a:rPr lang="ru-RU" dirty="0">
                    <a:effectLst/>
                  </a:rPr>
                  <a:t>обновление жадно: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ℋ</m:t>
                              </m:r>
                            </m:lim>
                          </m:limLow>
                        </m:e>
                      </m:func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>
                    <a:effectLst/>
                  </a:rPr>
                  <a:t>Прямая оптимизация неосуществима, поэтому используется функциональный градиентный спуск: движение в направлении антиградиента.</a:t>
                </a:r>
              </a:p>
              <a:p>
                <a:endParaRPr lang="ar-AE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AD6160B-62C3-7DBE-386D-B629EDA5C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80932"/>
                <a:ext cx="10515600" cy="4351338"/>
              </a:xfrm>
              <a:blipFill>
                <a:blip r:embed="rId2"/>
                <a:stretch>
                  <a:fillRect l="-696" t="-28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038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03ECF44-D54D-1AF8-80CA-D9C189BD62B2}"/>
              </a:ext>
            </a:extLst>
          </p:cNvPr>
          <p:cNvSpPr/>
          <p:nvPr/>
        </p:nvSpPr>
        <p:spPr>
          <a:xfrm>
            <a:off x="7505444" y="5007721"/>
            <a:ext cx="3135963" cy="74870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FFF43-988D-8C07-9BB7-24AF4E82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Доказательство рабочей формы</a:t>
            </a:r>
            <a:br>
              <a:rPr lang="ru-RU" dirty="0">
                <a:effectLst/>
              </a:rPr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2044FE-2A1E-FA3B-D2A6-76594C945B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6505"/>
                <a:ext cx="10515600" cy="4351338"/>
              </a:xfrm>
            </p:spPr>
            <p:txBody>
              <a:bodyPr>
                <a:normAutofit fontScale="6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effectLst/>
                  </a:rPr>
                  <a:t>Рассмотрим целевую функцию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ar-AE" dirty="0">
                    <a:effectLst/>
                  </a:rPr>
                  <a:t> </a:t>
                </a:r>
                <a:r>
                  <a:rPr lang="ru-RU" dirty="0">
                    <a:effectLst/>
                  </a:rPr>
                  <a:t>Первое приближение Тейлора вокруг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>
                    <a:effectLst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ar-A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effectLst/>
                  </a:rPr>
                  <a:t>Минимизация </a:t>
                </a:r>
                <a:r>
                  <a:rPr lang="en-US" dirty="0">
                    <a:effectLst/>
                  </a:rPr>
                  <a:t>O </a:t>
                </a:r>
                <a:r>
                  <a:rPr lang="ru-RU" dirty="0">
                    <a:effectLst/>
                  </a:rPr>
                  <a:t>эквивалентна минимизации аппроксимации (игнорируя константы и высшие члены):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sepChr m:val=",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effectLst/>
                  </a:rPr>
                  <a:t>Дифференцируя по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получаем, что градиент по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</a:t>
                </a:r>
                <a:r>
                  <a:rPr lang="ru-RU" dirty="0">
                    <a:effectLst/>
                  </a:rPr>
                  <a:t>равен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т.е. направление наибольшего возрастания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. </a:t>
                </a:r>
                <a:r>
                  <a:rPr lang="ru-RU" dirty="0">
                    <a:effectLst/>
                  </a:rPr>
                  <a:t>Для спуска используем антиградиент:</a:t>
                </a:r>
                <a:endParaRPr lang="en-US" dirty="0">
                  <a:effectLst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ar-AE" dirty="0">
                    <a:effectLst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effectLst/>
                  </a:rPr>
                  <a:t>Обучаем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dirty="0">
                    <a:effectLst/>
                  </a:rPr>
                  <a:t>на парах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𝑖𝑚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. </a:t>
                </a:r>
                <a:r>
                  <a:rPr lang="ru-RU" dirty="0">
                    <a:effectLst/>
                  </a:rPr>
                  <a:t>Шаг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dirty="0">
                    <a:effectLst/>
                  </a:rPr>
                  <a:t>оптимизируется </a:t>
                </a:r>
                <a:r>
                  <a:rPr lang="ru-RU" dirty="0" err="1">
                    <a:effectLst/>
                  </a:rPr>
                  <a:t>линийным</a:t>
                </a:r>
                <a:r>
                  <a:rPr lang="ru-RU" dirty="0">
                    <a:effectLst/>
                  </a:rPr>
                  <a:t> поиском: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li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lim>
                        </m:limLow>
                      </m:e>
                    </m:func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effectLst/>
                  </a:rPr>
                  <a:t>Обновление: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52044FE-2A1E-FA3B-D2A6-76594C945B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6505"/>
                <a:ext cx="10515600" cy="4351338"/>
              </a:xfrm>
              <a:blipFill>
                <a:blip r:embed="rId2"/>
                <a:stretch>
                  <a:fillRect l="-522" t="-11064" r="-58" b="-2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5D5220-E855-154B-D0A3-CD442E1A7A00}"/>
                  </a:ext>
                </a:extLst>
              </p:cNvPr>
              <p:cNvSpPr txBox="1"/>
              <p:nvPr/>
            </p:nvSpPr>
            <p:spPr>
              <a:xfrm>
                <a:off x="7687505" y="5072319"/>
                <a:ext cx="36662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Пример для </a:t>
                </a:r>
                <a:r>
                  <a:rPr lang="en-US" dirty="0"/>
                  <a:t>MSE: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5D5220-E855-154B-D0A3-CD442E1A7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505" y="5072319"/>
                <a:ext cx="3666295" cy="646331"/>
              </a:xfrm>
              <a:prstGeom prst="rect">
                <a:avLst/>
              </a:prstGeom>
              <a:blipFill>
                <a:blip r:embed="rId3"/>
                <a:stretch>
                  <a:fillRect l="-1329" t="-3774" b="-13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54DB858-28F9-CE10-3D68-C9ADB3AF8605}"/>
              </a:ext>
            </a:extLst>
          </p:cNvPr>
          <p:cNvSpPr txBox="1"/>
          <p:nvPr/>
        </p:nvSpPr>
        <p:spPr>
          <a:xfrm>
            <a:off x="331393" y="5988230"/>
            <a:ext cx="9960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</a:rPr>
              <a:t>Это доказывает, почему аппроксимация Тейлора приводит к градиентному спуску в функциональном пространстве.</a:t>
            </a:r>
          </a:p>
        </p:txBody>
      </p:sp>
    </p:spTree>
    <p:extLst>
      <p:ext uri="{BB962C8B-B14F-4D97-AF65-F5344CB8AC3E}">
        <p14:creationId xmlns:p14="http://schemas.microsoft.com/office/powerpoint/2010/main" val="397449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D90CB-CD90-FA62-B0C8-FF096F1B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выполнения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A36F84-8E67-8021-A895-B88A50B17E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dirty="0">
                    <a:effectLst/>
                  </a:rPr>
                  <a:t>Входные данные 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"/>
                            <m:endChr m:val="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{</m:t>
                            </m:r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ru-RU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L(y, F(x)), M</a:t>
                </a:r>
                <a:r>
                  <a:rPr lang="ru-RU" dirty="0">
                    <a:effectLst/>
                  </a:rPr>
                  <a:t> (число базовых моделей)</a:t>
                </a:r>
                <a:r>
                  <a:rPr lang="en-US" dirty="0">
                    <a:effectLst/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</m:e>
                    </m:func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Для </a:t>
                </a:r>
                <a:r>
                  <a:rPr lang="en-US" dirty="0"/>
                  <a:t>m = 1 </a:t>
                </a:r>
                <a:r>
                  <a:rPr lang="ru-RU" dirty="0"/>
                  <a:t>до </a:t>
                </a:r>
                <a:r>
                  <a:rPr lang="en-US" dirty="0"/>
                  <a:t>M:</a:t>
                </a:r>
              </a:p>
              <a:p>
                <a:pPr marL="971550" lvl="1" indent="-514350">
                  <a:buFont typeface="+mj-lt"/>
                  <a:buAutoNum type="romanUcPeriod"/>
                </a:pPr>
                <a:r>
                  <a:rPr lang="ru-RU" dirty="0"/>
                  <a:t>Псевдо-остатки: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endParaRPr lang="ar-AE" dirty="0"/>
              </a:p>
              <a:p>
                <a:pPr marL="971550" lvl="1" indent="-514350">
                  <a:buFont typeface="+mj-lt"/>
                  <a:buAutoNum type="romanUcPeriod"/>
                </a:pPr>
                <a:r>
                  <a:rPr lang="ru-RU" dirty="0"/>
                  <a:t>Обучить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𝑖𝑚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marL="971550" lvl="1" indent="-514350">
                  <a:buFont typeface="+mj-lt"/>
                  <a:buAutoNum type="roman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</m:e>
                    </m:func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pPr marL="971550" lvl="1" indent="-514350">
                  <a:buFont typeface="+mj-lt"/>
                  <a:buAutoNum type="roman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Вывод: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7A36F84-8E67-8021-A895-B88A50B17E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63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4DB1B5C-A227-DBDE-F99A-2EB2C32A2DC1}"/>
              </a:ext>
            </a:extLst>
          </p:cNvPr>
          <p:cNvSpPr/>
          <p:nvPr/>
        </p:nvSpPr>
        <p:spPr>
          <a:xfrm>
            <a:off x="1031001" y="5695055"/>
            <a:ext cx="2246110" cy="36821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DFE07-E9BB-09B4-F587-BC5A092E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дерево-</a:t>
            </a:r>
            <a:r>
              <a:rPr lang="ru-RU" dirty="0" err="1"/>
              <a:t>бустинг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96548A-C33A-2E59-44FB-934FCA5B4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ru-RU" dirty="0"/>
                  <a:t>Почти всегда под градиентным </a:t>
                </a:r>
                <a:r>
                  <a:rPr lang="ru-RU" dirty="0" err="1"/>
                  <a:t>бустингом</a:t>
                </a:r>
                <a:r>
                  <a:rPr lang="ru-RU" dirty="0"/>
                  <a:t> имеется в виду эта модель </a:t>
                </a:r>
                <a:r>
                  <a:rPr lang="ru-RU" dirty="0" err="1"/>
                  <a:t>бустинга</a:t>
                </a:r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>
                    <a:effectLst/>
                  </a:rPr>
                  <a:t>Базовые модели </a:t>
                </a:r>
                <a:r>
                  <a:rPr lang="en-US" dirty="0">
                    <a:effectLst/>
                  </a:rPr>
                  <a:t>- </a:t>
                </a:r>
                <a:r>
                  <a:rPr lang="ru-RU" dirty="0">
                    <a:effectLst/>
                  </a:rPr>
                  <a:t>деревья с </a:t>
                </a:r>
                <a:r>
                  <a:rPr lang="en-US" dirty="0">
                    <a:effectLst/>
                  </a:rPr>
                  <a:t>J </a:t>
                </a:r>
                <a:r>
                  <a:rPr lang="ru-RU" dirty="0">
                    <a:effectLst/>
                  </a:rPr>
                  <a:t>терминальными узлами 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:r>
                  <a:rPr lang="ru-RU" dirty="0">
                    <a:effectLst/>
                  </a:rPr>
                  <a:t>Дерево: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𝑗𝑚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, </a:t>
                </a:r>
                <a:endParaRPr lang="ru-RU" dirty="0">
                  <a:effectLst/>
                </a:endParaRPr>
              </a:p>
              <a:p>
                <a:pPr marL="0" indent="0">
                  <a:buNone/>
                </a:pPr>
                <a:r>
                  <a:rPr lang="ru-RU" dirty="0">
                    <a:effectLst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— </a:t>
                </a:r>
                <a:r>
                  <a:rPr lang="ru-RU" dirty="0">
                    <a:effectLst/>
                  </a:rPr>
                  <a:t>константа в листе</a:t>
                </a:r>
                <a:r>
                  <a:rPr lang="en-US" dirty="0"/>
                  <a:t>,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𝑗𝑚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ar-AE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ru-RU" i="1"/>
                                <m:t>попал в регион 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𝑗𝑚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в противном случае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>
                  <a:effectLst/>
                </a:endParaRPr>
              </a:p>
              <a:p>
                <a:endParaRPr lang="ru-RU" dirty="0">
                  <a:effectLst/>
                </a:endParaRPr>
              </a:p>
              <a:p>
                <a:r>
                  <a:rPr lang="ru-RU" dirty="0">
                    <a:effectLst/>
                  </a:rPr>
                  <a:t>Пример: в "</a:t>
                </a:r>
                <a:r>
                  <a:rPr lang="en-US" dirty="0" err="1">
                    <a:effectLst/>
                  </a:rPr>
                  <a:t>TreeBoost</a:t>
                </a:r>
                <a:r>
                  <a:rPr lang="en-US" dirty="0">
                    <a:effectLst/>
                  </a:rPr>
                  <a:t>" </a:t>
                </a:r>
                <a:r>
                  <a:rPr lang="ru-RU" dirty="0">
                    <a:effectLst/>
                  </a:rPr>
                  <a:t>Фридмана: отдельные 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ru-RU" dirty="0">
                    <a:effectLst/>
                  </a:rPr>
                  <a:t> для каждого листа:</a:t>
                </a:r>
              </a:p>
              <a:p>
                <a:pPr marL="0" indent="0">
                  <a:buNone/>
                </a:pPr>
                <a:r>
                  <a:rPr lang="ru-RU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sSub>
                          <m:sSubPr>
                            <m:ctrlPr>
                              <a:rPr lang="ar-AE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𝑗𝑚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, </a:t>
                </a:r>
                <a:endParaRPr lang="ru-RU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</m:e>
                    </m:func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𝑗𝑚</m:t>
                            </m:r>
                          </m:sub>
                        </m:sSub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ar-AE" dirty="0">
                    <a:effectLst/>
                  </a:rPr>
                  <a:t>. </a:t>
                </a:r>
                <a:endParaRPr lang="ru-RU" dirty="0">
                  <a:effectLst/>
                </a:endParaRPr>
              </a:p>
              <a:p>
                <a:r>
                  <a:rPr lang="ru-RU" dirty="0">
                    <a:effectLst/>
                  </a:rPr>
                  <a:t>Для </a:t>
                </a:r>
                <a:r>
                  <a:rPr lang="en-US" dirty="0">
                    <a:effectLst/>
                  </a:rPr>
                  <a:t>MSE: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𝑗𝑚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96548A-C33A-2E59-44FB-934FCA5B4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101" b="-40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02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B635B-A630-0D66-6D4B-8E1A6987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059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61D9F8-3E48-1C39-F4E8-878CB427F7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3622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Данные: (</m:t>
                    </m:r>
                    <m:r>
                      <m:rPr>
                        <m:nor/>
                      </m:rPr>
                      <a:rPr lang="ru-RU"/>
                      <m:t>1,2</m:t>
                    </m:r>
                    <m:r>
                      <m:rPr>
                        <m:nor/>
                      </m:rPr>
                      <a:rPr lang="ru-RU"/>
                      <m:t>), (</m:t>
                    </m:r>
                    <m:r>
                      <m:rPr>
                        <m:nor/>
                      </m:rPr>
                      <a:rPr lang="ru-RU"/>
                      <m:t>2,5</m:t>
                    </m:r>
                    <m:r>
                      <m:rPr>
                        <m:nor/>
                      </m:rPr>
                      <a:rPr lang="ru-RU"/>
                      <m:t>), (</m:t>
                    </m:r>
                    <m:r>
                      <m:rPr>
                        <m:nor/>
                      </m:rPr>
                      <a:rPr lang="ru-RU"/>
                      <m:t>3,7</m:t>
                    </m:r>
                    <m:r>
                      <m:rPr>
                        <m:nor/>
                      </m:rPr>
                      <a:rPr lang="ru-RU"/>
                      <m:t>), (</m:t>
                    </m:r>
                    <m:r>
                      <m:rPr>
                        <m:nor/>
                      </m:rPr>
                      <a:rPr lang="ru-RU"/>
                      <m:t>4,11</m:t>
                    </m:r>
                    <m:r>
                      <m:rPr>
                        <m:nor/>
                      </m:rPr>
                      <a:rPr lang="ru-RU"/>
                      <m:t>)</m:t>
                    </m:r>
                  </m:oMath>
                </a14:m>
                <a:endParaRPr lang="ru-RU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Итерация </m:t>
                    </m:r>
                    <m:r>
                      <m:rPr>
                        <m:nor/>
                      </m:rPr>
                      <a:rPr lang="ru-RU"/>
                      <m:t>1 </m:t>
                    </m:r>
                    <m:r>
                      <m:rPr>
                        <m:nor/>
                      </m:rPr>
                      <a:rPr lang="ru-RU"/>
                      <m:t>(</m:t>
                    </m:r>
                    <m:r>
                      <m:rPr>
                        <m:nor/>
                      </m:rPr>
                      <a:rPr lang="en-US"/>
                      <m:t>m</m:t>
                    </m:r>
                    <m:r>
                      <m:rPr>
                        <m:nor/>
                      </m:rPr>
                      <a:rPr lang="en-US"/>
                      <m:t>=</m:t>
                    </m:r>
                    <m:r>
                      <m:rPr>
                        <m:nor/>
                      </m:rPr>
                      <a:rPr lang="en-US"/>
                      <m:t>0</m:t>
                    </m:r>
                    <m:r>
                      <m:rPr>
                        <m:nor/>
                      </m:rPr>
                      <a:rPr lang="en-US"/>
                      <m:t>):</m:t>
                    </m:r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arg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</m:t>
                    </m:r>
                    <m:limLow>
                      <m:limLow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</m:t>
                        </m:r>
                      </m:e>
                      <m:lim>
                        <m:r>
                          <a:rPr lang="ru-RU" i="1">
                            <a:latin typeface="Cambria Math" panose="02040503050406030204" pitchFamily="18" charset="0"/>
                          </a:rPr>
                          <m:t>𝑐</m:t>
                        </m:r>
                      </m:lim>
                    </m:limLow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nor/>
                      </m:rPr>
                      <a:rPr lang="en-US"/>
                      <m:t>  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  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ˉ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Псевдо</m:t>
                    </m:r>
                    <m:r>
                      <m:rPr>
                        <m:nor/>
                      </m:rPr>
                      <a:rPr lang="ru-RU"/>
                      <m:t>−</m:t>
                    </m:r>
                    <m:r>
                      <m:rPr>
                        <m:nor/>
                      </m:rPr>
                      <a:rPr lang="ru-RU"/>
                      <m:t>остатки </m:t>
                    </m:r>
                    <m:r>
                      <m:rPr>
                        <m:nor/>
                      </m:rPr>
                      <a:rPr lang="ru-RU"/>
                      <m:t>(</m:t>
                    </m:r>
                    <m:r>
                      <m:rPr>
                        <m:nor/>
                      </m:rPr>
                      <a:rPr lang="en-US"/>
                      <m:t>r</m:t>
                    </m:r>
                    <m:r>
                      <m:rPr>
                        <m:nor/>
                      </m:rPr>
                      <a:rPr lang="en-US" baseline="-25000"/>
                      <m:t>i</m:t>
                    </m:r>
                    <m:r>
                      <m:rPr>
                        <m:nor/>
                      </m:rPr>
                      <a:rPr lang="ru-RU"/>
                      <m:t> = </m:t>
                    </m:r>
                    <m:r>
                      <m:rPr>
                        <m:nor/>
                      </m:rPr>
                      <a:rPr lang="en-US"/>
                      <m:t>y</m:t>
                    </m:r>
                    <m:r>
                      <m:rPr>
                        <m:nor/>
                      </m:rPr>
                      <a:rPr lang="en-US" baseline="-25000"/>
                      <m:t>i</m:t>
                    </m:r>
                    <m:r>
                      <m:rPr>
                        <m:nor/>
                      </m:rPr>
                      <a:rPr lang="ru-RU"/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))</m:t>
                    </m:r>
                    <m:r>
                      <m:rPr>
                        <m:nor/>
                      </m:rPr>
                      <a:rPr lang="ru-RU"/>
                      <m:t>:</m:t>
                    </m:r>
                  </m:oMath>
                </a14:m>
                <a:endParaRPr lang="ru-RU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(</m:t>
                    </m:r>
                    <m:r>
                      <m:rPr>
                        <m:nor/>
                      </m:rPr>
                      <a:rPr lang="ru-RU"/>
                      <m:t>1,2</m:t>
                    </m:r>
                    <m:r>
                      <m:rPr>
                        <m:nor/>
                      </m:rPr>
                      <a:rPr lang="ru-RU"/>
                      <m:t>):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6.25</m:t>
                    </m:r>
                    <m:r>
                      <m:rPr>
                        <m:nor/>
                      </m:rPr>
                      <a:rPr lang="en-US"/>
                      <m:t>; </m:t>
                    </m:r>
                    <m:r>
                      <m:rPr>
                        <m:nor/>
                      </m:rPr>
                      <a:rPr lang="en-US"/>
                      <m:t>ri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4.25</m:t>
                    </m:r>
                  </m:oMath>
                </a14:m>
                <a:endParaRPr lang="ru-RU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(</m:t>
                    </m:r>
                    <m:r>
                      <m:rPr>
                        <m:nor/>
                      </m:rPr>
                      <a:rPr lang="en-US"/>
                      <m:t>2</m:t>
                    </m:r>
                    <m:r>
                      <m:rPr>
                        <m:nor/>
                      </m:rPr>
                      <a:rPr lang="ru-RU"/>
                      <m:t>,</m:t>
                    </m:r>
                    <m:r>
                      <m:rPr>
                        <m:nor/>
                      </m:rPr>
                      <a:rPr lang="en-US"/>
                      <m:t>5</m:t>
                    </m:r>
                    <m:r>
                      <m:rPr>
                        <m:nor/>
                      </m:rPr>
                      <a:rPr lang="ru-RU"/>
                      <m:t>):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6.25</m:t>
                    </m:r>
                    <m:r>
                      <m:rPr>
                        <m:nor/>
                      </m:rPr>
                      <a:rPr lang="en-US"/>
                      <m:t>; </m:t>
                    </m:r>
                    <m:r>
                      <m:rPr>
                        <m:nor/>
                      </m:rPr>
                      <a:rPr lang="en-US"/>
                      <m:t>ri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1.25</m:t>
                    </m:r>
                  </m:oMath>
                </a14:m>
                <a:endParaRPr lang="ru-RU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(</m:t>
                    </m:r>
                    <m:r>
                      <m:rPr>
                        <m:nor/>
                      </m:rPr>
                      <a:rPr lang="en-US"/>
                      <m:t>3</m:t>
                    </m:r>
                    <m:r>
                      <m:rPr>
                        <m:nor/>
                      </m:rPr>
                      <a:rPr lang="ru-RU"/>
                      <m:t>,</m:t>
                    </m:r>
                    <m:r>
                      <m:rPr>
                        <m:nor/>
                      </m:rPr>
                      <a:rPr lang="en-US"/>
                      <m:t>7</m:t>
                    </m:r>
                    <m:r>
                      <m:rPr>
                        <m:nor/>
                      </m:rPr>
                      <a:rPr lang="ru-RU"/>
                      <m:t>):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6.25</m:t>
                    </m:r>
                    <m:r>
                      <m:rPr>
                        <m:nor/>
                      </m:rPr>
                      <a:rPr lang="en-US"/>
                      <m:t>; </m:t>
                    </m:r>
                    <m:r>
                      <m:rPr>
                        <m:nor/>
                      </m:rPr>
                      <a:rPr lang="en-US"/>
                      <m:t>ri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0.75</m:t>
                    </m:r>
                  </m:oMath>
                </a14:m>
                <a:endParaRPr lang="ru-RU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/>
                      <m:t>(</m:t>
                    </m:r>
                    <m:r>
                      <m:rPr>
                        <m:nor/>
                      </m:rPr>
                      <a:rPr lang="en-US"/>
                      <m:t>4</m:t>
                    </m:r>
                    <m:r>
                      <m:rPr>
                        <m:nor/>
                      </m:rPr>
                      <a:rPr lang="ru-RU"/>
                      <m:t>,</m:t>
                    </m:r>
                    <m:r>
                      <m:rPr>
                        <m:nor/>
                      </m:rPr>
                      <a:rPr lang="en-US"/>
                      <m:t>11</m:t>
                    </m:r>
                    <m:r>
                      <m:rPr>
                        <m:nor/>
                      </m:rPr>
                      <a:rPr lang="ru-RU"/>
                      <m:t>):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6.25</m:t>
                    </m:r>
                    <m:r>
                      <m:rPr>
                        <m:nor/>
                      </m:rPr>
                      <a:rPr lang="en-US"/>
                      <m:t>; </m:t>
                    </m:r>
                    <m:r>
                      <m:rPr>
                        <m:nor/>
                      </m:rPr>
                      <a:rPr lang="en-US"/>
                      <m:t>ri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4.75</m:t>
                    </m:r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MSE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10.6875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C61D9F8-3E48-1C39-F4E8-878CB427F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3622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054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973C8-7E4E-E286-AF22-E9512586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976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89EF30D-36A2-71B1-FBEF-754DDC3AD0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lvl="0"/>
                <a:r>
                  <a:rPr lang="ru-RU" dirty="0"/>
                  <a:t>Итерация </a:t>
                </a:r>
                <a:r>
                  <a:rPr lang="en-US" dirty="0"/>
                  <a:t>2</a:t>
                </a:r>
                <a:r>
                  <a:rPr lang="ru-RU" dirty="0"/>
                  <a:t> (</a:t>
                </a:r>
                <a:r>
                  <a:rPr lang="en-US" dirty="0"/>
                  <a:t>m=1)</a:t>
                </a:r>
                <a:endParaRPr lang="ru-RU" dirty="0"/>
              </a:p>
              <a:p>
                <a:pPr lvl="1"/>
                <a:r>
                  <a:rPr lang="en-US" dirty="0"/>
                  <a:t>X = {1,2,3,4}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t = {1.5, 2.5, 3.5}</a:t>
                </a:r>
                <a:endParaRPr lang="ru-RU" dirty="0"/>
              </a:p>
              <a:p>
                <a:pPr lvl="2"/>
                <a:r>
                  <a:rPr lang="en-US" dirty="0"/>
                  <a:t>t</a:t>
                </a:r>
                <a:r>
                  <a:rPr lang="ru-RU" dirty="0"/>
                  <a:t> = 1.5: левая часть: {1}, правая часть: {2,3,4}, Среднее слева: -4.25, Среднее справа: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ru-RU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>
                        <a:latin typeface="Cambria Math" panose="02040503050406030204" pitchFamily="18" charset="0"/>
                      </a:rPr>
                      <m:t>417</m:t>
                    </m:r>
                  </m:oMath>
                </a14:m>
                <a:r>
                  <a:rPr lang="ru-RU" dirty="0"/>
                  <a:t>, </a:t>
                </a:r>
                <a:r>
                  <a:rPr lang="en-US" dirty="0"/>
                  <a:t>MSE </a:t>
                </a:r>
                <a:r>
                  <a:rPr lang="ru-RU" dirty="0"/>
                  <a:t>слева: 0, </a:t>
                </a:r>
                <a:r>
                  <a:rPr lang="en-US" dirty="0"/>
                  <a:t>MSE </a:t>
                </a:r>
                <a:r>
                  <a:rPr lang="ru-RU" dirty="0"/>
                  <a:t>справа: 10.84, общее </a:t>
                </a:r>
                <a:r>
                  <a:rPr lang="en-US" dirty="0"/>
                  <a:t>MSE</a:t>
                </a:r>
                <a:r>
                  <a:rPr lang="ru-RU" dirty="0"/>
                  <a:t>: 10.84</a:t>
                </a:r>
              </a:p>
              <a:p>
                <a:pPr lvl="2"/>
                <a:r>
                  <a:rPr lang="en-US" dirty="0"/>
                  <a:t>t</a:t>
                </a:r>
                <a:r>
                  <a:rPr lang="ru-RU" dirty="0"/>
                  <a:t> = 2.5: левая часть: {1,2}, правая часть: {3,4}, Среднее слева: -2.75, Среднее справа:2.75, </a:t>
                </a:r>
                <a:r>
                  <a:rPr lang="en-US" dirty="0"/>
                  <a:t>MSE </a:t>
                </a:r>
                <a:r>
                  <a:rPr lang="ru-RU" dirty="0"/>
                  <a:t>слева: 2.03, </a:t>
                </a:r>
                <a:r>
                  <a:rPr lang="en-US" dirty="0"/>
                  <a:t>MSE </a:t>
                </a:r>
                <a:r>
                  <a:rPr lang="ru-RU" dirty="0"/>
                  <a:t>справа: 2.03, общее </a:t>
                </a:r>
                <a:r>
                  <a:rPr lang="en-US" dirty="0"/>
                  <a:t>MSE</a:t>
                </a:r>
                <a:r>
                  <a:rPr lang="ru-RU" dirty="0"/>
                  <a:t>: 4.06</a:t>
                </a:r>
              </a:p>
              <a:p>
                <a:pPr lvl="2"/>
                <a:r>
                  <a:rPr lang="en-US" dirty="0"/>
                  <a:t>t</a:t>
                </a:r>
                <a:r>
                  <a:rPr lang="ru-RU" dirty="0"/>
                  <a:t> = 3.5: левая часть: {1,2,3}, правая часть: {4}, Среднее слева: -1.583, Среднее справа: 4.75, </a:t>
                </a:r>
                <a:r>
                  <a:rPr lang="en-US" dirty="0"/>
                  <a:t>MSE </a:t>
                </a:r>
                <a:r>
                  <a:rPr lang="ru-RU" dirty="0"/>
                  <a:t>слева: 8.16, </a:t>
                </a:r>
                <a:r>
                  <a:rPr lang="en-US" dirty="0"/>
                  <a:t>MSE </a:t>
                </a:r>
                <a:r>
                  <a:rPr lang="ru-RU" dirty="0"/>
                  <a:t>справа: 0, общее </a:t>
                </a:r>
                <a:r>
                  <a:rPr lang="en-US" dirty="0"/>
                  <a:t>MSE</a:t>
                </a:r>
                <a:r>
                  <a:rPr lang="ru-RU" dirty="0"/>
                  <a:t>: 8.16</a:t>
                </a:r>
              </a:p>
              <a:p>
                <a:pPr lvl="1"/>
                <a:r>
                  <a:rPr lang="en-US" dirty="0"/>
                  <a:t>min</a:t>
                </a:r>
                <a:r>
                  <a:rPr lang="ru-RU" dirty="0"/>
                  <a:t>(</a:t>
                </a:r>
                <a:r>
                  <a:rPr lang="en-US" dirty="0"/>
                  <a:t>MSE</a:t>
                </a:r>
                <a:r>
                  <a:rPr lang="ru-RU" dirty="0"/>
                  <a:t>) = 4.06 при </a:t>
                </a:r>
                <a:r>
                  <a:rPr lang="en-US" dirty="0"/>
                  <a:t>t</a:t>
                </a:r>
                <a:r>
                  <a:rPr lang="ru-RU" dirty="0"/>
                  <a:t> = 2.5, лучший сплит – 2.5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Итоговое дерево при :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)={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⩽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mr>
                    </m:m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ru-RU" dirty="0"/>
              </a:p>
              <a:p>
                <a:pPr lvl="1"/>
                <a:r>
                  <a:rPr lang="en-US" dirty="0"/>
                  <a:t>MSE = 3.125</a:t>
                </a:r>
                <a:endParaRPr lang="ru-RU" dirty="0"/>
              </a:p>
              <a:p>
                <a:r>
                  <a:rPr lang="ru-RU" dirty="0"/>
                  <a:t>Так, мы видим, что за 1 итерацию ошибка уменьшилась более чем в три раза.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89EF30D-36A2-71B1-FBEF-754DDC3AD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661" r="-6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04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8928B-D447-3EDD-E467-7D3DC81D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реализация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987233-8BC9-EE4C-0EB0-7D2BB5381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207" y="1690688"/>
            <a:ext cx="67694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3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06341351-93C3-3DA5-2110-489591A3B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578" y="237252"/>
            <a:ext cx="6832338" cy="602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46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5DFB4-49F5-19A6-B47E-89EC5FEF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33EF696-75E1-AD3F-7B02-F545D2547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236373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44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B7E01-F573-3741-EFFA-903B52FA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79416"/>
            <a:ext cx="10515600" cy="1325563"/>
          </a:xfrm>
        </p:spPr>
        <p:txBody>
          <a:bodyPr/>
          <a:lstStyle/>
          <a:p>
            <a:r>
              <a:rPr lang="ru-RU" dirty="0"/>
              <a:t>Оценка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C09786-9876-2A6F-8A1C-E5013618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96347"/>
            <a:ext cx="5157787" cy="823912"/>
          </a:xfrm>
        </p:spPr>
        <p:txBody>
          <a:bodyPr/>
          <a:lstStyle/>
          <a:p>
            <a:r>
              <a:rPr lang="ru-RU" dirty="0"/>
              <a:t>Плюсы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CA661C0-4F5D-F019-A043-A2EF1B6F0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112744"/>
            <a:ext cx="5157787" cy="368458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Очень высокая точность на табличных данных</a:t>
            </a:r>
          </a:p>
          <a:p>
            <a:r>
              <a:rPr lang="ru-RU" dirty="0"/>
              <a:t>Устойчивость к переобучению при правильной регуляризации</a:t>
            </a:r>
          </a:p>
          <a:p>
            <a:r>
              <a:rPr lang="ru-RU" dirty="0"/>
              <a:t> Автоматический отбор признаков (деревья игнорируют неинформативные)</a:t>
            </a:r>
          </a:p>
          <a:p>
            <a:r>
              <a:rPr lang="ru-RU" dirty="0"/>
              <a:t>Интерпретируемость через важные значения</a:t>
            </a:r>
          </a:p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F0B919C-4065-687C-56DF-9B588842D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5376" y="1196347"/>
            <a:ext cx="5183188" cy="823912"/>
          </a:xfrm>
        </p:spPr>
        <p:txBody>
          <a:bodyPr/>
          <a:lstStyle/>
          <a:p>
            <a:r>
              <a:rPr lang="ru-RU" dirty="0"/>
              <a:t>Минусы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DE4AC88-CB46-F397-1B99-02D856EAFC49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1901562"/>
            <a:ext cx="592979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Легко переобучается при слишком большом M или глубине деревьев (требует валидации)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Плохо работает на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высокоразмерных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разреженных данных (текст, изображения)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Требует тщательной настройки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гиперпараметров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(ν, f для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стохастики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450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EF37609F-77F8-4F70-013D-DFF37D17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0BF43A7F-B167-0A77-BB0A-DA89F33AE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53" y="1825625"/>
            <a:ext cx="11611038" cy="4351338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https://explained.ai/gradient-boosting/</a:t>
            </a:r>
            <a:r>
              <a:rPr lang="ru-RU" dirty="0"/>
              <a:t>  (дата обращения: 12.10.2025)</a:t>
            </a:r>
          </a:p>
          <a:p>
            <a:r>
              <a:rPr lang="en-US" dirty="0">
                <a:hlinkClick r:id="rId3"/>
              </a:rPr>
              <a:t>https://scikit-learn.org/stable/modules/ensemble.html#mathematical-formulation</a:t>
            </a:r>
            <a:r>
              <a:rPr lang="ru-RU" dirty="0"/>
              <a:t> (дата обращения: 12.10.2025)</a:t>
            </a:r>
          </a:p>
          <a:p>
            <a:r>
              <a:rPr lang="en-US" dirty="0">
                <a:hlinkClick r:id="rId4"/>
              </a:rPr>
              <a:t>https://education.yandex.ru/handbook/ml/article/gradientnyj-busting</a:t>
            </a:r>
            <a:r>
              <a:rPr lang="ru-RU" dirty="0"/>
              <a:t> (дата обращения: 12.10.2025)</a:t>
            </a:r>
          </a:p>
          <a:p>
            <a:r>
              <a:rPr lang="en-US" dirty="0">
                <a:hlinkClick r:id="rId5"/>
              </a:rPr>
              <a:t>https://en.wikipedia.org/wiki/Gradient_boosting</a:t>
            </a:r>
            <a:r>
              <a:rPr lang="ru-RU" dirty="0"/>
              <a:t> (дата обращения: 5.11.2025)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02891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1136</Words>
  <Application>Microsoft Office PowerPoint</Application>
  <PresentationFormat>Широкоэкранный</PresentationFormat>
  <Paragraphs>102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Тема Office</vt:lpstr>
      <vt:lpstr>Градиентный бустинг</vt:lpstr>
      <vt:lpstr>Определение</vt:lpstr>
      <vt:lpstr>Применимость</vt:lpstr>
      <vt:lpstr>Условия применимости</vt:lpstr>
      <vt:lpstr>Постановка задачи</vt:lpstr>
      <vt:lpstr>Доказательство рабочей формы </vt:lpstr>
      <vt:lpstr>Алгоритм выполнения</vt:lpstr>
      <vt:lpstr>Градиентный дерево-бустинг</vt:lpstr>
      <vt:lpstr>Пример</vt:lpstr>
      <vt:lpstr>Пример</vt:lpstr>
      <vt:lpstr>Программная реализация</vt:lpstr>
      <vt:lpstr>Презентация PowerPoint</vt:lpstr>
      <vt:lpstr>Результат</vt:lpstr>
      <vt:lpstr>Оценка</vt:lpstr>
      <vt:lpstr>Список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Oleg</dc:creator>
  <cp:lastModifiedBy>Oleg</cp:lastModifiedBy>
  <cp:revision>7</cp:revision>
  <dcterms:created xsi:type="dcterms:W3CDTF">2025-11-17T08:01:34Z</dcterms:created>
  <dcterms:modified xsi:type="dcterms:W3CDTF">2025-11-24T12:23:56Z</dcterms:modified>
</cp:coreProperties>
</file>