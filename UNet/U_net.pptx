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3460750" cx="4610100"/>
  <p:notesSz cx="4610100" cy="3460750"/>
  <p:embeddedFontLst>
    <p:embeddedFont>
      <p:font typeface="Tahom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Tahom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d62135804_0_82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d62135804_0_82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d62135804_0_8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d62135804_0_8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d62135804_0_1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d62135804_0_1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d62135804_0_24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d62135804_0_24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d62135804_0_32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d62135804_0_32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d62135804_0_41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d62135804_0_41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d62135804_0_5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d62135804_0_5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d62135804_0_6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d62135804_0_6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d62135804_0_61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d62135804_0_61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62135804_0_7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d62135804_0_7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1f22325b6_0_0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1f22325b6_0_0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f22325b6_0_6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1f22325b6_0_6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1f22325b6_0_28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1f22325b6_0_28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1f22325b6_0_34:notes"/>
          <p:cNvSpPr/>
          <p:nvPr>
            <p:ph idx="2" type="sldImg"/>
          </p:nvPr>
        </p:nvSpPr>
        <p:spPr>
          <a:xfrm>
            <a:off x="768500" y="259550"/>
            <a:ext cx="3073500" cy="129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1f22325b6_0_34:notes"/>
          <p:cNvSpPr txBox="1"/>
          <p:nvPr>
            <p:ph idx="1" type="body"/>
          </p:nvPr>
        </p:nvSpPr>
        <p:spPr>
          <a:xfrm>
            <a:off x="461000" y="1643850"/>
            <a:ext cx="3688200" cy="15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768500" y="259550"/>
            <a:ext cx="3073550" cy="1297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829881" y="913940"/>
            <a:ext cx="2950336" cy="47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416877" y="902816"/>
            <a:ext cx="3776344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050668" y="3371227"/>
            <a:ext cx="43180" cy="30480"/>
          </a:xfrm>
          <a:custGeom>
            <a:rect b="b" l="l" r="r" t="t"/>
            <a:pathLst>
              <a:path extrusionOk="0" h="30479" w="431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2971051" y="3367265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3148853" y="3367265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3308882" y="3360914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245713" y="3367264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609277" y="3373615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3520376" y="3367265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596577" y="336091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3871227" y="3360914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3795026" y="3367265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3871227" y="3399015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145890" y="3360914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451033" y="3391395"/>
            <a:ext cx="20320" cy="20320"/>
          </a:xfrm>
          <a:custGeom>
            <a:rect b="b" l="l" r="r" t="t"/>
            <a:pathLst>
              <a:path extrusionOk="0" h="20320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423969" y="3364900"/>
            <a:ext cx="30480" cy="30480"/>
          </a:xfrm>
          <a:custGeom>
            <a:rect b="b" l="l" r="r" t="t"/>
            <a:pathLst>
              <a:path extrusionOk="0" h="30479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329112" y="3360914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416877" y="902816"/>
            <a:ext cx="3776344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1" type="ft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/>
        </p:nvSpPr>
        <p:spPr>
          <a:xfrm>
            <a:off x="503850" y="271875"/>
            <a:ext cx="36024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Архитектура U-NET для семантической сегментации</a:t>
            </a:r>
            <a:endParaRPr sz="19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1342375" y="2067375"/>
            <a:ext cx="3171900" cy="1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Подготовили студенты группы 5030102/20202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Дрекалов Никита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Егоркин Станислав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Соколов Артем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План презентации</a:t>
            </a:r>
            <a:endParaRPr/>
          </a:p>
        </p:txBody>
      </p:sp>
      <p:sp>
        <p:nvSpPr>
          <p:cNvPr id="65" name="Google Shape;65;p8"/>
          <p:cNvSpPr txBox="1"/>
          <p:nvPr/>
        </p:nvSpPr>
        <p:spPr>
          <a:xfrm>
            <a:off x="1276950" y="733475"/>
            <a:ext cx="2056200" cy="19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Введение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Формализация выходных данных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Идея архитектуры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Математика выхода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Обучение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Выводы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такое семантическая сегментация</a:t>
            </a:r>
            <a:endParaRPr/>
          </a:p>
        </p:txBody>
      </p:sp>
      <p:sp>
        <p:nvSpPr>
          <p:cNvPr id="71" name="Google Shape;71;p9"/>
          <p:cNvSpPr txBox="1"/>
          <p:nvPr/>
        </p:nvSpPr>
        <p:spPr>
          <a:xfrm>
            <a:off x="421950" y="974726"/>
            <a:ext cx="38373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146685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Задача: присвоить каждому пикселю изображения метку класса (например: человек, велосипед, фон).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Выход — нейросетевая модель возвращает тензор оценок класса размерности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, где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число классов, а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и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- пространственные размеры сегментируемого изображения.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489584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Применения: аэрофотосъёмка, медицина, видеонаблюдение, виртуальные примерочные и т.д.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/>
        </p:nvSpPr>
        <p:spPr>
          <a:xfrm>
            <a:off x="95300" y="74546"/>
            <a:ext cx="28035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Пример семантической сегментации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994" y="669081"/>
            <a:ext cx="3887889" cy="203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/>
        </p:nvSpPr>
        <p:spPr>
          <a:xfrm>
            <a:off x="95300" y="74546"/>
            <a:ext cx="134112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Матрица классов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3" name="Google Shape;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519" y="630908"/>
            <a:ext cx="3865050" cy="2512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/>
        </p:nvSpPr>
        <p:spPr>
          <a:xfrm>
            <a:off x="95300" y="74546"/>
            <a:ext cx="176720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Тензор оценок классов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9" name="Google Shape;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475" y="573030"/>
            <a:ext cx="3816893" cy="2347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95300" y="74546"/>
            <a:ext cx="2165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Тензор вероятностей класса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28866" y="1003844"/>
            <a:ext cx="7659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26471" y="1270405"/>
            <a:ext cx="756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60550" y="1762350"/>
            <a:ext cx="40890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77165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номер изображения в мини-батче, состоящем из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21462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изображений;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ширина и высота каждого изображения;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число классов;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θ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— параметры сети.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00" y="758838"/>
            <a:ext cx="4089094" cy="6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/>
        </p:nvSpPr>
        <p:spPr>
          <a:xfrm>
            <a:off x="95300" y="74546"/>
            <a:ext cx="95313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Схема U-net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75" y="633175"/>
            <a:ext cx="3710949" cy="24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Подход encoder–decoder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21957" y="1265236"/>
            <a:ext cx="3858260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Постепенное уменьшение пространственного разрешения, а затем возврат к исходному разрешению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214629" marR="15621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Благодаря этому, у нас появляется возможность эффективно произвести вычисление сложных признаков.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95300" y="74546"/>
            <a:ext cx="1879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Пример encoder–decoder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994" y="982860"/>
            <a:ext cx="3871494" cy="12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Основные блоки U-net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86925" y="625875"/>
            <a:ext cx="41745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165" lvl="0" marL="214628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Lucida Sans"/>
              <a:buChar char="►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Кодировщик (encoder): последовательность свёрток 3 </a:t>
            </a:r>
            <a:r>
              <a:rPr lang="en-US" sz="11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(без padding) и пулингов 2 </a:t>
            </a:r>
            <a:r>
              <a:rPr lang="en-US" sz="11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(stride 2). После каждого пулинга число каналов увеличивается.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86925" y="1322475"/>
            <a:ext cx="41745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165" lvl="0" marL="214628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Lucida Sans"/>
              <a:buChar char="►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Декодировщик (decoder): последовательность операций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upsampling и свёрток 3 × 3, число каналов уменьшается.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86925" y="1843575"/>
            <a:ext cx="4174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165" lvl="0" marL="214628" marR="19240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Lucida Sans"/>
              <a:buChar char="►"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Пропуски (skip connections): внутренние представления кодировщика более высокого пространственного разрешения передаются на соответствующие слои декодировщика.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02" y="522745"/>
            <a:ext cx="2273050" cy="271280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95300" y="74550"/>
            <a:ext cx="1603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Принцип работы сверточных слоев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6000" y="645850"/>
            <a:ext cx="2050875" cy="9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95300" y="74546"/>
            <a:ext cx="95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Схема U-net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75" y="633175"/>
            <a:ext cx="3710949" cy="24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95300" y="74546"/>
            <a:ext cx="2018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Выход и функция ошибки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421957" y="1360016"/>
            <a:ext cx="3864610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4629" marR="304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Выход сети: Y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100"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aseline="30000" i="1" lang="en-US" sz="120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30000" i="1" lang="en-US" sz="1200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baseline="30000" i="1" lang="en-US" sz="12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baseline="30000" i="1" lang="en-US" sz="1200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baseline="30000" i="1" lang="en-US" sz="12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. К каждому пикселю применяют SoftMax-преобразование, чтобы получить вероятности классов.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Настройка сети U-net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2911055" y="914246"/>
            <a:ext cx="990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34594" y="469555"/>
            <a:ext cx="284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Принцип максимума правдоподобия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148080" rtl="0" algn="l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334594" y="977456"/>
            <a:ext cx="33648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669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Вес учёта каждого пикселя (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 считался по формуле: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321894" y="1887449"/>
            <a:ext cx="3964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где: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α &gt;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σ &gt;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0 — гиперпараметры;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14960" marR="304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i="1" lang="en-US" sz="1200">
                <a:latin typeface="Arial"/>
                <a:ea typeface="Arial"/>
                <a:cs typeface="Arial"/>
                <a:sym typeface="Arial"/>
              </a:rPr>
              <a:t>ij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 — вес класса (выше для более редких, чтобы классы вносили сопоставимый вклад в оптимизацию);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4" lvl="0" marL="314960" marR="8191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200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20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11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 — минимальные расстояния до ближайших границ других двух классов.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588" y="704122"/>
            <a:ext cx="2168925" cy="5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489" y="1523852"/>
            <a:ext cx="1831125" cy="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625" y="381000"/>
            <a:ext cx="2928850" cy="146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95300" y="74546"/>
            <a:ext cx="1885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Наша реализация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625" y="1865975"/>
            <a:ext cx="2928850" cy="14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08250"/>
            <a:ext cx="4305301" cy="135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4726" y="170649"/>
            <a:ext cx="2452976" cy="1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606075" y="980150"/>
            <a:ext cx="679800" cy="33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C297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12625" y="640250"/>
            <a:ext cx="86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 Block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726" y="170649"/>
            <a:ext cx="2452976" cy="1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606075" y="980150"/>
            <a:ext cx="679800" cy="33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91A1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47025" y="640250"/>
            <a:ext cx="119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 DownBlock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250" y="1937974"/>
            <a:ext cx="2729600" cy="13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726" y="170649"/>
            <a:ext cx="2452976" cy="1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600400" y="459050"/>
            <a:ext cx="679800" cy="33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863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400900" y="119150"/>
            <a:ext cx="1078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 UpBlock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25" y="1551950"/>
            <a:ext cx="2378750" cy="180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600400" y="1138850"/>
            <a:ext cx="679800" cy="33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DB9B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400900" y="798950"/>
            <a:ext cx="1078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cat([up, skip])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25" y="152400"/>
            <a:ext cx="2225956" cy="31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2412900" y="152925"/>
            <a:ext cx="21297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Инициализация всех составляющих сети в конструкторе модели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/>
        </p:nvSpPr>
        <p:spPr>
          <a:xfrm>
            <a:off x="164250" y="147275"/>
            <a:ext cx="4281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Путь данных в U-NET модели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8425"/>
            <a:ext cx="4305301" cy="219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63" y="421800"/>
            <a:ext cx="3636874" cy="28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135950" y="141600"/>
            <a:ext cx="4332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Результаты для 15 эпох: TestLoss: 0.1224 TestAccuracity: 0.9683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1394"/>
            <a:ext cx="4305302" cy="21448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/>
        </p:nvSpPr>
        <p:spPr>
          <a:xfrm>
            <a:off x="130275" y="141600"/>
            <a:ext cx="43443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Испытание на коте Никиты “Кузя”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/>
        </p:nvSpPr>
        <p:spPr>
          <a:xfrm>
            <a:off x="130275" y="141600"/>
            <a:ext cx="43443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Модификация U-Net++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3125"/>
            <a:ext cx="4207529" cy="250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/>
        </p:nvSpPr>
        <p:spPr>
          <a:xfrm>
            <a:off x="132900" y="68300"/>
            <a:ext cx="43443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Дополнительная визуализация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U-Net++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461050" y="1184100"/>
            <a:ext cx="950700" cy="4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encoder(i)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24" name="Google Shape;224;p31"/>
          <p:cNvCxnSpPr>
            <a:stCxn id="223" idx="3"/>
            <a:endCxn id="225" idx="1"/>
          </p:cNvCxnSpPr>
          <p:nvPr/>
        </p:nvCxnSpPr>
        <p:spPr>
          <a:xfrm>
            <a:off x="1411750" y="1431750"/>
            <a:ext cx="160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1"/>
          <p:cNvSpPr/>
          <p:nvPr/>
        </p:nvSpPr>
        <p:spPr>
          <a:xfrm>
            <a:off x="3015550" y="1184100"/>
            <a:ext cx="950700" cy="4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decoder(i)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117938" y="2725350"/>
            <a:ext cx="950700" cy="4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encoder(i)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3541463" y="2725350"/>
            <a:ext cx="950700" cy="4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decoder(i)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1217263" y="2753850"/>
            <a:ext cx="626100" cy="43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x(i, 1)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1992000" y="2753850"/>
            <a:ext cx="626100" cy="43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x(i, 2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2766713" y="2753850"/>
            <a:ext cx="626100" cy="43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x(i, 3)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32" name="Google Shape;232;p31"/>
          <p:cNvCxnSpPr>
            <a:stCxn id="227" idx="3"/>
            <a:endCxn id="229" idx="1"/>
          </p:cNvCxnSpPr>
          <p:nvPr/>
        </p:nvCxnSpPr>
        <p:spPr>
          <a:xfrm>
            <a:off x="1068638" y="2973000"/>
            <a:ext cx="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1"/>
          <p:cNvCxnSpPr>
            <a:stCxn id="229" idx="3"/>
            <a:endCxn id="230" idx="1"/>
          </p:cNvCxnSpPr>
          <p:nvPr/>
        </p:nvCxnSpPr>
        <p:spPr>
          <a:xfrm>
            <a:off x="1843363" y="2973000"/>
            <a:ext cx="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1"/>
          <p:cNvCxnSpPr>
            <a:stCxn id="230" idx="3"/>
            <a:endCxn id="231" idx="1"/>
          </p:cNvCxnSpPr>
          <p:nvPr/>
        </p:nvCxnSpPr>
        <p:spPr>
          <a:xfrm>
            <a:off x="2618100" y="2973000"/>
            <a:ext cx="1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1"/>
          <p:cNvCxnSpPr>
            <a:stCxn id="231" idx="3"/>
            <a:endCxn id="228" idx="1"/>
          </p:cNvCxnSpPr>
          <p:nvPr/>
        </p:nvCxnSpPr>
        <p:spPr>
          <a:xfrm>
            <a:off x="3392813" y="2973000"/>
            <a:ext cx="14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1"/>
          <p:cNvSpPr txBox="1"/>
          <p:nvPr/>
        </p:nvSpPr>
        <p:spPr>
          <a:xfrm>
            <a:off x="336650" y="832600"/>
            <a:ext cx="3961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Подход для слоя U-NET архитектуры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301200" y="1971888"/>
            <a:ext cx="3961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X(i, j) = Conv(Concat(X(i, 0), X(i, 1), ..., </a:t>
            </a:r>
            <a:r>
              <a:rPr lang="en-US" sz="1000"/>
              <a:t>X(</a:t>
            </a:r>
            <a:r>
              <a:rPr lang="en-US" sz="1000"/>
              <a:t>i, j-1), Up(X(i+1, j-1))))</a:t>
            </a:r>
            <a:endParaRPr sz="1000"/>
          </a:p>
        </p:txBody>
      </p:sp>
      <p:sp>
        <p:nvSpPr>
          <p:cNvPr id="238" name="Google Shape;238;p31"/>
          <p:cNvSpPr txBox="1"/>
          <p:nvPr/>
        </p:nvSpPr>
        <p:spPr>
          <a:xfrm>
            <a:off x="301200" y="2314475"/>
            <a:ext cx="3961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Подход для слоя U-NET++ архитектуры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1499350" y="1235250"/>
            <a:ext cx="142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skip connection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132900" y="68300"/>
            <a:ext cx="43443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Результаты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U-Net++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5" name="Google Shape;245;p32" title="image_2025-11-10_07-09-1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75" y="836775"/>
            <a:ext cx="43053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 txBox="1"/>
          <p:nvPr/>
        </p:nvSpPr>
        <p:spPr>
          <a:xfrm>
            <a:off x="138600" y="445700"/>
            <a:ext cx="43329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Результаты для 7 эпох: TestLoss: 0.1138 TestAccuracity: 0.9712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21469" cy="31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95300" y="74550"/>
            <a:ext cx="765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Выводы</a:t>
            </a:r>
            <a:endParaRPr/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416877" y="902816"/>
            <a:ext cx="3776344" cy="164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77165" lvl="0" marL="219075" marR="34353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/>
              <a:t>U-net — эффективная архитектура для сегментации, дающая хорошие результаты при работе с малыми наборами данных (особенно в медицине).</a:t>
            </a:r>
            <a:endParaRPr sz="1100"/>
          </a:p>
          <a:p>
            <a:pPr indent="-177165" lvl="0" marL="219075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/>
              <a:t>Ключевые идеи: многомасштабные представления, пропуски между encoder и decoder, взвешивание пикселей для улучшения границ и редких классов.</a:t>
            </a:r>
            <a:endParaRPr sz="1100"/>
          </a:p>
          <a:p>
            <a:pPr indent="-177165" lvl="0" marL="219075" marR="230504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Lucida Sans"/>
              <a:buChar char="►"/>
            </a:pPr>
            <a:r>
              <a:rPr lang="en-US" sz="1100"/>
              <a:t>Возможные улучшения: использование предобученных энкодеров, attention-механизмов, loss-функций, учитывающих границы (boundary losses).</a:t>
            </a:r>
            <a:endParaRPr sz="1100"/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95300" y="74546"/>
            <a:ext cx="29578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Список литературы</a:t>
            </a:r>
            <a:endParaRPr/>
          </a:p>
        </p:txBody>
      </p:sp>
      <p:grpSp>
        <p:nvGrpSpPr>
          <p:cNvPr id="263" name="Google Shape;263;p35"/>
          <p:cNvGrpSpPr/>
          <p:nvPr/>
        </p:nvGrpSpPr>
        <p:grpSpPr>
          <a:xfrm>
            <a:off x="397954" y="1469763"/>
            <a:ext cx="101600" cy="139700"/>
            <a:chOff x="397954" y="1469763"/>
            <a:chExt cx="101600" cy="139700"/>
          </a:xfrm>
        </p:grpSpPr>
        <p:pic>
          <p:nvPicPr>
            <p:cNvPr id="264" name="Google Shape;264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7954" y="1469763"/>
              <a:ext cx="101219" cy="139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35"/>
            <p:cNvSpPr/>
            <p:nvPr/>
          </p:nvSpPr>
          <p:spPr>
            <a:xfrm>
              <a:off x="397954" y="1469763"/>
              <a:ext cx="101600" cy="139700"/>
            </a:xfrm>
            <a:custGeom>
              <a:rect b="b" l="l" r="r" t="t"/>
              <a:pathLst>
                <a:path extrusionOk="0" h="139700" w="1016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5"/>
            <p:cNvSpPr/>
            <p:nvPr/>
          </p:nvSpPr>
          <p:spPr>
            <a:xfrm>
              <a:off x="410606" y="1488741"/>
              <a:ext cx="63500" cy="0"/>
            </a:xfrm>
            <a:custGeom>
              <a:rect b="b" l="l" r="r" t="t"/>
              <a:pathLst>
                <a:path extrusionOk="0" h="120000"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5"/>
            <p:cNvSpPr/>
            <p:nvPr/>
          </p:nvSpPr>
          <p:spPr>
            <a:xfrm>
              <a:off x="423259" y="1507720"/>
              <a:ext cx="50800" cy="12700"/>
            </a:xfrm>
            <a:custGeom>
              <a:rect b="b" l="l" r="r" t="t"/>
              <a:pathLst>
                <a:path extrusionOk="0" h="12700" w="50800">
                  <a:moveTo>
                    <a:pt x="0" y="0"/>
                  </a:moveTo>
                  <a:lnTo>
                    <a:pt x="50609" y="0"/>
                  </a:lnTo>
                </a:path>
                <a:path extrusionOk="0" h="12700" w="508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noFill/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5"/>
            <p:cNvSpPr/>
            <p:nvPr/>
          </p:nvSpPr>
          <p:spPr>
            <a:xfrm>
              <a:off x="410606" y="1539350"/>
              <a:ext cx="31750" cy="50800"/>
            </a:xfrm>
            <a:custGeom>
              <a:rect b="b" l="l" r="r" t="t"/>
              <a:pathLst>
                <a:path extrusionOk="0" h="50800" w="31750">
                  <a:moveTo>
                    <a:pt x="0" y="0"/>
                  </a:moveTo>
                  <a:lnTo>
                    <a:pt x="31631" y="0"/>
                  </a:lnTo>
                </a:path>
                <a:path extrusionOk="0" h="50800" w="31750">
                  <a:moveTo>
                    <a:pt x="0" y="12652"/>
                  </a:moveTo>
                  <a:lnTo>
                    <a:pt x="31631" y="12652"/>
                  </a:lnTo>
                </a:path>
                <a:path extrusionOk="0" h="50800" w="31750">
                  <a:moveTo>
                    <a:pt x="0" y="25304"/>
                  </a:moveTo>
                  <a:lnTo>
                    <a:pt x="31631" y="25304"/>
                  </a:lnTo>
                </a:path>
                <a:path extrusionOk="0" h="50800" w="31750">
                  <a:moveTo>
                    <a:pt x="0" y="37956"/>
                  </a:moveTo>
                  <a:lnTo>
                    <a:pt x="31631" y="37956"/>
                  </a:lnTo>
                </a:path>
                <a:path extrusionOk="0" h="50800" w="3175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noFill/>
            <a:ln cap="flat" cmpd="sng" w="9525">
              <a:solidFill>
                <a:srgbClr val="B2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9" name="Google Shape;26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4890" y="1536186"/>
              <a:ext cx="31635" cy="44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35"/>
            <p:cNvSpPr/>
            <p:nvPr/>
          </p:nvSpPr>
          <p:spPr>
            <a:xfrm>
              <a:off x="454890" y="1589960"/>
              <a:ext cx="31750" cy="0"/>
            </a:xfrm>
            <a:custGeom>
              <a:rect b="b" l="l" r="r" t="t"/>
              <a:pathLst>
                <a:path extrusionOk="0" h="120000"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noFill/>
            <a:ln cap="flat" cmpd="sng" w="9525">
              <a:solidFill>
                <a:srgbClr val="B2B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5"/>
            <p:cNvSpPr/>
            <p:nvPr/>
          </p:nvSpPr>
          <p:spPr>
            <a:xfrm>
              <a:off x="473868" y="1469763"/>
              <a:ext cx="25400" cy="25400"/>
            </a:xfrm>
            <a:custGeom>
              <a:rect b="b" l="l" r="r" t="t"/>
              <a:pathLst>
                <a:path extrusionOk="0" h="25400" w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35"/>
          <p:cNvSpPr txBox="1"/>
          <p:nvPr/>
        </p:nvSpPr>
        <p:spPr>
          <a:xfrm>
            <a:off x="593712" y="1438718"/>
            <a:ext cx="349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O. Ronneberger, P. Fischer, T. Brox. "U-net: Convolutional Networks for Biomedical Image Segmentation MICCAI 2018.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